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97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TN"/>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CEDCEFE9-A163-4DAF-B01E-CD9D2E51CB94}" type="datetimeFigureOut">
              <a:rPr lang="ar-TN" smtClean="0"/>
              <a:t>17-02-1448</a:t>
            </a:fld>
            <a:endParaRPr lang="ar-TN"/>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TN"/>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TN"/>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TN"/>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AE429991-FBA2-4232-B03F-056CCB79766D}" type="slidenum">
              <a:rPr lang="ar-TN" smtClean="0"/>
              <a:t>‹N°›</a:t>
            </a:fld>
            <a:endParaRPr lang="ar-TN"/>
          </a:p>
        </p:txBody>
      </p:sp>
    </p:spTree>
    <p:extLst>
      <p:ext uri="{BB962C8B-B14F-4D97-AF65-F5344CB8AC3E}">
        <p14:creationId xmlns:p14="http://schemas.microsoft.com/office/powerpoint/2010/main" val="34261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kern="1200" dirty="0">
                <a:solidFill>
                  <a:schemeClr val="tx1"/>
                </a:solidFill>
                <a:effectLst/>
                <a:latin typeface="+mn-lt"/>
                <a:ea typeface="+mn-ea"/>
                <a:cs typeface="+mn-cs"/>
              </a:rPr>
              <a:t>Nous </a:t>
            </a:r>
            <a:r>
              <a:rPr lang="en-US" sz="1200" kern="1200" dirty="0" err="1">
                <a:solidFill>
                  <a:schemeClr val="tx1"/>
                </a:solidFill>
                <a:effectLst/>
                <a:latin typeface="+mn-lt"/>
                <a:ea typeface="+mn-ea"/>
                <a:cs typeface="+mn-cs"/>
              </a:rPr>
              <a:t>souhaitons</a:t>
            </a:r>
            <a:r>
              <a:rPr lang="en-US" sz="1200" kern="1200" dirty="0">
                <a:solidFill>
                  <a:schemeClr val="tx1"/>
                </a:solidFill>
                <a:effectLst/>
                <a:latin typeface="+mn-lt"/>
                <a:ea typeface="+mn-ea"/>
                <a:cs typeface="+mn-cs"/>
              </a:rPr>
              <a:t> vous </a:t>
            </a:r>
            <a:r>
              <a:rPr lang="en-US" sz="1200" kern="1200" dirty="0" err="1">
                <a:solidFill>
                  <a:schemeClr val="tx1"/>
                </a:solidFill>
                <a:effectLst/>
                <a:latin typeface="+mn-lt"/>
                <a:ea typeface="+mn-ea"/>
                <a:cs typeface="+mn-cs"/>
              </a:rPr>
              <a:t>présenter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aujourd'hui</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projet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stratégique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Nationale </a:t>
            </a:r>
            <a:r>
              <a:rPr lang="en-US" sz="1200" kern="1200" dirty="0" err="1">
                <a:solidFill>
                  <a:schemeClr val="tx1"/>
                </a:solidFill>
                <a:effectLst/>
                <a:latin typeface="+mn-lt"/>
                <a:ea typeface="+mn-ea"/>
                <a:cs typeface="+mn-cs"/>
              </a:rPr>
              <a:t>Intégrée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d’écoute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sociale</a:t>
            </a:r>
            <a:r>
              <a:rPr lang="en-US" sz="1200" kern="1200" dirty="0">
                <a:solidFill>
                  <a:schemeClr val="tx1"/>
                </a:solidFill>
                <a:effectLst/>
                <a:latin typeface="+mn-lt"/>
                <a:ea typeface="+mn-ea"/>
                <a:cs typeface="+mn-cs"/>
              </a:rPr>
              <a:t> et de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Ce </a:t>
            </a:r>
            <a:r>
              <a:rPr lang="en-US" sz="1200" kern="1200" dirty="0" err="1">
                <a:solidFill>
                  <a:schemeClr val="tx1"/>
                </a:solidFill>
                <a:effectLst/>
                <a:latin typeface="+mn-lt"/>
                <a:ea typeface="+mn-ea"/>
                <a:cs typeface="+mn-cs"/>
              </a:rPr>
              <a:t>projet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s'inscrit</a:t>
            </a:r>
            <a:r>
              <a:rPr lang="en-US" sz="1200" kern="1200" dirty="0">
                <a:solidFill>
                  <a:schemeClr val="tx1"/>
                </a:solidFill>
                <a:effectLst/>
                <a:latin typeface="+mn-lt"/>
                <a:ea typeface="+mn-ea"/>
                <a:cs typeface="+mn-cs"/>
              </a:rPr>
              <a:t> dans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ambition plus large : </a:t>
            </a:r>
            <a:r>
              <a:rPr lang="en-US" sz="1200" kern="1200" dirty="0" err="1">
                <a:solidFill>
                  <a:schemeClr val="tx1"/>
                </a:solidFill>
                <a:effectLst/>
                <a:latin typeface="+mn-lt"/>
                <a:ea typeface="+mn-ea"/>
                <a:cs typeface="+mn-cs"/>
              </a:rPr>
              <a:t>construire</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véritable</a:t>
            </a:r>
            <a:r>
              <a:rPr lang="en-US" sz="1200" kern="1200" dirty="0">
                <a:solidFill>
                  <a:schemeClr val="tx1"/>
                </a:solidFill>
                <a:effectLst/>
                <a:latin typeface="+mn-lt"/>
                <a:ea typeface="+mn-ea"/>
                <a:cs typeface="+mn-cs"/>
              </a:rPr>
              <a:t> Système National </a:t>
            </a:r>
            <a:r>
              <a:rPr lang="en-US" sz="1200" kern="1200" dirty="0" err="1">
                <a:solidFill>
                  <a:schemeClr val="tx1"/>
                </a:solidFill>
                <a:effectLst/>
                <a:latin typeface="+mn-lt"/>
                <a:ea typeface="+mn-ea"/>
                <a:cs typeface="+mn-cs"/>
              </a:rPr>
              <a:t>d'Intelligence</a:t>
            </a:r>
            <a:r>
              <a:rPr lang="en-US" sz="1200" kern="1200" dirty="0">
                <a:solidFill>
                  <a:schemeClr val="tx1"/>
                </a:solidFill>
                <a:effectLst/>
                <a:latin typeface="+mn-lt"/>
                <a:ea typeface="+mn-ea"/>
                <a:cs typeface="+mn-cs"/>
              </a:rPr>
              <a:t> Sanitaire, qui </a:t>
            </a:r>
            <a:r>
              <a:rPr lang="en-US" sz="1200" kern="1200" dirty="0" err="1">
                <a:solidFill>
                  <a:schemeClr val="tx1"/>
                </a:solidFill>
                <a:effectLst/>
                <a:latin typeface="+mn-lt"/>
                <a:ea typeface="+mn-ea"/>
                <a:cs typeface="+mn-cs"/>
              </a:rPr>
              <a:t>intègre</a:t>
            </a:r>
            <a:r>
              <a:rPr lang="en-US" sz="1200" kern="1200" dirty="0">
                <a:solidFill>
                  <a:schemeClr val="tx1"/>
                </a:solidFill>
                <a:effectLst/>
                <a:latin typeface="+mn-lt"/>
                <a:ea typeface="+mn-ea"/>
                <a:cs typeface="+mn-cs"/>
              </a:rPr>
              <a:t> la surveillance </a:t>
            </a:r>
            <a:r>
              <a:rPr lang="en-US" sz="1200" kern="1200" dirty="0" err="1">
                <a:solidFill>
                  <a:schemeClr val="tx1"/>
                </a:solidFill>
                <a:effectLst/>
                <a:latin typeface="+mn-lt"/>
                <a:ea typeface="+mn-ea"/>
                <a:cs typeface="+mn-cs"/>
              </a:rPr>
              <a:t>épidémiologique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veille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informationnelle</a:t>
            </a:r>
            <a:r>
              <a:rPr lang="en-US" sz="1200" kern="1200" dirty="0">
                <a:solidFill>
                  <a:schemeClr val="tx1"/>
                </a:solidFill>
                <a:effectLst/>
                <a:latin typeface="+mn-lt"/>
                <a:ea typeface="+mn-ea"/>
                <a:cs typeface="+mn-cs"/>
              </a:rPr>
              <a:t>, la communication des </a:t>
            </a:r>
            <a:r>
              <a:rPr lang="en-US" sz="1200" kern="1200" dirty="0" err="1">
                <a:solidFill>
                  <a:schemeClr val="tx1"/>
                </a:solidFill>
                <a:effectLst/>
                <a:latin typeface="+mn-lt"/>
                <a:ea typeface="+mn-ea"/>
                <a:cs typeface="+mn-cs"/>
              </a:rPr>
              <a:t>risques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l'engagement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communautaire</a:t>
            </a:r>
            <a:r>
              <a:rPr lang="en-US" sz="1200" kern="1200" dirty="0">
                <a:solidFill>
                  <a:schemeClr val="tx1"/>
                </a:solidFill>
                <a:effectLst/>
                <a:latin typeface="+mn-lt"/>
                <a:ea typeface="+mn-ea"/>
                <a:cs typeface="+mn-cs"/>
              </a:rPr>
              <a:t>. Nous </a:t>
            </a:r>
            <a:r>
              <a:rPr lang="en-US" sz="1200" kern="1200" dirty="0" err="1">
                <a:solidFill>
                  <a:schemeClr val="tx1"/>
                </a:solidFill>
                <a:effectLst/>
                <a:latin typeface="+mn-lt"/>
                <a:ea typeface="+mn-ea"/>
                <a:cs typeface="+mn-cs"/>
              </a:rPr>
              <a:t>allons</a:t>
            </a:r>
            <a:r>
              <a:rPr lang="en-US" sz="1200" kern="1200" dirty="0">
                <a:solidFill>
                  <a:schemeClr val="tx1"/>
                </a:solidFill>
                <a:effectLst/>
                <a:latin typeface="+mn-lt"/>
                <a:ea typeface="+mn-ea"/>
                <a:cs typeface="+mn-cs"/>
              </a:rPr>
              <a:t> vous </a:t>
            </a:r>
            <a:r>
              <a:rPr lang="en-US" sz="1200" kern="1200" dirty="0" err="1">
                <a:solidFill>
                  <a:schemeClr val="tx1"/>
                </a:solidFill>
                <a:effectLst/>
                <a:latin typeface="+mn-lt"/>
                <a:ea typeface="+mn-ea"/>
                <a:cs typeface="+mn-cs"/>
              </a:rPr>
              <a:t>présenter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pourquoi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projet</a:t>
            </a:r>
            <a:r>
              <a:rPr lang="en-US" sz="1200" kern="1200" dirty="0">
                <a:solidFill>
                  <a:schemeClr val="tx1"/>
                </a:solidFill>
                <a:effectLst/>
                <a:latin typeface="+mn-lt"/>
                <a:ea typeface="+mn-ea"/>
                <a:cs typeface="+mn-cs"/>
              </a:rPr>
              <a:t> est </a:t>
            </a:r>
            <a:r>
              <a:rPr lang="en-US" sz="1200" kern="1200" dirty="0" err="1">
                <a:solidFill>
                  <a:schemeClr val="tx1"/>
                </a:solidFill>
                <a:effectLst/>
                <a:latin typeface="+mn-lt"/>
                <a:ea typeface="+mn-ea"/>
                <a:cs typeface="+mn-cs"/>
              </a:rPr>
              <a:t>nécessaire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qu'il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permettra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concrètement</a:t>
            </a:r>
            <a:r>
              <a:rPr lang="en-US" sz="1200" kern="1200" dirty="0">
                <a:solidFill>
                  <a:schemeClr val="tx1"/>
                </a:solidFill>
                <a:effectLst/>
                <a:latin typeface="+mn-lt"/>
                <a:ea typeface="+mn-ea"/>
                <a:cs typeface="+mn-cs"/>
              </a:rPr>
              <a:t>, et comment nous </a:t>
            </a:r>
            <a:r>
              <a:rPr lang="en-US" sz="1200" kern="1200" dirty="0" err="1">
                <a:solidFill>
                  <a:schemeClr val="tx1"/>
                </a:solidFill>
                <a:effectLst/>
                <a:latin typeface="+mn-lt"/>
                <a:ea typeface="+mn-ea"/>
                <a:cs typeface="+mn-cs"/>
              </a:rPr>
              <a:t>proposons</a:t>
            </a:r>
            <a:r>
              <a:rPr lang="en-US" sz="1200" kern="1200" dirty="0">
                <a:solidFill>
                  <a:schemeClr val="tx1"/>
                </a:solidFill>
                <a:effectLst/>
                <a:latin typeface="+mn-lt"/>
                <a:ea typeface="+mn-ea"/>
                <a:cs typeface="+mn-cs"/>
              </a:rPr>
              <a:t> de le </a:t>
            </a:r>
            <a:r>
              <a:rPr lang="en-US" sz="1200" kern="1200" dirty="0" err="1">
                <a:solidFill>
                  <a:schemeClr val="tx1"/>
                </a:solidFill>
                <a:effectLst/>
                <a:latin typeface="+mn-lt"/>
                <a:ea typeface="+mn-ea"/>
                <a:cs typeface="+mn-cs"/>
              </a:rPr>
              <a:t>mettre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oeuvre.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95282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les crises sanitaires du </a:t>
            </a:r>
            <a:r>
              <a:rPr lang="en-US" sz="1200" kern="1200" dirty="0" err="1">
                <a:solidFill>
                  <a:schemeClr val="tx1"/>
                </a:solidFill>
                <a:effectLst/>
                <a:latin typeface="+mn-lt"/>
                <a:ea typeface="+mn-ea"/>
                <a:cs typeface="+mn-cs"/>
              </a:rPr>
              <a:t>XXIe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siecle</a:t>
            </a:r>
            <a:r>
              <a:rPr lang="en-US" sz="1200" kern="1200" dirty="0">
                <a:solidFill>
                  <a:schemeClr val="tx1"/>
                </a:solidFill>
                <a:effectLst/>
                <a:latin typeface="+mn-lt"/>
                <a:ea typeface="+mn-ea"/>
                <a:cs typeface="+mn-cs"/>
              </a:rPr>
              <a:t> ne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plus </a:t>
            </a:r>
            <a:r>
              <a:rPr lang="en-US" sz="1200" kern="1200" dirty="0" err="1">
                <a:solidFill>
                  <a:schemeClr val="tx1"/>
                </a:solidFill>
                <a:effectLst/>
                <a:latin typeface="+mn-lt"/>
                <a:ea typeface="+mn-ea"/>
                <a:cs typeface="+mn-cs"/>
              </a:rPr>
              <a:t>uniquement</a:t>
            </a:r>
            <a:r>
              <a:rPr lang="en-US" sz="1200" kern="1200" dirty="0">
                <a:solidFill>
                  <a:schemeClr val="tx1"/>
                </a:solidFill>
                <a:effectLst/>
                <a:latin typeface="+mn-lt"/>
                <a:ea typeface="+mn-ea"/>
                <a:cs typeface="+mn-cs"/>
              </a:rPr>
              <a:t> des crises </a:t>
            </a:r>
            <a:r>
              <a:rPr lang="en-US" sz="1200" kern="1200" dirty="0" err="1">
                <a:solidFill>
                  <a:schemeClr val="tx1"/>
                </a:solidFill>
                <a:effectLst/>
                <a:latin typeface="+mn-lt"/>
                <a:ea typeface="+mn-ea"/>
                <a:cs typeface="+mn-cs"/>
              </a:rPr>
              <a:t>biologiques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Aujourd'hui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épidémie</a:t>
            </a:r>
            <a:r>
              <a:rPr lang="en-US" sz="1200" kern="1200" dirty="0">
                <a:solidFill>
                  <a:schemeClr val="tx1"/>
                </a:solidFill>
                <a:effectLst/>
                <a:latin typeface="+mn-lt"/>
                <a:ea typeface="+mn-ea"/>
                <a:cs typeface="+mn-cs"/>
              </a:rPr>
              <a:t> ne se </a:t>
            </a:r>
            <a:r>
              <a:rPr lang="en-US" sz="1200" kern="1200" dirty="0" err="1">
                <a:solidFill>
                  <a:schemeClr val="tx1"/>
                </a:solidFill>
                <a:effectLst/>
                <a:latin typeface="+mn-lt"/>
                <a:ea typeface="+mn-ea"/>
                <a:cs typeface="+mn-cs"/>
              </a:rPr>
              <a:t>propage</a:t>
            </a:r>
            <a:r>
              <a:rPr lang="en-US" sz="1200" kern="1200" dirty="0">
                <a:solidFill>
                  <a:schemeClr val="tx1"/>
                </a:solidFill>
                <a:effectLst/>
                <a:latin typeface="+mn-lt"/>
                <a:ea typeface="+mn-ea"/>
                <a:cs typeface="+mn-cs"/>
              </a:rPr>
              <a:t> plus </a:t>
            </a:r>
            <a:r>
              <a:rPr lang="en-US" sz="1200" kern="1200" dirty="0" err="1">
                <a:solidFill>
                  <a:schemeClr val="tx1"/>
                </a:solidFill>
                <a:effectLst/>
                <a:latin typeface="+mn-lt"/>
                <a:ea typeface="+mn-ea"/>
                <a:cs typeface="+mn-cs"/>
              </a:rPr>
              <a:t>seulement</a:t>
            </a:r>
            <a:r>
              <a:rPr lang="en-US" sz="1200" kern="1200" dirty="0">
                <a:solidFill>
                  <a:schemeClr val="tx1"/>
                </a:solidFill>
                <a:effectLst/>
                <a:latin typeface="+mn-lt"/>
                <a:ea typeface="+mn-ea"/>
                <a:cs typeface="+mn-cs"/>
              </a:rPr>
              <a:t> par un agent </a:t>
            </a:r>
            <a:r>
              <a:rPr lang="en-US" sz="1200" kern="1200" dirty="0" err="1">
                <a:solidFill>
                  <a:schemeClr val="tx1"/>
                </a:solidFill>
                <a:effectLst/>
                <a:latin typeface="+mn-lt"/>
                <a:ea typeface="+mn-ea"/>
                <a:cs typeface="+mn-cs"/>
              </a:rPr>
              <a:t>infectieux</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elle</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propage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aussi</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l'information</a:t>
            </a:r>
            <a:r>
              <a:rPr lang="en-US" sz="1200" kern="1200" dirty="0">
                <a:solidFill>
                  <a:schemeClr val="tx1"/>
                </a:solidFill>
                <a:effectLst/>
                <a:latin typeface="+mn-lt"/>
                <a:ea typeface="+mn-ea"/>
                <a:cs typeface="+mn-cs"/>
              </a:rPr>
              <a:t>. Les réseaux </a:t>
            </a:r>
            <a:r>
              <a:rPr lang="en-US" sz="1200" kern="1200" dirty="0" err="1">
                <a:solidFill>
                  <a:schemeClr val="tx1"/>
                </a:solidFill>
                <a:effectLst/>
                <a:latin typeface="+mn-lt"/>
                <a:ea typeface="+mn-ea"/>
                <a:cs typeface="+mn-cs"/>
              </a:rPr>
              <a:t>sociaux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diffusent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quelques</a:t>
            </a:r>
            <a:r>
              <a:rPr lang="en-US" sz="1200" kern="1200" dirty="0">
                <a:solidFill>
                  <a:schemeClr val="tx1"/>
                </a:solidFill>
                <a:effectLst/>
                <a:latin typeface="+mn-lt"/>
                <a:ea typeface="+mn-ea"/>
                <a:cs typeface="+mn-cs"/>
              </a:rPr>
              <a:t> minutes des </a:t>
            </a:r>
            <a:r>
              <a:rPr lang="en-US" sz="1200" kern="1200" dirty="0" err="1">
                <a:solidFill>
                  <a:schemeClr val="tx1"/>
                </a:solidFill>
                <a:effectLst/>
                <a:latin typeface="+mn-lt"/>
                <a:ea typeface="+mn-ea"/>
                <a:cs typeface="+mn-cs"/>
              </a:rPr>
              <a:t>informations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scientifiques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aussi</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et des </a:t>
            </a:r>
            <a:r>
              <a:rPr lang="en-US" sz="1200" kern="1200" dirty="0" err="1">
                <a:solidFill>
                  <a:schemeClr val="tx1"/>
                </a:solidFill>
                <a:effectLst/>
                <a:latin typeface="+mn-lt"/>
                <a:ea typeface="+mn-ea"/>
                <a:cs typeface="+mn-cs"/>
              </a:rPr>
              <a:t>théories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complotistes</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influencent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profondément</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comportements</a:t>
            </a:r>
            <a:r>
              <a:rPr lang="en-US" sz="1200" kern="1200" dirty="0">
                <a:solidFill>
                  <a:schemeClr val="tx1"/>
                </a:solidFill>
                <a:effectLst/>
                <a:latin typeface="+mn-lt"/>
                <a:ea typeface="+mn-ea"/>
                <a:cs typeface="+mn-cs"/>
              </a:rPr>
              <a:t> de la population. Une intervention sanitaire </a:t>
            </a:r>
            <a:r>
              <a:rPr lang="en-US" sz="1200" kern="1200" dirty="0" err="1">
                <a:solidFill>
                  <a:schemeClr val="tx1"/>
                </a:solidFill>
                <a:effectLst/>
                <a:latin typeface="+mn-lt"/>
                <a:ea typeface="+mn-ea"/>
                <a:cs typeface="+mn-cs"/>
              </a:rPr>
              <a:t>efficace</a:t>
            </a:r>
            <a:r>
              <a:rPr lang="en-US" sz="1200" kern="1200" dirty="0">
                <a:solidFill>
                  <a:schemeClr val="tx1"/>
                </a:solidFill>
                <a:effectLst/>
                <a:latin typeface="+mn-lt"/>
                <a:ea typeface="+mn-ea"/>
                <a:cs typeface="+mn-cs"/>
              </a:rPr>
              <a:t> doit </a:t>
            </a:r>
            <a:r>
              <a:rPr lang="en-US" sz="1200" kern="1200" dirty="0" err="1">
                <a:solidFill>
                  <a:schemeClr val="tx1"/>
                </a:solidFill>
                <a:effectLst/>
                <a:latin typeface="+mn-lt"/>
                <a:ea typeface="+mn-ea"/>
                <a:cs typeface="+mn-cs"/>
              </a:rPr>
              <a:t>donc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désormais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maîtriser</a:t>
            </a:r>
            <a:r>
              <a:rPr lang="en-US" sz="1200" kern="1200" dirty="0">
                <a:solidFill>
                  <a:schemeClr val="tx1"/>
                </a:solidFill>
                <a:effectLst/>
                <a:latin typeface="+mn-lt"/>
                <a:ea typeface="+mn-ea"/>
                <a:cs typeface="+mn-cs"/>
              </a:rPr>
              <a:t> deux </a:t>
            </a:r>
            <a:r>
              <a:rPr lang="en-US" sz="1200" kern="1200" dirty="0" err="1">
                <a:solidFill>
                  <a:schemeClr val="tx1"/>
                </a:solidFill>
                <a:effectLst/>
                <a:latin typeface="+mn-lt"/>
                <a:ea typeface="+mn-ea"/>
                <a:cs typeface="+mn-cs"/>
              </a:rPr>
              <a:t>risques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parallèle</a:t>
            </a:r>
            <a:r>
              <a:rPr lang="en-US" sz="1200" kern="1200" dirty="0">
                <a:solidFill>
                  <a:schemeClr val="tx1"/>
                </a:solidFill>
                <a:effectLst/>
                <a:latin typeface="+mn-lt"/>
                <a:ea typeface="+mn-ea"/>
                <a:cs typeface="+mn-cs"/>
              </a:rPr>
              <a:t> : le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sanitaire,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nous </a:t>
            </a:r>
            <a:r>
              <a:rPr lang="en-US" sz="1200" kern="1200" dirty="0" err="1">
                <a:solidFill>
                  <a:schemeClr val="tx1"/>
                </a:solidFill>
                <a:effectLst/>
                <a:latin typeface="+mn-lt"/>
                <a:ea typeface="+mn-ea"/>
                <a:cs typeface="+mn-cs"/>
              </a:rPr>
              <a:t>savons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gérer</a:t>
            </a:r>
            <a:r>
              <a:rPr lang="en-US" sz="1200" kern="1200" dirty="0">
                <a:solidFill>
                  <a:schemeClr val="tx1"/>
                </a:solidFill>
                <a:effectLst/>
                <a:latin typeface="+mn-lt"/>
                <a:ea typeface="+mn-ea"/>
                <a:cs typeface="+mn-cs"/>
              </a:rPr>
              <a:t>, et le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informationnel</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échappe</a:t>
            </a:r>
            <a:r>
              <a:rPr lang="en-US" sz="1200" kern="1200" dirty="0">
                <a:solidFill>
                  <a:schemeClr val="tx1"/>
                </a:solidFill>
                <a:effectLst/>
                <a:latin typeface="+mn-lt"/>
                <a:ea typeface="+mn-ea"/>
                <a:cs typeface="+mn-cs"/>
              </a:rPr>
              <a:t> encore </a:t>
            </a:r>
            <a:r>
              <a:rPr lang="en-US" sz="1200" kern="1200" dirty="0" err="1">
                <a:solidFill>
                  <a:schemeClr val="tx1"/>
                </a:solidFill>
                <a:effectLst/>
                <a:latin typeface="+mn-lt"/>
                <a:ea typeface="+mn-ea"/>
                <a:cs typeface="+mn-cs"/>
              </a:rPr>
              <a:t>largement</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notre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contrôle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C'est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précisément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cette</a:t>
            </a:r>
            <a:r>
              <a:rPr lang="en-US" sz="1200" kern="1200" dirty="0">
                <a:solidFill>
                  <a:schemeClr val="tx1"/>
                </a:solidFill>
                <a:effectLst/>
                <a:latin typeface="+mn-lt"/>
                <a:ea typeface="+mn-ea"/>
                <a:cs typeface="+mn-cs"/>
              </a:rPr>
              <a:t> vision qui sous-tend la Stratégie </a:t>
            </a:r>
            <a:r>
              <a:rPr lang="en-US" sz="1200" kern="1200" dirty="0" err="1">
                <a:solidFill>
                  <a:schemeClr val="tx1"/>
                </a:solidFill>
                <a:effectLst/>
                <a:latin typeface="+mn-lt"/>
                <a:ea typeface="+mn-ea"/>
                <a:cs typeface="+mn-cs"/>
              </a:rPr>
              <a:t>nationale</a:t>
            </a:r>
            <a:r>
              <a:rPr lang="en-US" sz="1200" kern="1200" dirty="0">
                <a:solidFill>
                  <a:schemeClr val="tx1"/>
                </a:solidFill>
                <a:effectLst/>
                <a:latin typeface="+mn-lt"/>
                <a:ea typeface="+mn-ea"/>
                <a:cs typeface="+mn-cs"/>
              </a:rPr>
              <a:t> RCCE-IM et qui </a:t>
            </a:r>
            <a:r>
              <a:rPr lang="en-US" sz="1200" kern="1200" dirty="0" err="1">
                <a:solidFill>
                  <a:schemeClr val="tx1"/>
                </a:solidFill>
                <a:effectLst/>
                <a:latin typeface="+mn-lt"/>
                <a:ea typeface="+mn-ea"/>
                <a:cs typeface="+mn-cs"/>
              </a:rPr>
              <a:t>justifie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nous vous </a:t>
            </a:r>
            <a:r>
              <a:rPr lang="en-US" sz="1200" kern="1200" dirty="0" err="1">
                <a:solidFill>
                  <a:schemeClr val="tx1"/>
                </a:solidFill>
                <a:effectLst/>
                <a:latin typeface="+mn-lt"/>
                <a:ea typeface="+mn-ea"/>
                <a:cs typeface="+mn-cs"/>
              </a:rPr>
              <a:t>présentons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aujourd'hui</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La pandémie de COVID-19 nous a </a:t>
            </a:r>
            <a:r>
              <a:rPr lang="en-US" sz="1200" kern="1200" dirty="0" err="1">
                <a:solidFill>
                  <a:schemeClr val="tx1"/>
                </a:solidFill>
                <a:effectLst/>
                <a:latin typeface="+mn-lt"/>
                <a:ea typeface="+mn-ea"/>
                <a:cs typeface="+mn-cs"/>
              </a:rPr>
              <a:t>montré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et la </a:t>
            </a:r>
            <a:r>
              <a:rPr lang="en-US" sz="1200" kern="1200" dirty="0" err="1">
                <a:solidFill>
                  <a:schemeClr val="tx1"/>
                </a:solidFill>
                <a:effectLst/>
                <a:latin typeface="+mn-lt"/>
                <a:ea typeface="+mn-ea"/>
                <a:cs typeface="+mn-cs"/>
              </a:rPr>
              <a:t>désinformation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peuvent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compromettre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intervention sanitaire </a:t>
            </a:r>
            <a:r>
              <a:rPr lang="en-US" sz="1200" kern="1200" dirty="0" err="1">
                <a:solidFill>
                  <a:schemeClr val="tx1"/>
                </a:solidFill>
                <a:effectLst/>
                <a:latin typeface="+mn-lt"/>
                <a:ea typeface="+mn-ea"/>
                <a:cs typeface="+mn-cs"/>
              </a:rPr>
              <a:t>autant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biologique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lui-même</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baisse</a:t>
            </a:r>
            <a:r>
              <a:rPr lang="en-US" sz="1200" kern="1200" dirty="0">
                <a:solidFill>
                  <a:schemeClr val="tx1"/>
                </a:solidFill>
                <a:effectLst/>
                <a:latin typeface="+mn-lt"/>
                <a:ea typeface="+mn-ea"/>
                <a:cs typeface="+mn-cs"/>
              </a:rPr>
              <a:t> de la couverture </a:t>
            </a:r>
            <a:r>
              <a:rPr lang="en-US" sz="1200" kern="1200" dirty="0" err="1">
                <a:solidFill>
                  <a:schemeClr val="tx1"/>
                </a:solidFill>
                <a:effectLst/>
                <a:latin typeface="+mn-lt"/>
                <a:ea typeface="+mn-ea"/>
                <a:cs typeface="+mn-cs"/>
              </a:rPr>
              <a:t>vaccinale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recours</a:t>
            </a:r>
            <a:r>
              <a:rPr lang="en-US" sz="1200" kern="1200" dirty="0">
                <a:solidFill>
                  <a:schemeClr val="tx1"/>
                </a:solidFill>
                <a:effectLst/>
                <a:latin typeface="+mn-lt"/>
                <a:ea typeface="+mn-ea"/>
                <a:cs typeface="+mn-cs"/>
              </a:rPr>
              <a:t> à des </a:t>
            </a:r>
            <a:r>
              <a:rPr lang="en-US" sz="1200" kern="1200" dirty="0" err="1">
                <a:solidFill>
                  <a:schemeClr val="tx1"/>
                </a:solidFill>
                <a:effectLst/>
                <a:latin typeface="+mn-lt"/>
                <a:ea typeface="+mn-ea"/>
                <a:cs typeface="+mn-cs"/>
              </a:rPr>
              <a:t>traitements</a:t>
            </a:r>
            <a:r>
              <a:rPr lang="en-US" sz="1200" kern="1200" dirty="0">
                <a:solidFill>
                  <a:schemeClr val="tx1"/>
                </a:solidFill>
                <a:effectLst/>
                <a:latin typeface="+mn-lt"/>
                <a:ea typeface="+mn-ea"/>
                <a:cs typeface="+mn-cs"/>
              </a:rPr>
              <a:t> non </a:t>
            </a:r>
            <a:r>
              <a:rPr lang="en-US" sz="1200" kern="1200" dirty="0" err="1">
                <a:solidFill>
                  <a:schemeClr val="tx1"/>
                </a:solidFill>
                <a:effectLst/>
                <a:latin typeface="+mn-lt"/>
                <a:ea typeface="+mn-ea"/>
                <a:cs typeface="+mn-cs"/>
              </a:rPr>
              <a:t>validés</a:t>
            </a:r>
            <a:r>
              <a:rPr lang="en-US" sz="1200" kern="1200" dirty="0">
                <a:solidFill>
                  <a:schemeClr val="tx1"/>
                </a:solidFill>
                <a:effectLst/>
                <a:latin typeface="+mn-lt"/>
                <a:ea typeface="+mn-ea"/>
                <a:cs typeface="+mn-cs"/>
              </a:rPr>
              <a:t>, retard de consultation, </a:t>
            </a:r>
            <a:r>
              <a:rPr lang="en-US" sz="1200" kern="1200" dirty="0" err="1">
                <a:solidFill>
                  <a:schemeClr val="tx1"/>
                </a:solidFill>
                <a:effectLst/>
                <a:latin typeface="+mn-lt"/>
                <a:ea typeface="+mn-ea"/>
                <a:cs typeface="+mn-cs"/>
              </a:rPr>
              <a:t>méfiance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envers</a:t>
            </a:r>
            <a:r>
              <a:rPr lang="en-US" sz="1200" kern="1200" dirty="0">
                <a:solidFill>
                  <a:schemeClr val="tx1"/>
                </a:solidFill>
                <a:effectLst/>
                <a:latin typeface="+mn-lt"/>
                <a:ea typeface="+mn-ea"/>
                <a:cs typeface="+mn-cs"/>
              </a:rPr>
              <a:t> les institutions. L'OMS </a:t>
            </a:r>
            <a:r>
              <a:rPr lang="en-US" sz="1200" kern="1200" dirty="0" err="1">
                <a:solidFill>
                  <a:schemeClr val="tx1"/>
                </a:solidFill>
                <a:effectLst/>
                <a:latin typeface="+mn-lt"/>
                <a:ea typeface="+mn-ea"/>
                <a:cs typeface="+mn-cs"/>
              </a:rPr>
              <a:t>recommande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d'ailleurs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la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soit </a:t>
            </a:r>
            <a:r>
              <a:rPr lang="en-US" sz="1200" kern="1200" dirty="0" err="1">
                <a:solidFill>
                  <a:schemeClr val="tx1"/>
                </a:solidFill>
                <a:effectLst/>
                <a:latin typeface="+mn-lt"/>
                <a:ea typeface="+mn-ea"/>
                <a:cs typeface="+mn-cs"/>
              </a:rPr>
              <a:t>institutionnalisée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fonction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essentielle</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préparation</a:t>
            </a:r>
            <a:r>
              <a:rPr lang="en-US" sz="1200" kern="1200" dirty="0">
                <a:solidFill>
                  <a:schemeClr val="tx1"/>
                </a:solidFill>
                <a:effectLst/>
                <a:latin typeface="+mn-lt"/>
                <a:ea typeface="+mn-ea"/>
                <a:cs typeface="+mn-cs"/>
              </a:rPr>
              <a:t> aux urgences sanitaires. Mais </a:t>
            </a:r>
            <a:r>
              <a:rPr lang="en-US" sz="1200" kern="1200" dirty="0" err="1">
                <a:solidFill>
                  <a:schemeClr val="tx1"/>
                </a:solidFill>
                <a:effectLst/>
                <a:latin typeface="+mn-lt"/>
                <a:ea typeface="+mn-ea"/>
                <a:cs typeface="+mn-cs"/>
              </a:rPr>
              <a:t>l'expérience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tunisienne</a:t>
            </a:r>
            <a:r>
              <a:rPr lang="en-US" sz="1200" kern="1200" dirty="0">
                <a:solidFill>
                  <a:schemeClr val="tx1"/>
                </a:solidFill>
                <a:effectLst/>
                <a:latin typeface="+mn-lt"/>
                <a:ea typeface="+mn-ea"/>
                <a:cs typeface="+mn-cs"/>
              </a:rPr>
              <a:t> nous montre </a:t>
            </a:r>
            <a:r>
              <a:rPr lang="en-US" sz="1200" kern="1200" dirty="0" err="1">
                <a:solidFill>
                  <a:schemeClr val="tx1"/>
                </a:solidFill>
                <a:effectLst/>
                <a:latin typeface="+mn-lt"/>
                <a:ea typeface="+mn-ea"/>
                <a:cs typeface="+mn-cs"/>
              </a:rPr>
              <a:t>aussi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ne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pas </a:t>
            </a:r>
            <a:r>
              <a:rPr lang="en-US" sz="1200" kern="1200" dirty="0" err="1">
                <a:solidFill>
                  <a:schemeClr val="tx1"/>
                </a:solidFill>
                <a:effectLst/>
                <a:latin typeface="+mn-lt"/>
                <a:ea typeface="+mn-ea"/>
                <a:cs typeface="+mn-cs"/>
              </a:rPr>
              <a:t>seulement</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problème</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elles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souvent</a:t>
            </a:r>
            <a:r>
              <a:rPr lang="en-US" sz="1200" kern="1200" dirty="0">
                <a:solidFill>
                  <a:schemeClr val="tx1"/>
                </a:solidFill>
                <a:effectLst/>
                <a:latin typeface="+mn-lt"/>
                <a:ea typeface="+mn-ea"/>
                <a:cs typeface="+mn-cs"/>
              </a:rPr>
              <a:t> le premier signal </a:t>
            </a:r>
            <a:r>
              <a:rPr lang="en-US" sz="1200" kern="1200" dirty="0" err="1">
                <a:solidFill>
                  <a:schemeClr val="tx1"/>
                </a:solidFill>
                <a:effectLst/>
                <a:latin typeface="+mn-lt"/>
                <a:ea typeface="+mn-ea"/>
                <a:cs typeface="+mn-cs"/>
              </a:rPr>
              <a:t>d'une</a:t>
            </a:r>
            <a:r>
              <a:rPr lang="en-US" sz="1200" kern="1200" dirty="0">
                <a:solidFill>
                  <a:schemeClr val="tx1"/>
                </a:solidFill>
                <a:effectLst/>
                <a:latin typeface="+mn-lt"/>
                <a:ea typeface="+mn-ea"/>
                <a:cs typeface="+mn-cs"/>
              </a:rPr>
              <a:t> situation sanitaire </a:t>
            </a:r>
            <a:r>
              <a:rPr lang="en-US" sz="1200" kern="1200" dirty="0" err="1">
                <a:solidFill>
                  <a:schemeClr val="tx1"/>
                </a:solidFill>
                <a:effectLst/>
                <a:latin typeface="+mn-lt"/>
                <a:ea typeface="+mn-ea"/>
                <a:cs typeface="+mn-cs"/>
              </a:rPr>
              <a:t>émergente</a:t>
            </a:r>
            <a:r>
              <a:rPr lang="en-US" sz="1200" kern="1200" dirty="0">
                <a:solidFill>
                  <a:schemeClr val="tx1"/>
                </a:solidFill>
                <a:effectLst/>
                <a:latin typeface="+mn-lt"/>
                <a:ea typeface="+mn-ea"/>
                <a:cs typeface="+mn-cs"/>
              </a:rPr>
              <a:t>, avant </a:t>
            </a:r>
            <a:r>
              <a:rPr lang="en-US" sz="1200" kern="1200" dirty="0" err="1">
                <a:solidFill>
                  <a:schemeClr val="tx1"/>
                </a:solidFill>
                <a:effectLst/>
                <a:latin typeface="+mn-lt"/>
                <a:ea typeface="+mn-ea"/>
                <a:cs typeface="+mn-cs"/>
              </a:rPr>
              <a:t>même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systèmes</a:t>
            </a:r>
            <a:r>
              <a:rPr lang="en-US" sz="1200" kern="1200" dirty="0">
                <a:solidFill>
                  <a:schemeClr val="tx1"/>
                </a:solidFill>
                <a:effectLst/>
                <a:latin typeface="+mn-lt"/>
                <a:ea typeface="+mn-ea"/>
                <a:cs typeface="+mn-cs"/>
              </a:rPr>
              <a:t> de surveillance </a:t>
            </a:r>
            <a:r>
              <a:rPr lang="en-US" sz="1200" kern="1200" dirty="0" err="1">
                <a:solidFill>
                  <a:schemeClr val="tx1"/>
                </a:solidFill>
                <a:effectLst/>
                <a:latin typeface="+mn-lt"/>
                <a:ea typeface="+mn-ea"/>
                <a:cs typeface="+mn-cs"/>
              </a:rPr>
              <a:t>classiques</a:t>
            </a:r>
            <a:r>
              <a:rPr lang="en-US" sz="1200" kern="1200" dirty="0">
                <a:solidFill>
                  <a:schemeClr val="tx1"/>
                </a:solidFill>
                <a:effectLst/>
                <a:latin typeface="+mn-lt"/>
                <a:ea typeface="+mn-ea"/>
                <a:cs typeface="+mn-cs"/>
              </a:rPr>
              <a:t> ne la </a:t>
            </a:r>
            <a:r>
              <a:rPr lang="en-US" sz="1200" kern="1200" dirty="0" err="1">
                <a:solidFill>
                  <a:schemeClr val="tx1"/>
                </a:solidFill>
                <a:effectLst/>
                <a:latin typeface="+mn-lt"/>
                <a:ea typeface="+mn-ea"/>
                <a:cs typeface="+mn-cs"/>
              </a:rPr>
              <a:t>détectent</a:t>
            </a:r>
            <a:r>
              <a:rPr lang="en-US" sz="1200" kern="1200" dirty="0">
                <a:solidFill>
                  <a:schemeClr val="tx1"/>
                </a:solidFill>
                <a:effectLst/>
                <a:latin typeface="+mn-lt"/>
                <a:ea typeface="+mn-ea"/>
                <a:cs typeface="+mn-cs"/>
              </a:rPr>
              <a:t>. La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devient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ainsi</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véritable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outil</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veille</a:t>
            </a:r>
            <a:r>
              <a:rPr lang="en-US" sz="1200" kern="1200" dirty="0">
                <a:solidFill>
                  <a:schemeClr val="tx1"/>
                </a:solidFill>
                <a:effectLst/>
                <a:latin typeface="+mn-lt"/>
                <a:ea typeface="+mn-ea"/>
                <a:cs typeface="+mn-cs"/>
              </a:rPr>
              <a:t> sanitaire.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Notre ambition, est de </a:t>
            </a:r>
            <a:r>
              <a:rPr lang="en-US" sz="1200" kern="1200" dirty="0" err="1">
                <a:solidFill>
                  <a:schemeClr val="tx1"/>
                </a:solidFill>
                <a:effectLst/>
                <a:latin typeface="+mn-lt"/>
                <a:ea typeface="+mn-ea"/>
                <a:cs typeface="+mn-cs"/>
              </a:rPr>
              <a:t>construire</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véritable</a:t>
            </a:r>
            <a:r>
              <a:rPr lang="en-US" sz="1200" kern="1200" dirty="0">
                <a:solidFill>
                  <a:schemeClr val="tx1"/>
                </a:solidFill>
                <a:effectLst/>
                <a:latin typeface="+mn-lt"/>
                <a:ea typeface="+mn-ea"/>
                <a:cs typeface="+mn-cs"/>
              </a:rPr>
              <a:t> Système National </a:t>
            </a:r>
            <a:r>
              <a:rPr lang="en-US" sz="1200" kern="1200" dirty="0" err="1">
                <a:solidFill>
                  <a:schemeClr val="tx1"/>
                </a:solidFill>
                <a:effectLst/>
                <a:latin typeface="+mn-lt"/>
                <a:ea typeface="+mn-ea"/>
                <a:cs typeface="+mn-cs"/>
              </a:rPr>
              <a:t>d'Intelligence</a:t>
            </a:r>
            <a:r>
              <a:rPr lang="en-US" sz="1200" kern="1200" dirty="0">
                <a:solidFill>
                  <a:schemeClr val="tx1"/>
                </a:solidFill>
                <a:effectLst/>
                <a:latin typeface="+mn-lt"/>
                <a:ea typeface="+mn-ea"/>
                <a:cs typeface="+mn-cs"/>
              </a:rPr>
              <a:t> Sanitaire, capable </a:t>
            </a:r>
            <a:r>
              <a:rPr lang="en-US" sz="1200" kern="1200" dirty="0" err="1">
                <a:solidFill>
                  <a:schemeClr val="tx1"/>
                </a:solidFill>
                <a:effectLst/>
                <a:latin typeface="+mn-lt"/>
                <a:ea typeface="+mn-ea"/>
                <a:cs typeface="+mn-cs"/>
              </a:rPr>
              <a:t>d'intégrer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temps </a:t>
            </a:r>
            <a:r>
              <a:rPr lang="en-US" sz="1200" kern="1200" dirty="0" err="1">
                <a:solidFill>
                  <a:schemeClr val="tx1"/>
                </a:solidFill>
                <a:effectLst/>
                <a:latin typeface="+mn-lt"/>
                <a:ea typeface="+mn-ea"/>
                <a:cs typeface="+mn-cs"/>
              </a:rPr>
              <a:t>réel</a:t>
            </a:r>
            <a:r>
              <a:rPr lang="en-US" sz="1200" kern="1200" dirty="0">
                <a:solidFill>
                  <a:schemeClr val="tx1"/>
                </a:solidFill>
                <a:effectLst/>
                <a:latin typeface="+mn-lt"/>
                <a:ea typeface="+mn-ea"/>
                <a:cs typeface="+mn-cs"/>
              </a:rPr>
              <a:t> les données </a:t>
            </a:r>
            <a:r>
              <a:rPr lang="en-US" sz="1200" kern="1200" dirty="0" err="1">
                <a:solidFill>
                  <a:schemeClr val="tx1"/>
                </a:solidFill>
                <a:effectLst/>
                <a:latin typeface="+mn-lt"/>
                <a:ea typeface="+mn-ea"/>
                <a:cs typeface="+mn-cs"/>
              </a:rPr>
              <a:t>épidémiologiques</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signaux</a:t>
            </a:r>
            <a:r>
              <a:rPr lang="en-US" sz="1200" kern="1200" dirty="0">
                <a:solidFill>
                  <a:schemeClr val="tx1"/>
                </a:solidFill>
                <a:effectLst/>
                <a:latin typeface="+mn-lt"/>
                <a:ea typeface="+mn-ea"/>
                <a:cs typeface="+mn-cs"/>
              </a:rPr>
              <a:t> de surveillance </a:t>
            </a:r>
            <a:r>
              <a:rPr lang="en-US" sz="1200" kern="1200" dirty="0" err="1">
                <a:solidFill>
                  <a:schemeClr val="tx1"/>
                </a:solidFill>
                <a:effectLst/>
                <a:latin typeface="+mn-lt"/>
                <a:ea typeface="+mn-ea"/>
                <a:cs typeface="+mn-cs"/>
              </a:rPr>
              <a:t>basée</a:t>
            </a:r>
            <a:r>
              <a:rPr lang="en-US" sz="1200" kern="1200" dirty="0">
                <a:solidFill>
                  <a:schemeClr val="tx1"/>
                </a:solidFill>
                <a:effectLst/>
                <a:latin typeface="+mn-lt"/>
                <a:ea typeface="+mn-ea"/>
                <a:cs typeface="+mn-cs"/>
              </a:rPr>
              <a:t> sur les </a:t>
            </a:r>
            <a:r>
              <a:rPr lang="en-US" sz="1200" kern="1200" dirty="0" err="1">
                <a:solidFill>
                  <a:schemeClr val="tx1"/>
                </a:solidFill>
                <a:effectLst/>
                <a:latin typeface="+mn-lt"/>
                <a:ea typeface="+mn-ea"/>
                <a:cs typeface="+mn-cs"/>
              </a:rPr>
              <a:t>événements</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informations</a:t>
            </a:r>
            <a:r>
              <a:rPr lang="en-US" sz="1200" kern="1200" dirty="0">
                <a:solidFill>
                  <a:schemeClr val="tx1"/>
                </a:solidFill>
                <a:effectLst/>
                <a:latin typeface="+mn-lt"/>
                <a:ea typeface="+mn-ea"/>
                <a:cs typeface="+mn-cs"/>
              </a:rPr>
              <a:t> issues des </a:t>
            </a:r>
            <a:r>
              <a:rPr lang="en-US" sz="1200" kern="1200" dirty="0" err="1">
                <a:solidFill>
                  <a:schemeClr val="tx1"/>
                </a:solidFill>
                <a:effectLst/>
                <a:latin typeface="+mn-lt"/>
                <a:ea typeface="+mn-ea"/>
                <a:cs typeface="+mn-cs"/>
              </a:rPr>
              <a:t>médias</a:t>
            </a:r>
            <a:r>
              <a:rPr lang="en-US" sz="1200" kern="1200" dirty="0">
                <a:solidFill>
                  <a:schemeClr val="tx1"/>
                </a:solidFill>
                <a:effectLst/>
                <a:latin typeface="+mn-lt"/>
                <a:ea typeface="+mn-ea"/>
                <a:cs typeface="+mn-cs"/>
              </a:rPr>
              <a:t> et réseaux </a:t>
            </a:r>
            <a:r>
              <a:rPr lang="en-US" sz="1200" kern="1200" dirty="0" err="1">
                <a:solidFill>
                  <a:schemeClr val="tx1"/>
                </a:solidFill>
                <a:effectLst/>
                <a:latin typeface="+mn-lt"/>
                <a:ea typeface="+mn-ea"/>
                <a:cs typeface="+mn-cs"/>
              </a:rPr>
              <a:t>sociaux</a:t>
            </a:r>
            <a:r>
              <a:rPr lang="en-US" sz="1200" kern="1200" dirty="0">
                <a:solidFill>
                  <a:schemeClr val="tx1"/>
                </a:solidFill>
                <a:effectLst/>
                <a:latin typeface="+mn-lt"/>
                <a:ea typeface="+mn-ea"/>
                <a:cs typeface="+mn-cs"/>
              </a:rPr>
              <a:t>, les perceptions des </a:t>
            </a:r>
            <a:r>
              <a:rPr lang="en-US" sz="1200" kern="1200" dirty="0" err="1">
                <a:solidFill>
                  <a:schemeClr val="tx1"/>
                </a:solidFill>
                <a:effectLst/>
                <a:latin typeface="+mn-lt"/>
                <a:ea typeface="+mn-ea"/>
                <a:cs typeface="+mn-cs"/>
              </a:rPr>
              <a:t>communautés</a:t>
            </a:r>
            <a:r>
              <a:rPr lang="en-US" sz="1200" kern="1200" dirty="0">
                <a:solidFill>
                  <a:schemeClr val="tx1"/>
                </a:solidFill>
                <a:effectLst/>
                <a:latin typeface="+mn-lt"/>
                <a:ea typeface="+mn-ea"/>
                <a:cs typeface="+mn-cs"/>
              </a:rPr>
              <a:t>, les analyses </a:t>
            </a:r>
            <a:r>
              <a:rPr lang="en-US" sz="1200" kern="1200" dirty="0" err="1">
                <a:solidFill>
                  <a:schemeClr val="tx1"/>
                </a:solidFill>
                <a:effectLst/>
                <a:latin typeface="+mn-lt"/>
                <a:ea typeface="+mn-ea"/>
                <a:cs typeface="+mn-cs"/>
              </a:rPr>
              <a:t>comportementales</a:t>
            </a:r>
            <a:r>
              <a:rPr lang="en-US" sz="1200" kern="1200" dirty="0">
                <a:solidFill>
                  <a:schemeClr val="tx1"/>
                </a:solidFill>
                <a:effectLst/>
                <a:latin typeface="+mn-lt"/>
                <a:ea typeface="+mn-ea"/>
                <a:cs typeface="+mn-cs"/>
              </a:rPr>
              <a:t> et les données </a:t>
            </a:r>
            <a:r>
              <a:rPr lang="en-US" sz="1200" kern="1200" dirty="0" err="1">
                <a:solidFill>
                  <a:schemeClr val="tx1"/>
                </a:solidFill>
                <a:effectLst/>
                <a:latin typeface="+mn-lt"/>
                <a:ea typeface="+mn-ea"/>
                <a:cs typeface="+mn-cs"/>
              </a:rPr>
              <a:t>géographiques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L'objectif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n'est</a:t>
            </a:r>
            <a:r>
              <a:rPr lang="en-US" sz="1200" kern="1200" dirty="0">
                <a:solidFill>
                  <a:schemeClr val="tx1"/>
                </a:solidFill>
                <a:effectLst/>
                <a:latin typeface="+mn-lt"/>
                <a:ea typeface="+mn-ea"/>
                <a:cs typeface="+mn-cs"/>
              </a:rPr>
              <a:t> plus </a:t>
            </a:r>
            <a:r>
              <a:rPr lang="en-US" sz="1200" kern="1200" dirty="0" err="1">
                <a:solidFill>
                  <a:schemeClr val="tx1"/>
                </a:solidFill>
                <a:effectLst/>
                <a:latin typeface="+mn-lt"/>
                <a:ea typeface="+mn-ea"/>
                <a:cs typeface="+mn-cs"/>
              </a:rPr>
              <a:t>seulement</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répondre</a:t>
            </a:r>
            <a:r>
              <a:rPr lang="en-US" sz="1200" kern="1200" dirty="0">
                <a:solidFill>
                  <a:schemeClr val="tx1"/>
                </a:solidFill>
                <a:effectLst/>
                <a:latin typeface="+mn-lt"/>
                <a:ea typeface="+mn-ea"/>
                <a:cs typeface="+mn-cs"/>
              </a:rPr>
              <a:t> aux crises, </a:t>
            </a:r>
            <a:r>
              <a:rPr lang="en-US" sz="1200" kern="1200" dirty="0" err="1">
                <a:solidFill>
                  <a:schemeClr val="tx1"/>
                </a:solidFill>
                <a:effectLst/>
                <a:latin typeface="+mn-lt"/>
                <a:ea typeface="+mn-ea"/>
                <a:cs typeface="+mn-cs"/>
              </a:rPr>
              <a:t>mais</a:t>
            </a:r>
            <a:r>
              <a:rPr lang="en-US" sz="1200" kern="1200" dirty="0">
                <a:solidFill>
                  <a:schemeClr val="tx1"/>
                </a:solidFill>
                <a:effectLst/>
                <a:latin typeface="+mn-lt"/>
                <a:ea typeface="+mn-ea"/>
                <a:cs typeface="+mn-cs"/>
              </a:rPr>
              <a:t> de les </a:t>
            </a:r>
            <a:r>
              <a:rPr lang="en-US" sz="1200" kern="1200" dirty="0" err="1">
                <a:solidFill>
                  <a:schemeClr val="tx1"/>
                </a:solidFill>
                <a:effectLst/>
                <a:latin typeface="+mn-lt"/>
                <a:ea typeface="+mn-ea"/>
                <a:cs typeface="+mn-cs"/>
              </a:rPr>
              <a:t>anticiper</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détecter</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signaux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faibles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évaluer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simultanément</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sanitaire et le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informationnel</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améliorer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confiance</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citoyens</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Il est important de </a:t>
            </a:r>
            <a:r>
              <a:rPr lang="en-US" sz="1200" kern="1200" dirty="0" err="1">
                <a:solidFill>
                  <a:schemeClr val="tx1"/>
                </a:solidFill>
                <a:effectLst/>
                <a:latin typeface="+mn-lt"/>
                <a:ea typeface="+mn-ea"/>
                <a:cs typeface="+mn-cs"/>
              </a:rPr>
              <a:t>souligner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nous ne partons pas de </a:t>
            </a:r>
            <a:r>
              <a:rPr lang="en-US" sz="1200" kern="1200" dirty="0" err="1">
                <a:solidFill>
                  <a:schemeClr val="tx1"/>
                </a:solidFill>
                <a:effectLst/>
                <a:latin typeface="+mn-lt"/>
                <a:ea typeface="+mn-ea"/>
                <a:cs typeface="+mn-cs"/>
              </a:rPr>
              <a:t>zéro</a:t>
            </a:r>
            <a:r>
              <a:rPr lang="en-US" sz="1200" kern="1200" dirty="0">
                <a:solidFill>
                  <a:schemeClr val="tx1"/>
                </a:solidFill>
                <a:effectLst/>
                <a:latin typeface="+mn-lt"/>
                <a:ea typeface="+mn-ea"/>
                <a:cs typeface="+mn-cs"/>
              </a:rPr>
              <a:t>. L'ONMNE dispose déjà d'un socle </a:t>
            </a:r>
            <a:r>
              <a:rPr lang="en-US" sz="1200" kern="1200" dirty="0" err="1">
                <a:solidFill>
                  <a:schemeClr val="tx1"/>
                </a:solidFill>
                <a:effectLst/>
                <a:latin typeface="+mn-lt"/>
                <a:ea typeface="+mn-ea"/>
                <a:cs typeface="+mn-cs"/>
              </a:rPr>
              <a:t>solide</a:t>
            </a:r>
            <a:r>
              <a:rPr lang="en-US" sz="1200" kern="1200" dirty="0">
                <a:solidFill>
                  <a:schemeClr val="tx1"/>
                </a:solidFill>
                <a:effectLst/>
                <a:latin typeface="+mn-lt"/>
                <a:ea typeface="+mn-ea"/>
                <a:cs typeface="+mn-cs"/>
              </a:rPr>
              <a:t> : la surveillance </a:t>
            </a:r>
            <a:r>
              <a:rPr lang="en-US" sz="1200" kern="1200" dirty="0" err="1">
                <a:solidFill>
                  <a:schemeClr val="tx1"/>
                </a:solidFill>
                <a:effectLst/>
                <a:latin typeface="+mn-lt"/>
                <a:ea typeface="+mn-ea"/>
                <a:cs typeface="+mn-cs"/>
              </a:rPr>
              <a:t>basée</a:t>
            </a:r>
            <a:r>
              <a:rPr lang="en-US" sz="1200" kern="1200" dirty="0">
                <a:solidFill>
                  <a:schemeClr val="tx1"/>
                </a:solidFill>
                <a:effectLst/>
                <a:latin typeface="+mn-lt"/>
                <a:ea typeface="+mn-ea"/>
                <a:cs typeface="+mn-cs"/>
              </a:rPr>
              <a:t> sur les </a:t>
            </a:r>
            <a:r>
              <a:rPr lang="en-US" sz="1200" kern="1200" dirty="0" err="1">
                <a:solidFill>
                  <a:schemeClr val="tx1"/>
                </a:solidFill>
                <a:effectLst/>
                <a:latin typeface="+mn-lt"/>
                <a:ea typeface="+mn-ea"/>
                <a:cs typeface="+mn-cs"/>
              </a:rPr>
              <a:t>événements</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internationale</a:t>
            </a:r>
            <a:r>
              <a:rPr lang="en-US" sz="1200" kern="1200" dirty="0">
                <a:solidFill>
                  <a:schemeClr val="tx1"/>
                </a:solidFill>
                <a:effectLst/>
                <a:latin typeface="+mn-lt"/>
                <a:ea typeface="+mn-ea"/>
                <a:cs typeface="+mn-cs"/>
              </a:rPr>
              <a:t> EIOS de </a:t>
            </a:r>
            <a:r>
              <a:rPr lang="en-US" sz="1200" kern="1200" dirty="0" err="1">
                <a:solidFill>
                  <a:schemeClr val="tx1"/>
                </a:solidFill>
                <a:effectLst/>
                <a:latin typeface="+mn-lt"/>
                <a:ea typeface="+mn-ea"/>
                <a:cs typeface="+mn-cs"/>
              </a:rPr>
              <a:t>l'OMS</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réunions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hebdomadaires</a:t>
            </a:r>
            <a:r>
              <a:rPr lang="en-US" sz="1200" kern="1200" dirty="0">
                <a:solidFill>
                  <a:schemeClr val="tx1"/>
                </a:solidFill>
                <a:effectLst/>
                <a:latin typeface="+mn-lt"/>
                <a:ea typeface="+mn-ea"/>
                <a:cs typeface="+mn-cs"/>
              </a:rPr>
              <a:t> EPITEC, des </a:t>
            </a:r>
            <a:r>
              <a:rPr lang="en-US" sz="1200" kern="1200" dirty="0" err="1">
                <a:solidFill>
                  <a:schemeClr val="tx1"/>
                </a:solidFill>
                <a:effectLst/>
                <a:latin typeface="+mn-lt"/>
                <a:ea typeface="+mn-ea"/>
                <a:cs typeface="+mn-cs"/>
              </a:rPr>
              <a:t>évaluations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rapides</a:t>
            </a:r>
            <a:r>
              <a:rPr lang="en-US" sz="1200" kern="1200" dirty="0">
                <a:solidFill>
                  <a:schemeClr val="tx1"/>
                </a:solidFill>
                <a:effectLst/>
                <a:latin typeface="+mn-lt"/>
                <a:ea typeface="+mn-ea"/>
                <a:cs typeface="+mn-cs"/>
              </a:rPr>
              <a:t> du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cellule de </a:t>
            </a:r>
            <a:r>
              <a:rPr lang="en-US" sz="1200" kern="1200" dirty="0" err="1">
                <a:solidFill>
                  <a:schemeClr val="tx1"/>
                </a:solidFill>
                <a:effectLst/>
                <a:latin typeface="+mn-lt"/>
                <a:ea typeface="+mn-ea"/>
                <a:cs typeface="+mn-cs"/>
              </a:rPr>
              <a:t>veille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médiatique</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fonctionne</a:t>
            </a:r>
            <a:r>
              <a:rPr lang="en-US" sz="1200" kern="1200" dirty="0">
                <a:solidFill>
                  <a:schemeClr val="tx1"/>
                </a:solidFill>
                <a:effectLst/>
                <a:latin typeface="+mn-lt"/>
                <a:ea typeface="+mn-ea"/>
                <a:cs typeface="+mn-cs"/>
              </a:rPr>
              <a:t> 24 </a:t>
            </a:r>
            <a:r>
              <a:rPr lang="en-US" sz="1200" kern="1200" dirty="0" err="1">
                <a:solidFill>
                  <a:schemeClr val="tx1"/>
                </a:solidFill>
                <a:effectLst/>
                <a:latin typeface="+mn-lt"/>
                <a:ea typeface="+mn-ea"/>
                <a:cs typeface="+mn-cs"/>
              </a:rPr>
              <a:t>heures</a:t>
            </a:r>
            <a:r>
              <a:rPr lang="en-US" sz="1200" kern="1200" dirty="0">
                <a:solidFill>
                  <a:schemeClr val="tx1"/>
                </a:solidFill>
                <a:effectLst/>
                <a:latin typeface="+mn-lt"/>
                <a:ea typeface="+mn-ea"/>
                <a:cs typeface="+mn-cs"/>
              </a:rPr>
              <a:t> sur 24 et 7 </a:t>
            </a:r>
            <a:r>
              <a:rPr lang="en-US" sz="1200" kern="1200" dirty="0" err="1">
                <a:solidFill>
                  <a:schemeClr val="tx1"/>
                </a:solidFill>
                <a:effectLst/>
                <a:latin typeface="+mn-lt"/>
                <a:ea typeface="+mn-ea"/>
                <a:cs typeface="+mn-cs"/>
              </a:rPr>
              <a:t>jours</a:t>
            </a:r>
            <a:r>
              <a:rPr lang="en-US" sz="1200" kern="1200" dirty="0">
                <a:solidFill>
                  <a:schemeClr val="tx1"/>
                </a:solidFill>
                <a:effectLst/>
                <a:latin typeface="+mn-lt"/>
                <a:ea typeface="+mn-ea"/>
                <a:cs typeface="+mn-cs"/>
              </a:rPr>
              <a:t> sur 7. Des </a:t>
            </a:r>
            <a:r>
              <a:rPr lang="en-US" sz="1200" kern="1200" dirty="0" err="1">
                <a:solidFill>
                  <a:schemeClr val="tx1"/>
                </a:solidFill>
                <a:effectLst/>
                <a:latin typeface="+mn-lt"/>
                <a:ea typeface="+mn-ea"/>
                <a:cs typeface="+mn-cs"/>
              </a:rPr>
              <a:t>procédures</a:t>
            </a:r>
            <a:r>
              <a:rPr lang="en-US" sz="1200" kern="1200" dirty="0">
                <a:solidFill>
                  <a:schemeClr val="tx1"/>
                </a:solidFill>
                <a:effectLst/>
                <a:latin typeface="+mn-lt"/>
                <a:ea typeface="+mn-ea"/>
                <a:cs typeface="+mn-cs"/>
              </a:rPr>
              <a:t>, un plan national de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et un curriculum de formation </a:t>
            </a:r>
            <a:r>
              <a:rPr lang="en-US" sz="1200" kern="1200" dirty="0" err="1">
                <a:solidFill>
                  <a:schemeClr val="tx1"/>
                </a:solidFill>
                <a:effectLst/>
                <a:latin typeface="+mn-lt"/>
                <a:ea typeface="+mn-ea"/>
                <a:cs typeface="+mn-cs"/>
              </a:rPr>
              <a:t>ont</a:t>
            </a:r>
            <a:r>
              <a:rPr lang="en-US" sz="1200" kern="1200" dirty="0">
                <a:solidFill>
                  <a:schemeClr val="tx1"/>
                </a:solidFill>
                <a:effectLst/>
                <a:latin typeface="+mn-lt"/>
                <a:ea typeface="+mn-ea"/>
                <a:cs typeface="+mn-cs"/>
              </a:rPr>
              <a:t> déjà </a:t>
            </a:r>
            <a:r>
              <a:rPr lang="en-US" sz="1200" kern="1200" dirty="0" err="1">
                <a:solidFill>
                  <a:schemeClr val="tx1"/>
                </a:solidFill>
                <a:effectLst/>
                <a:latin typeface="+mn-lt"/>
                <a:ea typeface="+mn-ea"/>
                <a:cs typeface="+mn-cs"/>
              </a:rPr>
              <a:t>été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élaborés</a:t>
            </a:r>
            <a:r>
              <a:rPr lang="en-US" sz="1200" kern="1200" dirty="0">
                <a:solidFill>
                  <a:schemeClr val="tx1"/>
                </a:solidFill>
                <a:effectLst/>
                <a:latin typeface="+mn-lt"/>
                <a:ea typeface="+mn-ea"/>
                <a:cs typeface="+mn-cs"/>
              </a:rPr>
              <a:t>. Mais </a:t>
            </a:r>
            <a:r>
              <a:rPr lang="en-US" sz="1200" kern="1200" dirty="0" err="1">
                <a:solidFill>
                  <a:schemeClr val="tx1"/>
                </a:solidFill>
                <a:effectLst/>
                <a:latin typeface="+mn-lt"/>
                <a:ea typeface="+mn-ea"/>
                <a:cs typeface="+mn-cs"/>
              </a:rPr>
              <a:t>cette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veille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reste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aujourd'hui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largement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manuelle</a:t>
            </a:r>
            <a:r>
              <a:rPr lang="en-US" sz="1200" kern="1200" dirty="0">
                <a:solidFill>
                  <a:schemeClr val="tx1"/>
                </a:solidFill>
                <a:effectLst/>
                <a:latin typeface="+mn-lt"/>
                <a:ea typeface="+mn-ea"/>
                <a:cs typeface="+mn-cs"/>
              </a:rPr>
              <a:t>, et EIOS ne </a:t>
            </a:r>
            <a:r>
              <a:rPr lang="en-US" sz="1200" kern="1200" dirty="0" err="1">
                <a:solidFill>
                  <a:schemeClr val="tx1"/>
                </a:solidFill>
                <a:effectLst/>
                <a:latin typeface="+mn-lt"/>
                <a:ea typeface="+mn-ea"/>
                <a:cs typeface="+mn-cs"/>
              </a:rPr>
              <a:t>couvre</a:t>
            </a:r>
            <a:r>
              <a:rPr lang="en-US" sz="1200" kern="1200" dirty="0">
                <a:solidFill>
                  <a:schemeClr val="tx1"/>
                </a:solidFill>
                <a:effectLst/>
                <a:latin typeface="+mn-lt"/>
                <a:ea typeface="+mn-ea"/>
                <a:cs typeface="+mn-cs"/>
              </a:rPr>
              <a:t> pas </a:t>
            </a:r>
            <a:r>
              <a:rPr lang="en-US" sz="1200" kern="1200" dirty="0" err="1">
                <a:solidFill>
                  <a:schemeClr val="tx1"/>
                </a:solidFill>
                <a:effectLst/>
                <a:latin typeface="+mn-lt"/>
                <a:ea typeface="+mn-ea"/>
                <a:cs typeface="+mn-cs"/>
              </a:rPr>
              <a:t>pleinement</a:t>
            </a:r>
            <a:r>
              <a:rPr lang="en-US" sz="1200" kern="1200" dirty="0">
                <a:solidFill>
                  <a:schemeClr val="tx1"/>
                </a:solidFill>
                <a:effectLst/>
                <a:latin typeface="+mn-lt"/>
                <a:ea typeface="+mn-ea"/>
                <a:cs typeface="+mn-cs"/>
              </a:rPr>
              <a:t> les réseaux </a:t>
            </a:r>
            <a:r>
              <a:rPr lang="en-US" sz="1200" kern="1200" dirty="0" err="1">
                <a:solidFill>
                  <a:schemeClr val="tx1"/>
                </a:solidFill>
                <a:effectLst/>
                <a:latin typeface="+mn-lt"/>
                <a:ea typeface="+mn-ea"/>
                <a:cs typeface="+mn-cs"/>
              </a:rPr>
              <a:t>sociaux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d'où</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nécessité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nationale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dédiée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Cette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s'inscrit</a:t>
            </a:r>
            <a:r>
              <a:rPr lang="en-US" sz="1200" kern="1200" dirty="0">
                <a:solidFill>
                  <a:schemeClr val="tx1"/>
                </a:solidFill>
                <a:effectLst/>
                <a:latin typeface="+mn-lt"/>
                <a:ea typeface="+mn-ea"/>
                <a:cs typeface="+mn-cs"/>
              </a:rPr>
              <a:t> dans la mise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oeuvre de la Stratégie </a:t>
            </a:r>
            <a:r>
              <a:rPr lang="en-US" sz="1200" kern="1200" dirty="0" err="1">
                <a:solidFill>
                  <a:schemeClr val="tx1"/>
                </a:solidFill>
                <a:effectLst/>
                <a:latin typeface="+mn-lt"/>
                <a:ea typeface="+mn-ea"/>
                <a:cs typeface="+mn-cs"/>
              </a:rPr>
              <a:t>nationale</a:t>
            </a:r>
            <a:r>
              <a:rPr lang="en-US" sz="1200" kern="1200" dirty="0">
                <a:solidFill>
                  <a:schemeClr val="tx1"/>
                </a:solidFill>
                <a:effectLst/>
                <a:latin typeface="+mn-lt"/>
                <a:ea typeface="+mn-ea"/>
                <a:cs typeface="+mn-cs"/>
              </a:rPr>
              <a:t> RCCE-IM, qui repose sur six axes </a:t>
            </a:r>
            <a:r>
              <a:rPr lang="en-US" sz="1200" kern="1200" dirty="0" err="1">
                <a:solidFill>
                  <a:schemeClr val="tx1"/>
                </a:solidFill>
                <a:effectLst/>
                <a:latin typeface="+mn-lt"/>
                <a:ea typeface="+mn-ea"/>
                <a:cs typeface="+mn-cs"/>
              </a:rPr>
              <a:t>complémentaires</a:t>
            </a:r>
            <a:r>
              <a:rPr lang="en-US" sz="1200" kern="1200" dirty="0">
                <a:solidFill>
                  <a:schemeClr val="tx1"/>
                </a:solidFill>
                <a:effectLst/>
                <a:latin typeface="+mn-lt"/>
                <a:ea typeface="+mn-ea"/>
                <a:cs typeface="+mn-cs"/>
              </a:rPr>
              <a:t> : la </a:t>
            </a:r>
            <a:r>
              <a:rPr lang="en-US" sz="1200" kern="1200" dirty="0" err="1">
                <a:solidFill>
                  <a:schemeClr val="tx1"/>
                </a:solidFill>
                <a:effectLst/>
                <a:latin typeface="+mn-lt"/>
                <a:ea typeface="+mn-ea"/>
                <a:cs typeface="+mn-cs"/>
              </a:rPr>
              <a:t>gouvernance</a:t>
            </a:r>
            <a:r>
              <a:rPr lang="en-US" sz="1200" kern="1200" dirty="0">
                <a:solidFill>
                  <a:schemeClr val="tx1"/>
                </a:solidFill>
                <a:effectLst/>
                <a:latin typeface="+mn-lt"/>
                <a:ea typeface="+mn-ea"/>
                <a:cs typeface="+mn-cs"/>
              </a:rPr>
              <a:t> et la coordination </a:t>
            </a:r>
            <a:r>
              <a:rPr lang="en-US" sz="1200" kern="1200" dirty="0" err="1">
                <a:solidFill>
                  <a:schemeClr val="tx1"/>
                </a:solidFill>
                <a:effectLst/>
                <a:latin typeface="+mn-lt"/>
                <a:ea typeface="+mn-ea"/>
                <a:cs typeface="+mn-cs"/>
              </a:rPr>
              <a:t>multisectorielle</a:t>
            </a:r>
            <a:r>
              <a:rPr lang="en-US" sz="1200" kern="1200" dirty="0">
                <a:solidFill>
                  <a:schemeClr val="tx1"/>
                </a:solidFill>
                <a:effectLst/>
                <a:latin typeface="+mn-lt"/>
                <a:ea typeface="+mn-ea"/>
                <a:cs typeface="+mn-cs"/>
              </a:rPr>
              <a:t>, la communication des </a:t>
            </a:r>
            <a:r>
              <a:rPr lang="en-US" sz="1200" kern="1200" dirty="0" err="1">
                <a:solidFill>
                  <a:schemeClr val="tx1"/>
                </a:solidFill>
                <a:effectLst/>
                <a:latin typeface="+mn-lt"/>
                <a:ea typeface="+mn-ea"/>
                <a:cs typeface="+mn-cs"/>
              </a:rPr>
              <a:t>risques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l'engagement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communautaire</a:t>
            </a:r>
            <a:r>
              <a:rPr lang="en-US" sz="1200" kern="1200" dirty="0">
                <a:solidFill>
                  <a:schemeClr val="tx1"/>
                </a:solidFill>
                <a:effectLst/>
                <a:latin typeface="+mn-lt"/>
                <a:ea typeface="+mn-ea"/>
                <a:cs typeface="+mn-cs"/>
              </a:rPr>
              <a:t>, la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qui nous </a:t>
            </a:r>
            <a:r>
              <a:rPr lang="en-US" sz="1200" kern="1200" dirty="0" err="1">
                <a:solidFill>
                  <a:schemeClr val="tx1"/>
                </a:solidFill>
                <a:effectLst/>
                <a:latin typeface="+mn-lt"/>
                <a:ea typeface="+mn-ea"/>
                <a:cs typeface="+mn-cs"/>
              </a:rPr>
              <a:t>intéresse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aujourd'hui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particulièrement</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renforcement</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capacités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enfin</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suivi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l'évaluation</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l'apprentissage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stratégie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prévoit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également</a:t>
            </a:r>
            <a:r>
              <a:rPr lang="en-US" sz="1200" kern="1200" dirty="0">
                <a:solidFill>
                  <a:schemeClr val="tx1"/>
                </a:solidFill>
                <a:effectLst/>
                <a:latin typeface="+mn-lt"/>
                <a:ea typeface="+mn-ea"/>
                <a:cs typeface="+mn-cs"/>
              </a:rPr>
              <a:t> tout un </a:t>
            </a:r>
            <a:r>
              <a:rPr lang="en-US" sz="1200" kern="1200" dirty="0" err="1">
                <a:solidFill>
                  <a:schemeClr val="tx1"/>
                </a:solidFill>
                <a:effectLst/>
                <a:latin typeface="+mn-lt"/>
                <a:ea typeface="+mn-ea"/>
                <a:cs typeface="+mn-cs"/>
              </a:rPr>
              <a:t>écosystème</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relais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communautaires</a:t>
            </a:r>
            <a:r>
              <a:rPr lang="en-US" sz="1200" kern="1200" dirty="0">
                <a:solidFill>
                  <a:schemeClr val="tx1"/>
                </a:solidFill>
                <a:effectLst/>
                <a:latin typeface="+mn-lt"/>
                <a:ea typeface="+mn-ea"/>
                <a:cs typeface="+mn-cs"/>
              </a:rPr>
              <a:t> chargés de faire </a:t>
            </a:r>
            <a:r>
              <a:rPr lang="en-US" sz="1200" kern="1200" dirty="0" err="1">
                <a:solidFill>
                  <a:schemeClr val="tx1"/>
                </a:solidFill>
                <a:effectLst/>
                <a:latin typeface="+mn-lt"/>
                <a:ea typeface="+mn-ea"/>
                <a:cs typeface="+mn-cs"/>
              </a:rPr>
              <a:t>remonter</a:t>
            </a:r>
            <a:r>
              <a:rPr lang="en-US" sz="1200" kern="1200" dirty="0">
                <a:solidFill>
                  <a:schemeClr val="tx1"/>
                </a:solidFill>
                <a:effectLst/>
                <a:latin typeface="+mn-lt"/>
                <a:ea typeface="+mn-ea"/>
                <a:cs typeface="+mn-cs"/>
              </a:rPr>
              <a:t> les perceptions du terrain vers la </a:t>
            </a:r>
            <a:r>
              <a:rPr lang="en-US" sz="1200" kern="1200" dirty="0" err="1">
                <a:solidFill>
                  <a:schemeClr val="tx1"/>
                </a:solidFill>
                <a:effectLst/>
                <a:latin typeface="+mn-lt"/>
                <a:ea typeface="+mn-ea"/>
                <a:cs typeface="+mn-cs"/>
              </a:rPr>
              <a:t>décision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opérationnelle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Plusieurs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avancées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concrètes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ont</a:t>
            </a:r>
            <a:r>
              <a:rPr lang="en-US" sz="1200" kern="1200" dirty="0">
                <a:solidFill>
                  <a:schemeClr val="tx1"/>
                </a:solidFill>
                <a:effectLst/>
                <a:latin typeface="+mn-lt"/>
                <a:ea typeface="+mn-ea"/>
                <a:cs typeface="+mn-cs"/>
              </a:rPr>
              <a:t> déjà </a:t>
            </a:r>
            <a:r>
              <a:rPr lang="en-US" sz="1200" kern="1200" dirty="0" err="1">
                <a:solidFill>
                  <a:schemeClr val="tx1"/>
                </a:solidFill>
                <a:effectLst/>
                <a:latin typeface="+mn-lt"/>
                <a:ea typeface="+mn-ea"/>
                <a:cs typeface="+mn-cs"/>
              </a:rPr>
              <a:t>été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réalisées</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l'élaboration</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stratégie</a:t>
            </a:r>
            <a:r>
              <a:rPr lang="en-US" sz="1200" kern="1200" dirty="0">
                <a:solidFill>
                  <a:schemeClr val="tx1"/>
                </a:solidFill>
                <a:effectLst/>
                <a:latin typeface="+mn-lt"/>
                <a:ea typeface="+mn-ea"/>
                <a:cs typeface="+mn-cs"/>
              </a:rPr>
              <a:t> et du plan national, le </a:t>
            </a:r>
            <a:r>
              <a:rPr lang="en-US" sz="1200" kern="1200" dirty="0" err="1">
                <a:solidFill>
                  <a:schemeClr val="tx1"/>
                </a:solidFill>
                <a:effectLst/>
                <a:latin typeface="+mn-lt"/>
                <a:ea typeface="+mn-ea"/>
                <a:cs typeface="+mn-cs"/>
              </a:rPr>
              <a:t>développement</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procédures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opérationnelles</a:t>
            </a:r>
            <a:r>
              <a:rPr lang="en-US" sz="1200" kern="1200" dirty="0">
                <a:solidFill>
                  <a:schemeClr val="tx1"/>
                </a:solidFill>
                <a:effectLst/>
                <a:latin typeface="+mn-lt"/>
                <a:ea typeface="+mn-ea"/>
                <a:cs typeface="+mn-cs"/>
              </a:rPr>
              <a:t>, la mise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place de la cellule de </a:t>
            </a:r>
            <a:r>
              <a:rPr lang="en-US" sz="1200" kern="1200" dirty="0" err="1">
                <a:solidFill>
                  <a:schemeClr val="tx1"/>
                </a:solidFill>
                <a:effectLst/>
                <a:latin typeface="+mn-lt"/>
                <a:ea typeface="+mn-ea"/>
                <a:cs typeface="+mn-cs"/>
              </a:rPr>
              <a:t>veille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médiatique</a:t>
            </a:r>
            <a:r>
              <a:rPr lang="en-US" sz="1200" kern="1200" dirty="0">
                <a:solidFill>
                  <a:schemeClr val="tx1"/>
                </a:solidFill>
                <a:effectLst/>
                <a:latin typeface="+mn-lt"/>
                <a:ea typeface="+mn-ea"/>
                <a:cs typeface="+mn-cs"/>
              </a:rPr>
              <a:t>, un curriculum national de formation, des ateliers avec les points </a:t>
            </a:r>
            <a:r>
              <a:rPr lang="en-US" sz="1200" kern="1200" dirty="0" err="1">
                <a:solidFill>
                  <a:schemeClr val="tx1"/>
                </a:solidFill>
                <a:effectLst/>
                <a:latin typeface="+mn-lt"/>
                <a:ea typeface="+mn-ea"/>
                <a:cs typeface="+mn-cs"/>
              </a:rPr>
              <a:t>focaux</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ministères</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médias</a:t>
            </a:r>
            <a:r>
              <a:rPr lang="en-US" sz="1200" kern="1200" dirty="0">
                <a:solidFill>
                  <a:schemeClr val="tx1"/>
                </a:solidFill>
                <a:effectLst/>
                <a:latin typeface="+mn-lt"/>
                <a:ea typeface="+mn-ea"/>
                <a:cs typeface="+mn-cs"/>
              </a:rPr>
              <a:t> et de la société civile, </a:t>
            </a:r>
            <a:r>
              <a:rPr lang="en-US" sz="1200" kern="1200" dirty="0" err="1">
                <a:solidFill>
                  <a:schemeClr val="tx1"/>
                </a:solidFill>
                <a:effectLst/>
                <a:latin typeface="+mn-lt"/>
                <a:ea typeface="+mn-ea"/>
                <a:cs typeface="+mn-cs"/>
              </a:rPr>
              <a:t>ainsi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les premières formations des </a:t>
            </a:r>
            <a:r>
              <a:rPr lang="en-US" sz="1200" kern="1200" dirty="0" err="1">
                <a:solidFill>
                  <a:schemeClr val="tx1"/>
                </a:solidFill>
                <a:effectLst/>
                <a:latin typeface="+mn-lt"/>
                <a:ea typeface="+mn-ea"/>
                <a:cs typeface="+mn-cs"/>
              </a:rPr>
              <a:t>régions</a:t>
            </a:r>
            <a:r>
              <a:rPr lang="en-US" sz="1200" kern="1200" dirty="0">
                <a:solidFill>
                  <a:schemeClr val="tx1"/>
                </a:solidFill>
                <a:effectLst/>
                <a:latin typeface="+mn-lt"/>
                <a:ea typeface="+mn-ea"/>
                <a:cs typeface="+mn-cs"/>
              </a:rPr>
              <a:t> à la gestion des pages </a:t>
            </a:r>
            <a:r>
              <a:rPr lang="en-US" sz="1200" kern="1200" dirty="0" err="1">
                <a:solidFill>
                  <a:schemeClr val="tx1"/>
                </a:solidFill>
                <a:effectLst/>
                <a:latin typeface="+mn-lt"/>
                <a:ea typeface="+mn-ea"/>
                <a:cs typeface="+mn-cs"/>
              </a:rPr>
              <a:t>institutionnelles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Ces</a:t>
            </a:r>
            <a:r>
              <a:rPr lang="en-US" sz="1200" kern="1200" dirty="0">
                <a:solidFill>
                  <a:schemeClr val="tx1"/>
                </a:solidFill>
                <a:effectLst/>
                <a:latin typeface="+mn-lt"/>
                <a:ea typeface="+mn-ea"/>
                <a:cs typeface="+mn-cs"/>
              </a:rPr>
              <a:t> acquis constituent la base sur </a:t>
            </a:r>
            <a:r>
              <a:rPr lang="en-US" sz="1200" kern="1200" dirty="0" err="1">
                <a:solidFill>
                  <a:schemeClr val="tx1"/>
                </a:solidFill>
                <a:effectLst/>
                <a:latin typeface="+mn-lt"/>
                <a:ea typeface="+mn-ea"/>
                <a:cs typeface="+mn-cs"/>
              </a:rPr>
              <a:t>laquelle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nous vous </a:t>
            </a:r>
            <a:r>
              <a:rPr lang="en-US" sz="1200" kern="1200" dirty="0" err="1">
                <a:solidFill>
                  <a:schemeClr val="tx1"/>
                </a:solidFill>
                <a:effectLst/>
                <a:latin typeface="+mn-lt"/>
                <a:ea typeface="+mn-ea"/>
                <a:cs typeface="+mn-cs"/>
              </a:rPr>
              <a:t>présentons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viendra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s'appuyer</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Venonla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Nationale </a:t>
            </a:r>
            <a:r>
              <a:rPr lang="en-US" sz="1200" kern="1200" dirty="0" err="1">
                <a:solidFill>
                  <a:schemeClr val="tx1"/>
                </a:solidFill>
                <a:effectLst/>
                <a:latin typeface="+mn-lt"/>
                <a:ea typeface="+mn-ea"/>
                <a:cs typeface="+mn-cs"/>
              </a:rPr>
              <a:t>Intégrée</a:t>
            </a:r>
            <a:r>
              <a:rPr lang="en-US" sz="1200" kern="1200" dirty="0">
                <a:solidFill>
                  <a:schemeClr val="tx1"/>
                </a:solidFill>
                <a:effectLst/>
                <a:latin typeface="+mn-lt"/>
                <a:ea typeface="+mn-ea"/>
                <a:cs typeface="+mn-cs"/>
              </a:rPr>
              <a:t> de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Elle sera le principal </a:t>
            </a:r>
            <a:r>
              <a:rPr lang="en-US" sz="1200" kern="1200" dirty="0" err="1">
                <a:solidFill>
                  <a:schemeClr val="tx1"/>
                </a:solidFill>
                <a:effectLst/>
                <a:latin typeface="+mn-lt"/>
                <a:ea typeface="+mn-ea"/>
                <a:cs typeface="+mn-cs"/>
              </a:rPr>
              <a:t>outil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opérationnel</a:t>
            </a:r>
            <a:r>
              <a:rPr lang="en-US" sz="1200" kern="1200" dirty="0">
                <a:solidFill>
                  <a:schemeClr val="tx1"/>
                </a:solidFill>
                <a:effectLst/>
                <a:latin typeface="+mn-lt"/>
                <a:ea typeface="+mn-ea"/>
                <a:cs typeface="+mn-cs"/>
              </a:rPr>
              <a:t> du </a:t>
            </a:r>
            <a:r>
              <a:rPr lang="en-US" sz="1200" kern="1200" dirty="0" err="1">
                <a:solidFill>
                  <a:schemeClr val="tx1"/>
                </a:solidFill>
                <a:effectLst/>
                <a:latin typeface="+mn-lt"/>
                <a:ea typeface="+mn-ea"/>
                <a:cs typeface="+mn-cs"/>
              </a:rPr>
              <a:t>pilier</a:t>
            </a:r>
            <a:r>
              <a:rPr lang="en-US" sz="1200" kern="1200" dirty="0">
                <a:solidFill>
                  <a:schemeClr val="tx1"/>
                </a:solidFill>
                <a:effectLst/>
                <a:latin typeface="+mn-lt"/>
                <a:ea typeface="+mn-ea"/>
                <a:cs typeface="+mn-cs"/>
              </a:rPr>
              <a:t>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Concrètement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permettra</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détecter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automatiquement</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d'analyser</a:t>
            </a:r>
            <a:r>
              <a:rPr lang="en-US" sz="1200" kern="1200" dirty="0">
                <a:solidFill>
                  <a:schemeClr val="tx1"/>
                </a:solidFill>
                <a:effectLst/>
                <a:latin typeface="+mn-lt"/>
                <a:ea typeface="+mn-ea"/>
                <a:cs typeface="+mn-cs"/>
              </a:rPr>
              <a:t> les perceptions et les </a:t>
            </a:r>
            <a:r>
              <a:rPr lang="en-US" sz="1200" kern="1200" dirty="0" err="1">
                <a:solidFill>
                  <a:schemeClr val="tx1"/>
                </a:solidFill>
                <a:effectLst/>
                <a:latin typeface="+mn-lt"/>
                <a:ea typeface="+mn-ea"/>
                <a:cs typeface="+mn-cs"/>
              </a:rPr>
              <a:t>préoccupations</a:t>
            </a:r>
            <a:r>
              <a:rPr lang="en-US" sz="1200" kern="1200" dirty="0">
                <a:solidFill>
                  <a:schemeClr val="tx1"/>
                </a:solidFill>
                <a:effectLst/>
                <a:latin typeface="+mn-lt"/>
                <a:ea typeface="+mn-ea"/>
                <a:cs typeface="+mn-cs"/>
              </a:rPr>
              <a:t> de la population, de </a:t>
            </a:r>
            <a:r>
              <a:rPr lang="en-US" sz="1200" kern="1200" dirty="0" err="1">
                <a:solidFill>
                  <a:schemeClr val="tx1"/>
                </a:solidFill>
                <a:effectLst/>
                <a:latin typeface="+mn-lt"/>
                <a:ea typeface="+mn-ea"/>
                <a:cs typeface="+mn-cs"/>
              </a:rPr>
              <a:t>mesurer</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niveau</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confiance</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suivre</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comportements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produire</a:t>
            </a:r>
            <a:r>
              <a:rPr lang="en-US" sz="1200" kern="1200" dirty="0">
                <a:solidFill>
                  <a:schemeClr val="tx1"/>
                </a:solidFill>
                <a:effectLst/>
                <a:latin typeface="+mn-lt"/>
                <a:ea typeface="+mn-ea"/>
                <a:cs typeface="+mn-cs"/>
              </a:rPr>
              <a:t> des tableaux de bord </a:t>
            </a:r>
            <a:r>
              <a:rPr lang="en-US" sz="1200" kern="1200" dirty="0" err="1">
                <a:solidFill>
                  <a:schemeClr val="tx1"/>
                </a:solidFill>
                <a:effectLst/>
                <a:latin typeface="+mn-lt"/>
                <a:ea typeface="+mn-ea"/>
                <a:cs typeface="+mn-cs"/>
              </a:rPr>
              <a:t>décisionnels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générer</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alertes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précoces</a:t>
            </a:r>
            <a:r>
              <a:rPr lang="en-US" sz="1200" kern="1200" dirty="0">
                <a:solidFill>
                  <a:schemeClr val="tx1"/>
                </a:solidFill>
                <a:effectLst/>
                <a:latin typeface="+mn-lt"/>
                <a:ea typeface="+mn-ea"/>
                <a:cs typeface="+mn-cs"/>
              </a:rPr>
              <a:t> et de proposer des messages </a:t>
            </a:r>
            <a:r>
              <a:rPr lang="en-US" sz="1200" kern="1200" dirty="0" err="1">
                <a:solidFill>
                  <a:schemeClr val="tx1"/>
                </a:solidFill>
                <a:effectLst/>
                <a:latin typeface="+mn-lt"/>
                <a:ea typeface="+mn-ea"/>
                <a:cs typeface="+mn-cs"/>
              </a:rPr>
              <a:t>adaptés</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chaque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contexte</a:t>
            </a:r>
            <a:r>
              <a:rPr lang="en-US" sz="1200" kern="1200" dirty="0">
                <a:solidFill>
                  <a:schemeClr val="tx1"/>
                </a:solidFill>
                <a:effectLst/>
                <a:latin typeface="+mn-lt"/>
                <a:ea typeface="+mn-ea"/>
                <a:cs typeface="+mn-cs"/>
              </a:rPr>
              <a:t>. En </a:t>
            </a:r>
            <a:r>
              <a:rPr lang="en-US" sz="1200" kern="1200" dirty="0" err="1">
                <a:solidFill>
                  <a:schemeClr val="tx1"/>
                </a:solidFill>
                <a:effectLst/>
                <a:latin typeface="+mn-lt"/>
                <a:ea typeface="+mn-ea"/>
                <a:cs typeface="+mn-cs"/>
              </a:rPr>
              <a:t>clair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transformera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veille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aujourd'hui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essentiellement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manuelle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système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automatisé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d'aide</a:t>
            </a:r>
            <a:r>
              <a:rPr lang="en-US" sz="1200" kern="1200" dirty="0">
                <a:solidFill>
                  <a:schemeClr val="tx1"/>
                </a:solidFill>
                <a:effectLst/>
                <a:latin typeface="+mn-lt"/>
                <a:ea typeface="+mn-ea"/>
                <a:cs typeface="+mn-cs"/>
              </a:rPr>
              <a:t> à la </a:t>
            </a:r>
            <a:r>
              <a:rPr lang="en-US" sz="1200" kern="1200" dirty="0" err="1">
                <a:solidFill>
                  <a:schemeClr val="tx1"/>
                </a:solidFill>
                <a:effectLst/>
                <a:latin typeface="+mn-lt"/>
                <a:ea typeface="+mn-ea"/>
                <a:cs typeface="+mn-cs"/>
              </a:rPr>
              <a:t>décision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Elle repose sur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architecture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six couches. </a:t>
            </a:r>
            <a:r>
              <a:rPr lang="en-US" sz="1200" kern="1200" dirty="0" err="1">
                <a:solidFill>
                  <a:schemeClr val="tx1"/>
                </a:solidFill>
                <a:effectLst/>
                <a:latin typeface="+mn-lt"/>
                <a:ea typeface="+mn-ea"/>
                <a:cs typeface="+mn-cs"/>
              </a:rPr>
              <a:t>D'abord</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collecte</a:t>
            </a:r>
            <a:r>
              <a:rPr lang="en-US" sz="1200" kern="1200" dirty="0">
                <a:solidFill>
                  <a:schemeClr val="tx1"/>
                </a:solidFill>
                <a:effectLst/>
                <a:latin typeface="+mn-lt"/>
                <a:ea typeface="+mn-ea"/>
                <a:cs typeface="+mn-cs"/>
              </a:rPr>
              <a:t> des conversations </a:t>
            </a:r>
            <a:r>
              <a:rPr lang="en-US" sz="1200" kern="1200" dirty="0" err="1">
                <a:solidFill>
                  <a:schemeClr val="tx1"/>
                </a:solidFill>
                <a:effectLst/>
                <a:latin typeface="+mn-lt"/>
                <a:ea typeface="+mn-ea"/>
                <a:cs typeface="+mn-cs"/>
              </a:rPr>
              <a:t>publiques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ligne</a:t>
            </a:r>
            <a:r>
              <a:rPr lang="en-US" sz="1200" kern="1200" dirty="0">
                <a:solidFill>
                  <a:schemeClr val="tx1"/>
                </a:solidFill>
                <a:effectLst/>
                <a:latin typeface="+mn-lt"/>
                <a:ea typeface="+mn-ea"/>
                <a:cs typeface="+mn-cs"/>
              </a:rPr>
              <a:t>. Ensuite, la </a:t>
            </a:r>
            <a:r>
              <a:rPr lang="en-US" sz="1200" kern="1200" dirty="0" err="1">
                <a:solidFill>
                  <a:schemeClr val="tx1"/>
                </a:solidFill>
                <a:effectLst/>
                <a:latin typeface="+mn-lt"/>
                <a:ea typeface="+mn-ea"/>
                <a:cs typeface="+mn-cs"/>
              </a:rPr>
              <a:t>normalisation</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ces</a:t>
            </a:r>
            <a:r>
              <a:rPr lang="en-US" sz="1200" kern="1200" dirty="0">
                <a:solidFill>
                  <a:schemeClr val="tx1"/>
                </a:solidFill>
                <a:effectLst/>
                <a:latin typeface="+mn-lt"/>
                <a:ea typeface="+mn-ea"/>
                <a:cs typeface="+mn-cs"/>
              </a:rPr>
              <a:t> données : langue, </a:t>
            </a:r>
            <a:r>
              <a:rPr lang="en-US" sz="1200" kern="1200" dirty="0" err="1">
                <a:solidFill>
                  <a:schemeClr val="tx1"/>
                </a:solidFill>
                <a:effectLst/>
                <a:latin typeface="+mn-lt"/>
                <a:ea typeface="+mn-ea"/>
                <a:cs typeface="+mn-cs"/>
              </a:rPr>
              <a:t>dialecte</a:t>
            </a:r>
            <a:r>
              <a:rPr lang="en-US" sz="1200" kern="1200" dirty="0">
                <a:solidFill>
                  <a:schemeClr val="tx1"/>
                </a:solidFill>
                <a:effectLst/>
                <a:latin typeface="+mn-lt"/>
                <a:ea typeface="+mn-ea"/>
                <a:cs typeface="+mn-cs"/>
              </a:rPr>
              <a:t>, transcription audio </a:t>
            </a:r>
            <a:r>
              <a:rPr lang="en-US" sz="1200" kern="1200" dirty="0" err="1">
                <a:solidFill>
                  <a:schemeClr val="tx1"/>
                </a:solidFill>
                <a:effectLst/>
                <a:latin typeface="+mn-lt"/>
                <a:ea typeface="+mn-ea"/>
                <a:cs typeface="+mn-cs"/>
              </a:rPr>
              <a:t>ou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vidéo</a:t>
            </a:r>
            <a:r>
              <a:rPr lang="en-US" sz="1200" kern="1200" dirty="0">
                <a:solidFill>
                  <a:schemeClr val="tx1"/>
                </a:solidFill>
                <a:effectLst/>
                <a:latin typeface="+mn-lt"/>
                <a:ea typeface="+mn-ea"/>
                <a:cs typeface="+mn-cs"/>
              </a:rPr>
              <a:t>. Vient ensuite le </a:t>
            </a:r>
            <a:r>
              <a:rPr lang="en-US" sz="1200" kern="1200" dirty="0" err="1">
                <a:solidFill>
                  <a:schemeClr val="tx1"/>
                </a:solidFill>
                <a:effectLst/>
                <a:latin typeface="+mn-lt"/>
                <a:ea typeface="+mn-ea"/>
                <a:cs typeface="+mn-cs"/>
              </a:rPr>
              <a:t>coeur</a:t>
            </a:r>
            <a:r>
              <a:rPr lang="en-US" sz="1200" kern="1200" dirty="0">
                <a:solidFill>
                  <a:schemeClr val="tx1"/>
                </a:solidFill>
                <a:effectLst/>
                <a:latin typeface="+mn-lt"/>
                <a:ea typeface="+mn-ea"/>
                <a:cs typeface="+mn-cs"/>
              </a:rPr>
              <a:t> du </a:t>
            </a:r>
            <a:r>
              <a:rPr lang="en-US" sz="1200" kern="1200" dirty="0" err="1">
                <a:solidFill>
                  <a:schemeClr val="tx1"/>
                </a:solidFill>
                <a:effectLst/>
                <a:latin typeface="+mn-lt"/>
                <a:ea typeface="+mn-ea"/>
                <a:cs typeface="+mn-cs"/>
              </a:rPr>
              <a:t>système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l'analyse</a:t>
            </a:r>
            <a:r>
              <a:rPr lang="en-US" sz="1200" kern="1200" dirty="0">
                <a:solidFill>
                  <a:schemeClr val="tx1"/>
                </a:solidFill>
                <a:effectLst/>
                <a:latin typeface="+mn-lt"/>
                <a:ea typeface="+mn-ea"/>
                <a:cs typeface="+mn-cs"/>
              </a:rPr>
              <a:t> par intelligence </a:t>
            </a:r>
            <a:r>
              <a:rPr lang="en-US" sz="1200" kern="1200" dirty="0" err="1">
                <a:solidFill>
                  <a:schemeClr val="tx1"/>
                </a:solidFill>
                <a:effectLst/>
                <a:latin typeface="+mn-lt"/>
                <a:ea typeface="+mn-ea"/>
                <a:cs typeface="+mn-cs"/>
              </a:rPr>
              <a:t>artificielle</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détecte</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risques</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émotions</a:t>
            </a:r>
            <a:r>
              <a:rPr lang="en-US" sz="1200" kern="1200" dirty="0">
                <a:solidFill>
                  <a:schemeClr val="tx1"/>
                </a:solidFill>
                <a:effectLst/>
                <a:latin typeface="+mn-lt"/>
                <a:ea typeface="+mn-ea"/>
                <a:cs typeface="+mn-cs"/>
              </a:rPr>
              <a:t> et les grands </a:t>
            </a:r>
            <a:r>
              <a:rPr lang="en-US" sz="1200" kern="1200" dirty="0" err="1">
                <a:solidFill>
                  <a:schemeClr val="tx1"/>
                </a:solidFill>
                <a:effectLst/>
                <a:latin typeface="+mn-lt"/>
                <a:ea typeface="+mn-ea"/>
                <a:cs typeface="+mn-cs"/>
              </a:rPr>
              <a:t>récits</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circulent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Ces</a:t>
            </a:r>
            <a:r>
              <a:rPr lang="en-US" sz="1200" kern="1200" dirty="0">
                <a:solidFill>
                  <a:schemeClr val="tx1"/>
                </a:solidFill>
                <a:effectLst/>
                <a:latin typeface="+mn-lt"/>
                <a:ea typeface="+mn-ea"/>
                <a:cs typeface="+mn-cs"/>
              </a:rPr>
              <a:t> analyses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ensuite </a:t>
            </a:r>
            <a:r>
              <a:rPr lang="en-US" sz="1200" kern="1200" dirty="0" err="1">
                <a:solidFill>
                  <a:schemeClr val="tx1"/>
                </a:solidFill>
                <a:effectLst/>
                <a:latin typeface="+mn-lt"/>
                <a:ea typeface="+mn-ea"/>
                <a:cs typeface="+mn-cs"/>
              </a:rPr>
              <a:t>transformées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indicateurs</a:t>
            </a:r>
            <a:r>
              <a:rPr lang="en-US" sz="1200" kern="1200" dirty="0">
                <a:solidFill>
                  <a:schemeClr val="tx1"/>
                </a:solidFill>
                <a:effectLst/>
                <a:latin typeface="+mn-lt"/>
                <a:ea typeface="+mn-ea"/>
                <a:cs typeface="+mn-cs"/>
              </a:rPr>
              <a:t> et tableaux de bord </a:t>
            </a:r>
            <a:r>
              <a:rPr lang="en-US" sz="1200" kern="1200" dirty="0" err="1">
                <a:solidFill>
                  <a:schemeClr val="tx1"/>
                </a:solidFill>
                <a:effectLst/>
                <a:latin typeface="+mn-lt"/>
                <a:ea typeface="+mn-ea"/>
                <a:cs typeface="+mn-cs"/>
              </a:rPr>
              <a:t>lisibles</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cinquième</a:t>
            </a:r>
            <a:r>
              <a:rPr lang="en-US" sz="1200" kern="1200" dirty="0">
                <a:solidFill>
                  <a:schemeClr val="tx1"/>
                </a:solidFill>
                <a:effectLst/>
                <a:latin typeface="+mn-lt"/>
                <a:ea typeface="+mn-ea"/>
                <a:cs typeface="+mn-cs"/>
              </a:rPr>
              <a:t> couche </a:t>
            </a:r>
            <a:r>
              <a:rPr lang="en-US" sz="1200" kern="1200" dirty="0" err="1">
                <a:solidFill>
                  <a:schemeClr val="tx1"/>
                </a:solidFill>
                <a:effectLst/>
                <a:latin typeface="+mn-lt"/>
                <a:ea typeface="+mn-ea"/>
                <a:cs typeface="+mn-cs"/>
              </a:rPr>
              <a:t>déclenche</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alertes</a:t>
            </a:r>
            <a:r>
              <a:rPr lang="en-US" sz="1200" kern="1200" dirty="0">
                <a:solidFill>
                  <a:schemeClr val="tx1"/>
                </a:solidFill>
                <a:effectLst/>
                <a:latin typeface="+mn-lt"/>
                <a:ea typeface="+mn-ea"/>
                <a:cs typeface="+mn-cs"/>
              </a:rPr>
              <a:t> et propose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aide à la </a:t>
            </a:r>
            <a:r>
              <a:rPr lang="en-US" sz="1200" kern="1200" dirty="0" err="1">
                <a:solidFill>
                  <a:schemeClr val="tx1"/>
                </a:solidFill>
                <a:effectLst/>
                <a:latin typeface="+mn-lt"/>
                <a:ea typeface="+mn-ea"/>
                <a:cs typeface="+mn-cs"/>
              </a:rPr>
              <a:t>décision</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enfin</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sixième</a:t>
            </a:r>
            <a:r>
              <a:rPr lang="en-US" sz="1200" kern="1200" dirty="0">
                <a:solidFill>
                  <a:schemeClr val="tx1"/>
                </a:solidFill>
                <a:effectLst/>
                <a:latin typeface="+mn-lt"/>
                <a:ea typeface="+mn-ea"/>
                <a:cs typeface="+mn-cs"/>
              </a:rPr>
              <a:t> couche </a:t>
            </a:r>
            <a:r>
              <a:rPr lang="en-US" sz="1200" kern="1200" dirty="0" err="1">
                <a:solidFill>
                  <a:schemeClr val="tx1"/>
                </a:solidFill>
                <a:effectLst/>
                <a:latin typeface="+mn-lt"/>
                <a:ea typeface="+mn-ea"/>
                <a:cs typeface="+mn-cs"/>
              </a:rPr>
              <a:t>documente</a:t>
            </a:r>
            <a:r>
              <a:rPr lang="en-US" sz="1200" kern="1200" dirty="0">
                <a:solidFill>
                  <a:schemeClr val="tx1"/>
                </a:solidFill>
                <a:effectLst/>
                <a:latin typeface="+mn-lt"/>
                <a:ea typeface="+mn-ea"/>
                <a:cs typeface="+mn-cs"/>
              </a:rPr>
              <a:t> les actions </a:t>
            </a:r>
            <a:r>
              <a:rPr lang="en-US" sz="1200" kern="1200" dirty="0" err="1">
                <a:solidFill>
                  <a:schemeClr val="tx1"/>
                </a:solidFill>
                <a:effectLst/>
                <a:latin typeface="+mn-lt"/>
                <a:ea typeface="+mn-ea"/>
                <a:cs typeface="+mn-cs"/>
              </a:rPr>
              <a:t>menées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évalue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leur</a:t>
            </a:r>
            <a:r>
              <a:rPr lang="en-US" sz="1200" kern="1200" dirty="0">
                <a:solidFill>
                  <a:schemeClr val="tx1"/>
                </a:solidFill>
                <a:effectLst/>
                <a:latin typeface="+mn-lt"/>
                <a:ea typeface="+mn-ea"/>
                <a:cs typeface="+mn-cs"/>
              </a:rPr>
              <a:t> impact dans le temps. </a:t>
            </a:r>
            <a:r>
              <a:rPr lang="en-US" sz="1200" kern="1200" dirty="0" err="1">
                <a:solidFill>
                  <a:schemeClr val="tx1"/>
                </a:solidFill>
                <a:effectLst/>
                <a:latin typeface="+mn-lt"/>
                <a:ea typeface="+mn-ea"/>
                <a:cs typeface="+mn-cs"/>
              </a:rPr>
              <a:t>C'est</a:t>
            </a:r>
            <a:r>
              <a:rPr lang="en-US" sz="1200" kern="1200" dirty="0">
                <a:solidFill>
                  <a:schemeClr val="tx1"/>
                </a:solidFill>
                <a:effectLst/>
                <a:latin typeface="+mn-lt"/>
                <a:ea typeface="+mn-ea"/>
                <a:cs typeface="+mn-cs"/>
              </a:rPr>
              <a:t> un cycle </a:t>
            </a:r>
            <a:r>
              <a:rPr lang="en-US" sz="1200" kern="1200" dirty="0" err="1">
                <a:solidFill>
                  <a:schemeClr val="tx1"/>
                </a:solidFill>
                <a:effectLst/>
                <a:latin typeface="+mn-lt"/>
                <a:ea typeface="+mn-ea"/>
                <a:cs typeface="+mn-cs"/>
              </a:rPr>
              <a:t>complet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détection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analyse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recommandation</a:t>
            </a:r>
            <a:r>
              <a:rPr lang="en-US" sz="1200" kern="1200" dirty="0">
                <a:solidFill>
                  <a:schemeClr val="tx1"/>
                </a:solidFill>
                <a:effectLst/>
                <a:latin typeface="+mn-lt"/>
                <a:ea typeface="+mn-ea"/>
                <a:cs typeface="+mn-cs"/>
              </a:rPr>
              <a:t>, action, </a:t>
            </a:r>
            <a:r>
              <a:rPr lang="en-US" sz="1200" kern="1200" dirty="0" err="1">
                <a:solidFill>
                  <a:schemeClr val="tx1"/>
                </a:solidFill>
                <a:effectLst/>
                <a:latin typeface="+mn-lt"/>
                <a:ea typeface="+mn-ea"/>
                <a:cs typeface="+mn-cs"/>
              </a:rPr>
              <a:t>évaluation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ajustement</a:t>
            </a:r>
            <a:r>
              <a:rPr lang="en-US" sz="1200" kern="1200" dirty="0">
                <a:solidFill>
                  <a:schemeClr val="tx1"/>
                </a:solidFill>
                <a:effectLst/>
                <a:latin typeface="+mn-lt"/>
                <a:ea typeface="+mn-ea"/>
                <a:cs typeface="+mn-cs"/>
              </a:rPr>
              <a:t>, qui nous </a:t>
            </a:r>
            <a:r>
              <a:rPr lang="en-US" sz="1200" kern="1200" dirty="0" err="1">
                <a:solidFill>
                  <a:schemeClr val="tx1"/>
                </a:solidFill>
                <a:effectLst/>
                <a:latin typeface="+mn-lt"/>
                <a:ea typeface="+mn-ea"/>
                <a:cs typeface="+mn-cs"/>
              </a:rPr>
              <a:t>permet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d'apprendre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continu</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Cette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connecte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continu</a:t>
            </a:r>
            <a:r>
              <a:rPr lang="en-US" sz="1200" kern="1200" dirty="0">
                <a:solidFill>
                  <a:schemeClr val="tx1"/>
                </a:solidFill>
                <a:effectLst/>
                <a:latin typeface="+mn-lt"/>
                <a:ea typeface="+mn-ea"/>
                <a:cs typeface="+mn-cs"/>
              </a:rPr>
              <a:t> aux </a:t>
            </a:r>
            <a:r>
              <a:rPr lang="en-US" sz="1200" kern="1200" dirty="0" err="1">
                <a:solidFill>
                  <a:schemeClr val="tx1"/>
                </a:solidFill>
                <a:effectLst/>
                <a:latin typeface="+mn-lt"/>
                <a:ea typeface="+mn-ea"/>
                <a:cs typeface="+mn-cs"/>
              </a:rPr>
              <a:t>principales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plateformes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utilisées</a:t>
            </a:r>
            <a:r>
              <a:rPr lang="en-US" sz="1200" kern="1200" dirty="0">
                <a:solidFill>
                  <a:schemeClr val="tx1"/>
                </a:solidFill>
                <a:effectLst/>
                <a:latin typeface="+mn-lt"/>
                <a:ea typeface="+mn-ea"/>
                <a:cs typeface="+mn-cs"/>
              </a:rPr>
              <a:t> par les </a:t>
            </a:r>
            <a:r>
              <a:rPr lang="en-US" sz="1200" kern="1200" dirty="0" err="1">
                <a:solidFill>
                  <a:schemeClr val="tx1"/>
                </a:solidFill>
                <a:effectLst/>
                <a:latin typeface="+mn-lt"/>
                <a:ea typeface="+mn-ea"/>
                <a:cs typeface="+mn-cs"/>
              </a:rPr>
              <a:t>Tunisiens</a:t>
            </a:r>
            <a:r>
              <a:rPr lang="en-US" sz="1200" kern="1200" dirty="0">
                <a:solidFill>
                  <a:schemeClr val="tx1"/>
                </a:solidFill>
                <a:effectLst/>
                <a:latin typeface="+mn-lt"/>
                <a:ea typeface="+mn-ea"/>
                <a:cs typeface="+mn-cs"/>
              </a:rPr>
              <a:t> pour </a:t>
            </a:r>
            <a:r>
              <a:rPr lang="en-US" sz="1200" kern="1200" dirty="0" err="1">
                <a:solidFill>
                  <a:schemeClr val="tx1"/>
                </a:solidFill>
                <a:effectLst/>
                <a:latin typeface="+mn-lt"/>
                <a:ea typeface="+mn-ea"/>
                <a:cs typeface="+mn-cs"/>
              </a:rPr>
              <a:t>s'informer</a:t>
            </a:r>
            <a:r>
              <a:rPr lang="en-US" sz="1200" kern="1200" dirty="0">
                <a:solidFill>
                  <a:schemeClr val="tx1"/>
                </a:solidFill>
                <a:effectLst/>
                <a:latin typeface="+mn-lt"/>
                <a:ea typeface="+mn-ea"/>
                <a:cs typeface="+mn-cs"/>
              </a:rPr>
              <a:t> sur la santé : Facebook, TikTok, Instagram, X, YouTube, les sites de </a:t>
            </a:r>
            <a:r>
              <a:rPr lang="en-US" sz="1200" kern="1200" dirty="0" err="1">
                <a:solidFill>
                  <a:schemeClr val="tx1"/>
                </a:solidFill>
                <a:effectLst/>
                <a:latin typeface="+mn-lt"/>
                <a:ea typeface="+mn-ea"/>
                <a:cs typeface="+mn-cs"/>
              </a:rPr>
              <a:t>médias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tunisiens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ainsi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certains</a:t>
            </a:r>
            <a:r>
              <a:rPr lang="en-US" sz="1200" kern="1200" dirty="0">
                <a:solidFill>
                  <a:schemeClr val="tx1"/>
                </a:solidFill>
                <a:effectLst/>
                <a:latin typeface="+mn-lt"/>
                <a:ea typeface="+mn-ea"/>
                <a:cs typeface="+mn-cs"/>
              </a:rPr>
              <a:t> blogs, forums et </a:t>
            </a:r>
            <a:r>
              <a:rPr lang="en-US" sz="1200" kern="1200" dirty="0" err="1">
                <a:solidFill>
                  <a:schemeClr val="tx1"/>
                </a:solidFill>
                <a:effectLst/>
                <a:latin typeface="+mn-lt"/>
                <a:ea typeface="+mn-ea"/>
                <a:cs typeface="+mn-cs"/>
              </a:rPr>
              <a:t>canaux</a:t>
            </a:r>
            <a:r>
              <a:rPr lang="en-US" sz="1200" kern="1200" dirty="0">
                <a:solidFill>
                  <a:schemeClr val="tx1"/>
                </a:solidFill>
                <a:effectLst/>
                <a:latin typeface="+mn-lt"/>
                <a:ea typeface="+mn-ea"/>
                <a:cs typeface="+mn-cs"/>
              </a:rPr>
              <a:t> Telegram publics. Et surtout, </a:t>
            </a:r>
            <a:r>
              <a:rPr lang="en-US" sz="1200" kern="1200" dirty="0" err="1">
                <a:solidFill>
                  <a:schemeClr val="tx1"/>
                </a:solidFill>
                <a:effectLst/>
                <a:latin typeface="+mn-lt"/>
                <a:ea typeface="+mn-ea"/>
                <a:cs typeface="+mn-cs"/>
              </a:rPr>
              <a:t>l'analyse</a:t>
            </a:r>
            <a:r>
              <a:rPr lang="en-US" sz="1200" kern="1200" dirty="0">
                <a:solidFill>
                  <a:schemeClr val="tx1"/>
                </a:solidFill>
                <a:effectLst/>
                <a:latin typeface="+mn-lt"/>
                <a:ea typeface="+mn-ea"/>
                <a:cs typeface="+mn-cs"/>
              </a:rPr>
              <a:t> se fait dans les </a:t>
            </a:r>
            <a:r>
              <a:rPr lang="en-US" sz="1200" kern="1200" dirty="0" err="1">
                <a:solidFill>
                  <a:schemeClr val="tx1"/>
                </a:solidFill>
                <a:effectLst/>
                <a:latin typeface="+mn-lt"/>
                <a:ea typeface="+mn-ea"/>
                <a:cs typeface="+mn-cs"/>
              </a:rPr>
              <a:t>langues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réellement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utilisées</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notre</a:t>
            </a:r>
            <a:r>
              <a:rPr lang="en-US" sz="1200" kern="1200" dirty="0">
                <a:solidFill>
                  <a:schemeClr val="tx1"/>
                </a:solidFill>
                <a:effectLst/>
                <a:latin typeface="+mn-lt"/>
                <a:ea typeface="+mn-ea"/>
                <a:cs typeface="+mn-cs"/>
              </a:rPr>
              <a:t> population : </a:t>
            </a:r>
            <a:r>
              <a:rPr lang="en-US" sz="1200" kern="1200" dirty="0" err="1">
                <a:solidFill>
                  <a:schemeClr val="tx1"/>
                </a:solidFill>
                <a:effectLst/>
                <a:latin typeface="+mn-lt"/>
                <a:ea typeface="+mn-ea"/>
                <a:cs typeface="+mn-cs"/>
              </a:rPr>
              <a:t>l'arabe</a:t>
            </a:r>
            <a:r>
              <a:rPr lang="en-US" sz="1200" kern="1200" dirty="0">
                <a:solidFill>
                  <a:schemeClr val="tx1"/>
                </a:solidFill>
                <a:effectLst/>
                <a:latin typeface="+mn-lt"/>
                <a:ea typeface="+mn-ea"/>
                <a:cs typeface="+mn-cs"/>
              </a:rPr>
              <a:t> dialectal </a:t>
            </a:r>
            <a:r>
              <a:rPr lang="en-US" sz="1200" kern="1200" dirty="0" err="1">
                <a:solidFill>
                  <a:schemeClr val="tx1"/>
                </a:solidFill>
                <a:effectLst/>
                <a:latin typeface="+mn-lt"/>
                <a:ea typeface="+mn-ea"/>
                <a:cs typeface="+mn-cs"/>
              </a:rPr>
              <a:t>tunisien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l'arabe</a:t>
            </a:r>
            <a:r>
              <a:rPr lang="en-US" sz="1200" kern="1200" dirty="0">
                <a:solidFill>
                  <a:schemeClr val="tx1"/>
                </a:solidFill>
                <a:effectLst/>
                <a:latin typeface="+mn-lt"/>
                <a:ea typeface="+mn-ea"/>
                <a:cs typeface="+mn-cs"/>
              </a:rPr>
              <a:t> standard, le français, </a:t>
            </a:r>
            <a:r>
              <a:rPr lang="en-US" sz="1200" kern="1200" dirty="0" err="1">
                <a:solidFill>
                  <a:schemeClr val="tx1"/>
                </a:solidFill>
                <a:effectLst/>
                <a:latin typeface="+mn-lt"/>
                <a:ea typeface="+mn-ea"/>
                <a:cs typeface="+mn-cs"/>
              </a:rPr>
              <a:t>ainsi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l'anglais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l'italien</a:t>
            </a:r>
            <a:r>
              <a:rPr lang="en-US" sz="1200" kern="1200" dirty="0">
                <a:solidFill>
                  <a:schemeClr val="tx1"/>
                </a:solidFill>
                <a:effectLst/>
                <a:latin typeface="+mn-lt"/>
                <a:ea typeface="+mn-ea"/>
                <a:cs typeface="+mn-cs"/>
              </a:rPr>
              <a:t> pour les </a:t>
            </a:r>
            <a:r>
              <a:rPr lang="en-US" sz="1200" kern="1200" dirty="0" err="1">
                <a:solidFill>
                  <a:schemeClr val="tx1"/>
                </a:solidFill>
                <a:effectLst/>
                <a:latin typeface="+mn-lt"/>
                <a:ea typeface="+mn-ea"/>
                <a:cs typeface="+mn-cs"/>
              </a:rPr>
              <a:t>contenus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destinés</a:t>
            </a:r>
            <a:r>
              <a:rPr lang="en-US" sz="1200" kern="1200" dirty="0">
                <a:solidFill>
                  <a:schemeClr val="tx1"/>
                </a:solidFill>
                <a:effectLst/>
                <a:latin typeface="+mn-lt"/>
                <a:ea typeface="+mn-ea"/>
                <a:cs typeface="+mn-cs"/>
              </a:rPr>
              <a:t> à la diaspora. Je </a:t>
            </a:r>
            <a:r>
              <a:rPr lang="en-US" sz="1200" kern="1200" dirty="0" err="1">
                <a:solidFill>
                  <a:schemeClr val="tx1"/>
                </a:solidFill>
                <a:effectLst/>
                <a:latin typeface="+mn-lt"/>
                <a:ea typeface="+mn-ea"/>
                <a:cs typeface="+mn-cs"/>
              </a:rPr>
              <a:t>tiens</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souligner</a:t>
            </a:r>
            <a:r>
              <a:rPr lang="en-US" sz="1200" kern="1200" dirty="0">
                <a:solidFill>
                  <a:schemeClr val="tx1"/>
                </a:solidFill>
                <a:effectLst/>
                <a:latin typeface="+mn-lt"/>
                <a:ea typeface="+mn-ea"/>
                <a:cs typeface="+mn-cs"/>
              </a:rPr>
              <a:t> un point important pour vous, Monsieur le </a:t>
            </a:r>
            <a:r>
              <a:rPr lang="en-US" sz="1200" kern="1200" dirty="0" err="1">
                <a:solidFill>
                  <a:schemeClr val="tx1"/>
                </a:solidFill>
                <a:effectLst/>
                <a:latin typeface="+mn-lt"/>
                <a:ea typeface="+mn-ea"/>
                <a:cs typeface="+mn-cs"/>
              </a:rPr>
              <a:t>Ministre</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toutes</a:t>
            </a:r>
            <a:r>
              <a:rPr lang="en-US" sz="1200" kern="1200" dirty="0">
                <a:solidFill>
                  <a:schemeClr val="tx1"/>
                </a:solidFill>
                <a:effectLst/>
                <a:latin typeface="+mn-lt"/>
                <a:ea typeface="+mn-ea"/>
                <a:cs typeface="+mn-cs"/>
              </a:rPr>
              <a:t> les données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anonymisées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dès</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collecte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Aucun</a:t>
            </a:r>
            <a:r>
              <a:rPr lang="en-US" sz="1200" kern="1200" dirty="0">
                <a:solidFill>
                  <a:schemeClr val="tx1"/>
                </a:solidFill>
                <a:effectLst/>
                <a:latin typeface="+mn-lt"/>
                <a:ea typeface="+mn-ea"/>
                <a:cs typeface="+mn-cs"/>
              </a:rPr>
              <a:t> nom de compte </a:t>
            </a:r>
            <a:r>
              <a:rPr lang="en-US" sz="1200" kern="1200" dirty="0" err="1">
                <a:solidFill>
                  <a:schemeClr val="tx1"/>
                </a:solidFill>
                <a:effectLst/>
                <a:latin typeface="+mn-lt"/>
                <a:ea typeface="+mn-ea"/>
                <a:cs typeface="+mn-cs"/>
              </a:rPr>
              <a:t>ni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aucune</a:t>
            </a:r>
            <a:r>
              <a:rPr lang="en-US" sz="1200" kern="1200" dirty="0">
                <a:solidFill>
                  <a:schemeClr val="tx1"/>
                </a:solidFill>
                <a:effectLst/>
                <a:latin typeface="+mn-lt"/>
                <a:ea typeface="+mn-ea"/>
                <a:cs typeface="+mn-cs"/>
              </a:rPr>
              <a:t> information </a:t>
            </a:r>
            <a:r>
              <a:rPr lang="en-US" sz="1200" kern="1200" dirty="0" err="1">
                <a:solidFill>
                  <a:schemeClr val="tx1"/>
                </a:solidFill>
                <a:effectLst/>
                <a:latin typeface="+mn-lt"/>
                <a:ea typeface="+mn-ea"/>
                <a:cs typeface="+mn-cs"/>
              </a:rPr>
              <a:t>personnelle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n'est</a:t>
            </a:r>
            <a:r>
              <a:rPr lang="en-US" sz="1200" kern="1200" dirty="0">
                <a:solidFill>
                  <a:schemeClr val="tx1"/>
                </a:solidFill>
                <a:effectLst/>
                <a:latin typeface="+mn-lt"/>
                <a:ea typeface="+mn-ea"/>
                <a:cs typeface="+mn-cs"/>
              </a:rPr>
              <a:t> jamais </a:t>
            </a:r>
            <a:r>
              <a:rPr lang="en-US" sz="1200" kern="1200" dirty="0" err="1">
                <a:solidFill>
                  <a:schemeClr val="tx1"/>
                </a:solidFill>
                <a:effectLst/>
                <a:latin typeface="+mn-lt"/>
                <a:ea typeface="+mn-ea"/>
                <a:cs typeface="+mn-cs"/>
              </a:rPr>
              <a:t>conservé</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 </a:t>
            </a:r>
            <a:r>
              <a:rPr lang="en-US" sz="1200" kern="1200" dirty="0" err="1">
                <a:solidFill>
                  <a:schemeClr val="tx1"/>
                </a:solidFill>
                <a:effectLst/>
                <a:latin typeface="+mn-lt"/>
                <a:ea typeface="+mn-ea"/>
                <a:cs typeface="+mn-cs"/>
              </a:rPr>
              <a:t>coeur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analytique</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repose sur des </a:t>
            </a:r>
            <a:r>
              <a:rPr lang="en-US" sz="1200" kern="1200" dirty="0" err="1">
                <a:solidFill>
                  <a:schemeClr val="tx1"/>
                </a:solidFill>
                <a:effectLst/>
                <a:latin typeface="+mn-lt"/>
                <a:ea typeface="+mn-ea"/>
                <a:cs typeface="+mn-cs"/>
              </a:rPr>
              <a:t>modèles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d'intelligence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artificielle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entraînés</a:t>
            </a:r>
            <a:r>
              <a:rPr lang="en-US" sz="1200" kern="1200" dirty="0">
                <a:solidFill>
                  <a:schemeClr val="tx1"/>
                </a:solidFill>
                <a:effectLst/>
                <a:latin typeface="+mn-lt"/>
                <a:ea typeface="+mn-ea"/>
                <a:cs typeface="+mn-cs"/>
              </a:rPr>
              <a:t> sur des données </a:t>
            </a:r>
            <a:r>
              <a:rPr lang="en-US" sz="1200" kern="1200" dirty="0" err="1">
                <a:solidFill>
                  <a:schemeClr val="tx1"/>
                </a:solidFill>
                <a:effectLst/>
                <a:latin typeface="+mn-lt"/>
                <a:ea typeface="+mn-ea"/>
                <a:cs typeface="+mn-cs"/>
              </a:rPr>
              <a:t>tunisiennes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Ils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remplissent</a:t>
            </a:r>
            <a:r>
              <a:rPr lang="en-US" sz="1200" kern="1200" dirty="0">
                <a:solidFill>
                  <a:schemeClr val="tx1"/>
                </a:solidFill>
                <a:effectLst/>
                <a:latin typeface="+mn-lt"/>
                <a:ea typeface="+mn-ea"/>
                <a:cs typeface="+mn-cs"/>
              </a:rPr>
              <a:t> quatre </a:t>
            </a:r>
            <a:r>
              <a:rPr lang="en-US" sz="1200" kern="1200" dirty="0" err="1">
                <a:solidFill>
                  <a:schemeClr val="tx1"/>
                </a:solidFill>
                <a:effectLst/>
                <a:latin typeface="+mn-lt"/>
                <a:ea typeface="+mn-ea"/>
                <a:cs typeface="+mn-cs"/>
              </a:rPr>
              <a:t>fonctions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essentielles</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détecter</a:t>
            </a:r>
            <a:r>
              <a:rPr lang="en-US" sz="1200" kern="1200" dirty="0">
                <a:solidFill>
                  <a:schemeClr val="tx1"/>
                </a:solidFill>
                <a:effectLst/>
                <a:latin typeface="+mn-lt"/>
                <a:ea typeface="+mn-ea"/>
                <a:cs typeface="+mn-cs"/>
              </a:rPr>
              <a:t> et classer les </a:t>
            </a:r>
            <a:r>
              <a:rPr lang="en-US" sz="1200" kern="1200" dirty="0" err="1">
                <a:solidFill>
                  <a:schemeClr val="tx1"/>
                </a:solidFill>
                <a:effectLst/>
                <a:latin typeface="+mn-lt"/>
                <a:ea typeface="+mn-ea"/>
                <a:cs typeface="+mn-cs"/>
              </a:rPr>
              <a:t>contenus</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risque</a:t>
            </a:r>
            <a:r>
              <a:rPr lang="en-US" sz="1200" kern="1200" dirty="0">
                <a:solidFill>
                  <a:schemeClr val="tx1"/>
                </a:solidFill>
                <a:effectLst/>
                <a:latin typeface="+mn-lt"/>
                <a:ea typeface="+mn-ea"/>
                <a:cs typeface="+mn-cs"/>
              </a:rPr>
              <a:t>, fake news,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virales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discours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complotistes</a:t>
            </a:r>
            <a:r>
              <a:rPr lang="en-US" sz="1200" kern="1200" dirty="0">
                <a:solidFill>
                  <a:schemeClr val="tx1"/>
                </a:solidFill>
                <a:effectLst/>
                <a:latin typeface="+mn-lt"/>
                <a:ea typeface="+mn-ea"/>
                <a:cs typeface="+mn-cs"/>
              </a:rPr>
              <a:t>, faux </a:t>
            </a:r>
            <a:r>
              <a:rPr lang="en-US" sz="1200" kern="1200" dirty="0" err="1">
                <a:solidFill>
                  <a:schemeClr val="tx1"/>
                </a:solidFill>
                <a:effectLst/>
                <a:latin typeface="+mn-lt"/>
                <a:ea typeface="+mn-ea"/>
                <a:cs typeface="+mn-cs"/>
              </a:rPr>
              <a:t>remèdes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discours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antivaccin</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analyser</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émotions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dominantes</a:t>
            </a:r>
            <a:r>
              <a:rPr lang="en-US" sz="1200" kern="1200" dirty="0">
                <a:solidFill>
                  <a:schemeClr val="tx1"/>
                </a:solidFill>
                <a:effectLst/>
                <a:latin typeface="+mn-lt"/>
                <a:ea typeface="+mn-ea"/>
                <a:cs typeface="+mn-cs"/>
              </a:rPr>
              <a:t> dans les conversations, </a:t>
            </a:r>
            <a:r>
              <a:rPr lang="en-US" sz="1200" kern="1200" dirty="0" err="1">
                <a:solidFill>
                  <a:schemeClr val="tx1"/>
                </a:solidFill>
                <a:effectLst/>
                <a:latin typeface="+mn-lt"/>
                <a:ea typeface="+mn-ea"/>
                <a:cs typeface="+mn-cs"/>
              </a:rPr>
              <a:t>peur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colère</a:t>
            </a:r>
            <a:r>
              <a:rPr lang="en-US" sz="1200" kern="1200" dirty="0">
                <a:solidFill>
                  <a:schemeClr val="tx1"/>
                </a:solidFill>
                <a:effectLst/>
                <a:latin typeface="+mn-lt"/>
                <a:ea typeface="+mn-ea"/>
                <a:cs typeface="+mn-cs"/>
              </a:rPr>
              <a:t>, confusion, </a:t>
            </a:r>
            <a:r>
              <a:rPr lang="en-US" sz="1200" kern="1200" dirty="0" err="1">
                <a:solidFill>
                  <a:schemeClr val="tx1"/>
                </a:solidFill>
                <a:effectLst/>
                <a:latin typeface="+mn-lt"/>
                <a:ea typeface="+mn-ea"/>
                <a:cs typeface="+mn-cs"/>
              </a:rPr>
              <a:t>confiance</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regrouper</a:t>
            </a:r>
            <a:r>
              <a:rPr lang="en-US" sz="1200" kern="1200" dirty="0">
                <a:solidFill>
                  <a:schemeClr val="tx1"/>
                </a:solidFill>
                <a:effectLst/>
                <a:latin typeface="+mn-lt"/>
                <a:ea typeface="+mn-ea"/>
                <a:cs typeface="+mn-cs"/>
              </a:rPr>
              <a:t> les messages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grands </a:t>
            </a:r>
            <a:r>
              <a:rPr lang="en-US" sz="1200" kern="1200" dirty="0" err="1">
                <a:solidFill>
                  <a:schemeClr val="tx1"/>
                </a:solidFill>
                <a:effectLst/>
                <a:latin typeface="+mn-lt"/>
                <a:ea typeface="+mn-ea"/>
                <a:cs typeface="+mn-cs"/>
              </a:rPr>
              <a:t>récits</a:t>
            </a:r>
            <a:r>
              <a:rPr lang="en-US" sz="1200" kern="1200" dirty="0">
                <a:solidFill>
                  <a:schemeClr val="tx1"/>
                </a:solidFill>
                <a:effectLst/>
                <a:latin typeface="+mn-lt"/>
                <a:ea typeface="+mn-ea"/>
                <a:cs typeface="+mn-cs"/>
              </a:rPr>
              <a:t> pour identifier les </a:t>
            </a:r>
            <a:r>
              <a:rPr lang="en-US" sz="1200" kern="1200" dirty="0" err="1">
                <a:solidFill>
                  <a:schemeClr val="tx1"/>
                </a:solidFill>
                <a:effectLst/>
                <a:latin typeface="+mn-lt"/>
                <a:ea typeface="+mn-ea"/>
                <a:cs typeface="+mn-cs"/>
              </a:rPr>
              <a:t>signaux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faibles</a:t>
            </a:r>
            <a:r>
              <a:rPr lang="en-US" sz="1200" kern="1200" dirty="0">
                <a:solidFill>
                  <a:schemeClr val="tx1"/>
                </a:solidFill>
                <a:effectLst/>
                <a:latin typeface="+mn-lt"/>
                <a:ea typeface="+mn-ea"/>
                <a:cs typeface="+mn-cs"/>
              </a:rPr>
              <a:t> avant </a:t>
            </a:r>
            <a:r>
              <a:rPr lang="en-US" sz="1200" kern="1200" dirty="0" err="1">
                <a:solidFill>
                  <a:schemeClr val="tx1"/>
                </a:solidFill>
                <a:effectLst/>
                <a:latin typeface="+mn-lt"/>
                <a:ea typeface="+mn-ea"/>
                <a:cs typeface="+mn-cs"/>
              </a:rPr>
              <a:t>qu'ils</a:t>
            </a:r>
            <a:r>
              <a:rPr lang="en-US" sz="1200" kern="1200" dirty="0">
                <a:solidFill>
                  <a:schemeClr val="tx1"/>
                </a:solidFill>
                <a:effectLst/>
                <a:latin typeface="+mn-lt"/>
                <a:ea typeface="+mn-ea"/>
                <a:cs typeface="+mn-cs"/>
              </a:rPr>
              <a:t> ne </a:t>
            </a:r>
            <a:r>
              <a:rPr lang="en-US" sz="1200" kern="1200" dirty="0" err="1">
                <a:solidFill>
                  <a:schemeClr val="tx1"/>
                </a:solidFill>
                <a:effectLst/>
                <a:latin typeface="+mn-lt"/>
                <a:ea typeface="+mn-ea"/>
                <a:cs typeface="+mn-cs"/>
              </a:rPr>
              <a:t>deviennent</a:t>
            </a:r>
            <a:r>
              <a:rPr lang="en-US" sz="1200" kern="1200" dirty="0">
                <a:solidFill>
                  <a:schemeClr val="tx1"/>
                </a:solidFill>
                <a:effectLst/>
                <a:latin typeface="+mn-lt"/>
                <a:ea typeface="+mn-ea"/>
                <a:cs typeface="+mn-cs"/>
              </a:rPr>
              <a:t> massifs ; et </a:t>
            </a:r>
            <a:r>
              <a:rPr lang="en-US" sz="1200" kern="1200" dirty="0" err="1">
                <a:solidFill>
                  <a:schemeClr val="tx1"/>
                </a:solidFill>
                <a:effectLst/>
                <a:latin typeface="+mn-lt"/>
                <a:ea typeface="+mn-ea"/>
                <a:cs typeface="+mn-cs"/>
              </a:rPr>
              <a:t>enfin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cartographier</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acteurs</a:t>
            </a:r>
            <a:r>
              <a:rPr lang="en-US" sz="1200" kern="1200" dirty="0">
                <a:solidFill>
                  <a:schemeClr val="tx1"/>
                </a:solidFill>
                <a:effectLst/>
                <a:latin typeface="+mn-lt"/>
                <a:ea typeface="+mn-ea"/>
                <a:cs typeface="+mn-cs"/>
              </a:rPr>
              <a:t> et les </a:t>
            </a:r>
            <a:r>
              <a:rPr lang="en-US" sz="1200" kern="1200" dirty="0" err="1">
                <a:solidFill>
                  <a:schemeClr val="tx1"/>
                </a:solidFill>
                <a:effectLst/>
                <a:latin typeface="+mn-lt"/>
                <a:ea typeface="+mn-ea"/>
                <a:cs typeface="+mn-cs"/>
              </a:rPr>
              <a:t>relais</a:t>
            </a:r>
            <a:r>
              <a:rPr lang="en-US" sz="1200" kern="1200" dirty="0">
                <a:solidFill>
                  <a:schemeClr val="tx1"/>
                </a:solidFill>
                <a:effectLst/>
                <a:latin typeface="+mn-lt"/>
                <a:ea typeface="+mn-ea"/>
                <a:cs typeface="+mn-cs"/>
              </a:rPr>
              <a:t> les plus influents, pour savoir avec qui dialoguer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priorité</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Ces</a:t>
            </a:r>
            <a:r>
              <a:rPr lang="en-US" sz="1200" kern="1200" dirty="0">
                <a:solidFill>
                  <a:schemeClr val="tx1"/>
                </a:solidFill>
                <a:effectLst/>
                <a:latin typeface="+mn-lt"/>
                <a:ea typeface="+mn-ea"/>
                <a:cs typeface="+mn-cs"/>
              </a:rPr>
              <a:t> analyses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traduites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indicateurs</a:t>
            </a:r>
            <a:r>
              <a:rPr lang="en-US" sz="1200" kern="1200" dirty="0">
                <a:solidFill>
                  <a:schemeClr val="tx1"/>
                </a:solidFill>
                <a:effectLst/>
                <a:latin typeface="+mn-lt"/>
                <a:ea typeface="+mn-ea"/>
                <a:cs typeface="+mn-cs"/>
              </a:rPr>
              <a:t> simples et </a:t>
            </a:r>
            <a:r>
              <a:rPr lang="en-US" sz="1200" kern="1200" dirty="0" err="1">
                <a:solidFill>
                  <a:schemeClr val="tx1"/>
                </a:solidFill>
                <a:effectLst/>
                <a:latin typeface="+mn-lt"/>
                <a:ea typeface="+mn-ea"/>
                <a:cs typeface="+mn-cs"/>
              </a:rPr>
              <a:t>lisibles</a:t>
            </a:r>
            <a:r>
              <a:rPr lang="en-US" sz="1200" kern="1200" dirty="0">
                <a:solidFill>
                  <a:schemeClr val="tx1"/>
                </a:solidFill>
                <a:effectLst/>
                <a:latin typeface="+mn-lt"/>
                <a:ea typeface="+mn-ea"/>
                <a:cs typeface="+mn-cs"/>
              </a:rPr>
              <a:t> pour la </a:t>
            </a:r>
            <a:r>
              <a:rPr lang="en-US" sz="1200" kern="1200" dirty="0" err="1">
                <a:solidFill>
                  <a:schemeClr val="tx1"/>
                </a:solidFill>
                <a:effectLst/>
                <a:latin typeface="+mn-lt"/>
                <a:ea typeface="+mn-ea"/>
                <a:cs typeface="+mn-cs"/>
              </a:rPr>
              <a:t>décision</a:t>
            </a:r>
            <a:r>
              <a:rPr lang="en-US" sz="1200" kern="1200" dirty="0">
                <a:solidFill>
                  <a:schemeClr val="tx1"/>
                </a:solidFill>
                <a:effectLst/>
                <a:latin typeface="+mn-lt"/>
                <a:ea typeface="+mn-ea"/>
                <a:cs typeface="+mn-cs"/>
              </a:rPr>
              <a:t>. Le principal est </a:t>
            </a:r>
            <a:r>
              <a:rPr lang="en-US" sz="1200" kern="1200" dirty="0" err="1">
                <a:solidFill>
                  <a:schemeClr val="tx1"/>
                </a:solidFill>
                <a:effectLst/>
                <a:latin typeface="+mn-lt"/>
                <a:ea typeface="+mn-ea"/>
                <a:cs typeface="+mn-cs"/>
              </a:rPr>
              <a:t>l'indice</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température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infodémique</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résume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un coup </a:t>
            </a:r>
            <a:r>
              <a:rPr lang="en-US" sz="1200" kern="1200" dirty="0" err="1">
                <a:solidFill>
                  <a:schemeClr val="tx1"/>
                </a:solidFill>
                <a:effectLst/>
                <a:latin typeface="+mn-lt"/>
                <a:ea typeface="+mn-ea"/>
                <a:cs typeface="+mn-cs"/>
              </a:rPr>
              <a:t>d'oeil</a:t>
            </a:r>
            <a:r>
              <a:rPr lang="en-US" sz="1200" kern="1200" dirty="0">
                <a:solidFill>
                  <a:schemeClr val="tx1"/>
                </a:solidFill>
                <a:effectLst/>
                <a:latin typeface="+mn-lt"/>
                <a:ea typeface="+mn-ea"/>
                <a:cs typeface="+mn-cs"/>
              </a:rPr>
              <a:t> le volume de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l'intensité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émotionnelle</a:t>
            </a:r>
            <a:r>
              <a:rPr lang="en-US" sz="1200" kern="1200" dirty="0">
                <a:solidFill>
                  <a:schemeClr val="tx1"/>
                </a:solidFill>
                <a:effectLst/>
                <a:latin typeface="+mn-lt"/>
                <a:ea typeface="+mn-ea"/>
                <a:cs typeface="+mn-cs"/>
              </a:rPr>
              <a:t> et la </a:t>
            </a:r>
            <a:r>
              <a:rPr lang="en-US" sz="1200" kern="1200" dirty="0" err="1">
                <a:solidFill>
                  <a:schemeClr val="tx1"/>
                </a:solidFill>
                <a:effectLst/>
                <a:latin typeface="+mn-lt"/>
                <a:ea typeface="+mn-ea"/>
                <a:cs typeface="+mn-cs"/>
              </a:rPr>
              <a:t>vitesse</a:t>
            </a:r>
            <a:r>
              <a:rPr lang="en-US" sz="1200" kern="1200" dirty="0">
                <a:solidFill>
                  <a:schemeClr val="tx1"/>
                </a:solidFill>
                <a:effectLst/>
                <a:latin typeface="+mn-lt"/>
                <a:ea typeface="+mn-ea"/>
                <a:cs typeface="+mn-cs"/>
              </a:rPr>
              <a:t> de propagation d'un </a:t>
            </a:r>
            <a:r>
              <a:rPr lang="en-US" sz="1200" kern="1200" dirty="0" err="1">
                <a:solidFill>
                  <a:schemeClr val="tx1"/>
                </a:solidFill>
                <a:effectLst/>
                <a:latin typeface="+mn-lt"/>
                <a:ea typeface="+mn-ea"/>
                <a:cs typeface="+mn-cs"/>
              </a:rPr>
              <a:t>sujet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donné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décliné</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thème</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région</a:t>
            </a:r>
            <a:r>
              <a:rPr lang="en-US" sz="1200" kern="1200" dirty="0">
                <a:solidFill>
                  <a:schemeClr val="tx1"/>
                </a:solidFill>
                <a:effectLst/>
                <a:latin typeface="+mn-lt"/>
                <a:ea typeface="+mn-ea"/>
                <a:cs typeface="+mn-cs"/>
              </a:rPr>
              <a:t> et par </a:t>
            </a:r>
            <a:r>
              <a:rPr lang="en-US" sz="1200" kern="1200" dirty="0" err="1">
                <a:solidFill>
                  <a:schemeClr val="tx1"/>
                </a:solidFill>
                <a:effectLst/>
                <a:latin typeface="+mn-lt"/>
                <a:ea typeface="+mn-ea"/>
                <a:cs typeface="+mn-cs"/>
              </a:rPr>
              <a:t>période</a:t>
            </a:r>
            <a:r>
              <a:rPr lang="en-US" sz="1200" kern="1200" dirty="0">
                <a:solidFill>
                  <a:schemeClr val="tx1"/>
                </a:solidFill>
                <a:effectLst/>
                <a:latin typeface="+mn-lt"/>
                <a:ea typeface="+mn-ea"/>
                <a:cs typeface="+mn-cs"/>
              </a:rPr>
              <a:t>. Nous </a:t>
            </a:r>
            <a:r>
              <a:rPr lang="en-US" sz="1200" kern="1200" dirty="0" err="1">
                <a:solidFill>
                  <a:schemeClr val="tx1"/>
                </a:solidFill>
                <a:effectLst/>
                <a:latin typeface="+mn-lt"/>
                <a:ea typeface="+mn-ea"/>
                <a:cs typeface="+mn-cs"/>
              </a:rPr>
              <a:t>disposerons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également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d'indicateurs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comportementaux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comme</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niveau</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confiance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envers</a:t>
            </a:r>
            <a:r>
              <a:rPr lang="en-US" sz="1200" kern="1200" dirty="0">
                <a:solidFill>
                  <a:schemeClr val="tx1"/>
                </a:solidFill>
                <a:effectLst/>
                <a:latin typeface="+mn-lt"/>
                <a:ea typeface="+mn-ea"/>
                <a:cs typeface="+mn-cs"/>
              </a:rPr>
              <a:t> les institutions </a:t>
            </a:r>
            <a:r>
              <a:rPr lang="en-US" sz="1200" kern="1200" dirty="0" err="1">
                <a:solidFill>
                  <a:schemeClr val="tx1"/>
                </a:solidFill>
                <a:effectLst/>
                <a:latin typeface="+mn-lt"/>
                <a:ea typeface="+mn-ea"/>
                <a:cs typeface="+mn-cs"/>
              </a:rPr>
              <a:t>ou</a:t>
            </a:r>
            <a:r>
              <a:rPr lang="en-US" sz="1200" kern="1200" dirty="0">
                <a:solidFill>
                  <a:schemeClr val="tx1"/>
                </a:solidFill>
                <a:effectLst/>
                <a:latin typeface="+mn-lt"/>
                <a:ea typeface="+mn-ea"/>
                <a:cs typeface="+mn-cs"/>
              </a:rPr>
              <a:t> les intentions de vaccination, </a:t>
            </a:r>
            <a:r>
              <a:rPr lang="en-US" sz="1200" kern="1200" dirty="0" err="1">
                <a:solidFill>
                  <a:schemeClr val="tx1"/>
                </a:solidFill>
                <a:effectLst/>
                <a:latin typeface="+mn-lt"/>
                <a:ea typeface="+mn-ea"/>
                <a:cs typeface="+mn-cs"/>
              </a:rPr>
              <a:t>ainsi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mesure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d'impact</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campagnes</a:t>
            </a:r>
            <a:r>
              <a:rPr lang="en-US" sz="1200" kern="1200" dirty="0">
                <a:solidFill>
                  <a:schemeClr val="tx1"/>
                </a:solidFill>
                <a:effectLst/>
                <a:latin typeface="+mn-lt"/>
                <a:ea typeface="+mn-ea"/>
                <a:cs typeface="+mn-cs"/>
              </a:rPr>
              <a:t> de communication,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comparant</a:t>
            </a:r>
            <a:r>
              <a:rPr lang="en-US" sz="1200" kern="1200" dirty="0">
                <a:solidFill>
                  <a:schemeClr val="tx1"/>
                </a:solidFill>
                <a:effectLst/>
                <a:latin typeface="+mn-lt"/>
                <a:ea typeface="+mn-ea"/>
                <a:cs typeface="+mn-cs"/>
              </a:rPr>
              <a:t> la situation avant et après </a:t>
            </a:r>
            <a:r>
              <a:rPr lang="en-US" sz="1200" kern="1200" dirty="0" err="1">
                <a:solidFill>
                  <a:schemeClr val="tx1"/>
                </a:solidFill>
                <a:effectLst/>
                <a:latin typeface="+mn-lt"/>
                <a:ea typeface="+mn-ea"/>
                <a:cs typeface="+mn-cs"/>
              </a:rPr>
              <a:t>chaque</a:t>
            </a:r>
            <a:r>
              <a:rPr lang="en-US" sz="1200" kern="1200" dirty="0">
                <a:solidFill>
                  <a:schemeClr val="tx1"/>
                </a:solidFill>
                <a:effectLst/>
                <a:latin typeface="+mn-lt"/>
                <a:ea typeface="+mn-ea"/>
                <a:cs typeface="+mn-cs"/>
              </a:rPr>
              <a:t> intervention. Des rapports </a:t>
            </a:r>
            <a:r>
              <a:rPr lang="en-US" sz="1200" kern="1200" dirty="0" err="1">
                <a:solidFill>
                  <a:schemeClr val="tx1"/>
                </a:solidFill>
                <a:effectLst/>
                <a:latin typeface="+mn-lt"/>
                <a:ea typeface="+mn-ea"/>
                <a:cs typeface="+mn-cs"/>
              </a:rPr>
              <a:t>automatiques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quotidiens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période</a:t>
            </a:r>
            <a:r>
              <a:rPr lang="en-US" sz="1200" kern="1200" dirty="0">
                <a:solidFill>
                  <a:schemeClr val="tx1"/>
                </a:solidFill>
                <a:effectLst/>
                <a:latin typeface="+mn-lt"/>
                <a:ea typeface="+mn-ea"/>
                <a:cs typeface="+mn-cs"/>
              </a:rPr>
              <a:t> de crise, </a:t>
            </a:r>
            <a:r>
              <a:rPr lang="en-US" sz="1200" kern="1200" dirty="0" err="1">
                <a:solidFill>
                  <a:schemeClr val="tx1"/>
                </a:solidFill>
                <a:effectLst/>
                <a:latin typeface="+mn-lt"/>
                <a:ea typeface="+mn-ea"/>
                <a:cs typeface="+mn-cs"/>
              </a:rPr>
              <a:t>hebdomadaires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mensuels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viendront</a:t>
            </a:r>
            <a:r>
              <a:rPr lang="en-US" sz="1200" kern="1200" dirty="0">
                <a:solidFill>
                  <a:schemeClr val="tx1"/>
                </a:solidFill>
                <a:effectLst/>
                <a:latin typeface="+mn-lt"/>
                <a:ea typeface="+mn-ea"/>
                <a:cs typeface="+mn-cs"/>
              </a:rPr>
              <a:t> alimenter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réunions</a:t>
            </a:r>
            <a:r>
              <a:rPr lang="en-US" sz="1200" kern="1200" dirty="0">
                <a:solidFill>
                  <a:schemeClr val="tx1"/>
                </a:solidFill>
                <a:effectLst/>
                <a:latin typeface="+mn-lt"/>
                <a:ea typeface="+mn-ea"/>
                <a:cs typeface="+mn-cs"/>
              </a:rPr>
              <a:t> de pilotage.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Lorsqu'un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narratif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dangereux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prend</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l'ampleur</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système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d'alerte</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déclenche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automatiquement</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exemple</a:t>
            </a:r>
            <a:r>
              <a:rPr lang="en-US" sz="1200" kern="1200" dirty="0">
                <a:solidFill>
                  <a:schemeClr val="tx1"/>
                </a:solidFill>
                <a:effectLst/>
                <a:latin typeface="+mn-lt"/>
                <a:ea typeface="+mn-ea"/>
                <a:cs typeface="+mn-cs"/>
              </a:rPr>
              <a:t> un faux </a:t>
            </a:r>
            <a:r>
              <a:rPr lang="en-US" sz="1200" kern="1200" dirty="0" err="1">
                <a:solidFill>
                  <a:schemeClr val="tx1"/>
                </a:solidFill>
                <a:effectLst/>
                <a:latin typeface="+mn-lt"/>
                <a:ea typeface="+mn-ea"/>
                <a:cs typeface="+mn-cs"/>
              </a:rPr>
              <a:t>remède</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devient</a:t>
            </a:r>
            <a:r>
              <a:rPr lang="en-US" sz="1200" kern="1200" dirty="0">
                <a:solidFill>
                  <a:schemeClr val="tx1"/>
                </a:solidFill>
                <a:effectLst/>
                <a:latin typeface="+mn-lt"/>
                <a:ea typeface="+mn-ea"/>
                <a:cs typeface="+mn-cs"/>
              </a:rPr>
              <a:t> viral, </a:t>
            </a:r>
            <a:r>
              <a:rPr lang="en-US" sz="1200" kern="1200" dirty="0" err="1">
                <a:solidFill>
                  <a:schemeClr val="tx1"/>
                </a:solidFill>
                <a:effectLst/>
                <a:latin typeface="+mn-lt"/>
                <a:ea typeface="+mn-ea"/>
                <a:cs typeface="+mn-cs"/>
              </a:rPr>
              <a:t>ou</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attaques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répétées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structure de santé. </a:t>
            </a:r>
            <a:r>
              <a:rPr lang="en-US" sz="1200" kern="1200" dirty="0" err="1">
                <a:solidFill>
                  <a:schemeClr val="tx1"/>
                </a:solidFill>
                <a:effectLst/>
                <a:latin typeface="+mn-lt"/>
                <a:ea typeface="+mn-ea"/>
                <a:cs typeface="+mn-cs"/>
              </a:rPr>
              <a:t>Chaque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alerte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transmise</a:t>
            </a:r>
            <a:r>
              <a:rPr lang="en-US" sz="1200" kern="1200" dirty="0">
                <a:solidFill>
                  <a:schemeClr val="tx1"/>
                </a:solidFill>
                <a:effectLst/>
                <a:latin typeface="+mn-lt"/>
                <a:ea typeface="+mn-ea"/>
                <a:cs typeface="+mn-cs"/>
              </a:rPr>
              <a:t> aux équipes </a:t>
            </a:r>
            <a:r>
              <a:rPr lang="en-US" sz="1200" kern="1200" dirty="0" err="1">
                <a:solidFill>
                  <a:schemeClr val="tx1"/>
                </a:solidFill>
                <a:effectLst/>
                <a:latin typeface="+mn-lt"/>
                <a:ea typeface="+mn-ea"/>
                <a:cs typeface="+mn-cs"/>
              </a:rPr>
              <a:t>habilitées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contient</a:t>
            </a:r>
            <a:r>
              <a:rPr lang="en-US" sz="1200" kern="1200" dirty="0">
                <a:solidFill>
                  <a:schemeClr val="tx1"/>
                </a:solidFill>
                <a:effectLst/>
                <a:latin typeface="+mn-lt"/>
                <a:ea typeface="+mn-ea"/>
                <a:cs typeface="+mn-cs"/>
              </a:rPr>
              <a:t> un résumé </a:t>
            </a:r>
            <a:r>
              <a:rPr lang="en-US" sz="1200" kern="1200" dirty="0" err="1">
                <a:solidFill>
                  <a:schemeClr val="tx1"/>
                </a:solidFill>
                <a:effectLst/>
                <a:latin typeface="+mn-lt"/>
                <a:ea typeface="+mn-ea"/>
                <a:cs typeface="+mn-cs"/>
              </a:rPr>
              <a:t>clair</a:t>
            </a:r>
            <a:r>
              <a:rPr lang="en-US" sz="1200" kern="1200" dirty="0">
                <a:solidFill>
                  <a:schemeClr val="tx1"/>
                </a:solidFill>
                <a:effectLst/>
                <a:latin typeface="+mn-lt"/>
                <a:ea typeface="+mn-ea"/>
                <a:cs typeface="+mn-cs"/>
              </a:rPr>
              <a:t> du signal,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analyse</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émotions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dominantes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estimation des </a:t>
            </a:r>
            <a:r>
              <a:rPr lang="en-US" sz="1200" kern="1200" dirty="0" err="1">
                <a:solidFill>
                  <a:schemeClr val="tx1"/>
                </a:solidFill>
                <a:effectLst/>
                <a:latin typeface="+mn-lt"/>
                <a:ea typeface="+mn-ea"/>
                <a:cs typeface="+mn-cs"/>
              </a:rPr>
              <a:t>risques</a:t>
            </a:r>
            <a:r>
              <a:rPr lang="en-US" sz="1200" kern="1200" dirty="0">
                <a:solidFill>
                  <a:schemeClr val="tx1"/>
                </a:solidFill>
                <a:effectLst/>
                <a:latin typeface="+mn-lt"/>
                <a:ea typeface="+mn-ea"/>
                <a:cs typeface="+mn-cs"/>
              </a:rPr>
              <a:t> et des </a:t>
            </a:r>
            <a:r>
              <a:rPr lang="en-US" sz="1200" kern="1200" dirty="0" err="1">
                <a:solidFill>
                  <a:schemeClr val="tx1"/>
                </a:solidFill>
                <a:effectLst/>
                <a:latin typeface="+mn-lt"/>
                <a:ea typeface="+mn-ea"/>
                <a:cs typeface="+mn-cs"/>
              </a:rPr>
              <a:t>recommandations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opérationnelles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concrètes</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propose </a:t>
            </a:r>
            <a:r>
              <a:rPr lang="en-US" sz="1200" kern="1200" dirty="0" err="1">
                <a:solidFill>
                  <a:schemeClr val="tx1"/>
                </a:solidFill>
                <a:effectLst/>
                <a:latin typeface="+mn-lt"/>
                <a:ea typeface="+mn-ea"/>
                <a:cs typeface="+mn-cs"/>
              </a:rPr>
              <a:t>même</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brouillons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réponse</a:t>
            </a:r>
            <a:r>
              <a:rPr lang="en-US" sz="1200" kern="1200" dirty="0">
                <a:solidFill>
                  <a:schemeClr val="tx1"/>
                </a:solidFill>
                <a:effectLst/>
                <a:latin typeface="+mn-lt"/>
                <a:ea typeface="+mn-ea"/>
                <a:cs typeface="+mn-cs"/>
              </a:rPr>
              <a:t>, posts </a:t>
            </a:r>
            <a:r>
              <a:rPr lang="en-US" sz="1200" kern="1200" dirty="0" err="1">
                <a:solidFill>
                  <a:schemeClr val="tx1"/>
                </a:solidFill>
                <a:effectLst/>
                <a:latin typeface="+mn-lt"/>
                <a:ea typeface="+mn-ea"/>
                <a:cs typeface="+mn-cs"/>
              </a:rPr>
              <a:t>correctifs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éléments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langage</a:t>
            </a:r>
            <a:r>
              <a:rPr lang="en-US" sz="1200" kern="1200" dirty="0">
                <a:solidFill>
                  <a:schemeClr val="tx1"/>
                </a:solidFill>
                <a:effectLst/>
                <a:latin typeface="+mn-lt"/>
                <a:ea typeface="+mn-ea"/>
                <a:cs typeface="+mn-cs"/>
              </a:rPr>
              <a:t>, FAQ, </a:t>
            </a:r>
            <a:r>
              <a:rPr lang="en-US" sz="1200" kern="1200" dirty="0" err="1">
                <a:solidFill>
                  <a:schemeClr val="tx1"/>
                </a:solidFill>
                <a:effectLst/>
                <a:latin typeface="+mn-lt"/>
                <a:ea typeface="+mn-ea"/>
                <a:cs typeface="+mn-cs"/>
              </a:rPr>
              <a:t>mais</a:t>
            </a:r>
            <a:r>
              <a:rPr lang="en-US" sz="1200" kern="1200" dirty="0">
                <a:solidFill>
                  <a:schemeClr val="tx1"/>
                </a:solidFill>
                <a:effectLst/>
                <a:latin typeface="+mn-lt"/>
                <a:ea typeface="+mn-ea"/>
                <a:cs typeface="+mn-cs"/>
              </a:rPr>
              <a:t> je </a:t>
            </a:r>
            <a:r>
              <a:rPr lang="en-US" sz="1200" kern="1200" dirty="0" err="1">
                <a:solidFill>
                  <a:schemeClr val="tx1"/>
                </a:solidFill>
                <a:effectLst/>
                <a:latin typeface="+mn-lt"/>
                <a:ea typeface="+mn-ea"/>
                <a:cs typeface="+mn-cs"/>
              </a:rPr>
              <a:t>tiens</a:t>
            </a:r>
            <a:r>
              <a:rPr lang="en-US" sz="1200" kern="1200" dirty="0">
                <a:solidFill>
                  <a:schemeClr val="tx1"/>
                </a:solidFill>
                <a:effectLst/>
                <a:latin typeface="+mn-lt"/>
                <a:ea typeface="+mn-ea"/>
                <a:cs typeface="+mn-cs"/>
              </a:rPr>
              <a:t> à insister sur </a:t>
            </a:r>
            <a:r>
              <a:rPr lang="en-US" sz="1200" kern="1200" dirty="0" err="1">
                <a:solidFill>
                  <a:schemeClr val="tx1"/>
                </a:solidFill>
                <a:effectLst/>
                <a:latin typeface="+mn-lt"/>
                <a:ea typeface="+mn-ea"/>
                <a:cs typeface="+mn-cs"/>
              </a:rPr>
              <a:t>ce</a:t>
            </a:r>
            <a:r>
              <a:rPr lang="en-US" sz="1200" kern="1200" dirty="0">
                <a:solidFill>
                  <a:schemeClr val="tx1"/>
                </a:solidFill>
                <a:effectLst/>
                <a:latin typeface="+mn-lt"/>
                <a:ea typeface="+mn-ea"/>
                <a:cs typeface="+mn-cs"/>
              </a:rPr>
              <a:t> point : </a:t>
            </a:r>
            <a:r>
              <a:rPr lang="en-US" sz="1200" kern="1200" dirty="0" err="1">
                <a:solidFill>
                  <a:schemeClr val="tx1"/>
                </a:solidFill>
                <a:effectLst/>
                <a:latin typeface="+mn-lt"/>
                <a:ea typeface="+mn-ea"/>
                <a:cs typeface="+mn-cs"/>
              </a:rPr>
              <a:t>toutes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ces</a:t>
            </a:r>
            <a:r>
              <a:rPr lang="en-US" sz="1200" kern="1200" dirty="0">
                <a:solidFill>
                  <a:schemeClr val="tx1"/>
                </a:solidFill>
                <a:effectLst/>
                <a:latin typeface="+mn-lt"/>
                <a:ea typeface="+mn-ea"/>
                <a:cs typeface="+mn-cs"/>
              </a:rPr>
              <a:t> propositions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systématiquement</a:t>
            </a:r>
            <a:r>
              <a:rPr lang="en-US" sz="1200" kern="1200" dirty="0">
                <a:solidFill>
                  <a:schemeClr val="tx1"/>
                </a:solidFill>
                <a:effectLst/>
                <a:latin typeface="+mn-lt"/>
                <a:ea typeface="+mn-ea"/>
                <a:cs typeface="+mn-cs"/>
              </a:rPr>
              <a:t> revues et </a:t>
            </a:r>
            <a:r>
              <a:rPr lang="en-US" sz="1200" kern="1200" dirty="0" err="1">
                <a:solidFill>
                  <a:schemeClr val="tx1"/>
                </a:solidFill>
                <a:effectLst/>
                <a:latin typeface="+mn-lt"/>
                <a:ea typeface="+mn-ea"/>
                <a:cs typeface="+mn-cs"/>
              </a:rPr>
              <a:t>validées</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experts et par le Ministère avant toute diffusion.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Sur le plan de la </a:t>
            </a:r>
            <a:r>
              <a:rPr lang="en-US" sz="1200" kern="1200" dirty="0" err="1">
                <a:solidFill>
                  <a:schemeClr val="tx1"/>
                </a:solidFill>
                <a:effectLst/>
                <a:latin typeface="+mn-lt"/>
                <a:ea typeface="+mn-ea"/>
                <a:cs typeface="+mn-cs"/>
              </a:rPr>
              <a:t>gouvernance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est </a:t>
            </a:r>
            <a:r>
              <a:rPr lang="en-US" sz="1200" kern="1200" dirty="0" err="1">
                <a:solidFill>
                  <a:schemeClr val="tx1"/>
                </a:solidFill>
                <a:effectLst/>
                <a:latin typeface="+mn-lt"/>
                <a:ea typeface="+mn-ea"/>
                <a:cs typeface="+mn-cs"/>
              </a:rPr>
              <a:t>conçue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comme</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outil</a:t>
            </a:r>
            <a:r>
              <a:rPr lang="en-US" sz="1200" kern="1200" dirty="0">
                <a:solidFill>
                  <a:schemeClr val="tx1"/>
                </a:solidFill>
                <a:effectLst/>
                <a:latin typeface="+mn-lt"/>
                <a:ea typeface="+mn-ea"/>
                <a:cs typeface="+mn-cs"/>
              </a:rPr>
              <a:t> multi-institutions, avec des </a:t>
            </a:r>
            <a:r>
              <a:rPr lang="en-US" sz="1200" kern="1200" dirty="0" err="1">
                <a:solidFill>
                  <a:schemeClr val="tx1"/>
                </a:solidFill>
                <a:effectLst/>
                <a:latin typeface="+mn-lt"/>
                <a:ea typeface="+mn-ea"/>
                <a:cs typeface="+mn-cs"/>
              </a:rPr>
              <a:t>profils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d'accès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différenciés</a:t>
            </a:r>
            <a:r>
              <a:rPr lang="en-US" sz="1200" kern="1200" dirty="0">
                <a:solidFill>
                  <a:schemeClr val="tx1"/>
                </a:solidFill>
                <a:effectLst/>
                <a:latin typeface="+mn-lt"/>
                <a:ea typeface="+mn-ea"/>
                <a:cs typeface="+mn-cs"/>
              </a:rPr>
              <a:t> : un </a:t>
            </a:r>
            <a:r>
              <a:rPr lang="en-US" sz="1200" kern="1200" dirty="0" err="1">
                <a:solidFill>
                  <a:schemeClr val="tx1"/>
                </a:solidFill>
                <a:effectLst/>
                <a:latin typeface="+mn-lt"/>
                <a:ea typeface="+mn-ea"/>
                <a:cs typeface="+mn-cs"/>
              </a:rPr>
              <a:t>accès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complet</a:t>
            </a:r>
            <a:r>
              <a:rPr lang="en-US" sz="1200" kern="1200" dirty="0">
                <a:solidFill>
                  <a:schemeClr val="tx1"/>
                </a:solidFill>
                <a:effectLst/>
                <a:latin typeface="+mn-lt"/>
                <a:ea typeface="+mn-ea"/>
                <a:cs typeface="+mn-cs"/>
              </a:rPr>
              <a:t> pour </a:t>
            </a:r>
            <a:r>
              <a:rPr lang="en-US" sz="1200" kern="1200" dirty="0" err="1">
                <a:solidFill>
                  <a:schemeClr val="tx1"/>
                </a:solidFill>
                <a:effectLst/>
                <a:latin typeface="+mn-lt"/>
                <a:ea typeface="+mn-ea"/>
                <a:cs typeface="+mn-cs"/>
              </a:rPr>
              <a:t>l’administrateur</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décisionnelle</a:t>
            </a:r>
            <a:r>
              <a:rPr lang="en-US" sz="1200" kern="1200" dirty="0">
                <a:solidFill>
                  <a:schemeClr val="tx1"/>
                </a:solidFill>
                <a:effectLst/>
                <a:latin typeface="+mn-lt"/>
                <a:ea typeface="+mn-ea"/>
                <a:cs typeface="+mn-cs"/>
              </a:rPr>
              <a:t> pour le Ministère, et des </a:t>
            </a:r>
            <a:r>
              <a:rPr lang="en-US" sz="1200" kern="1200" dirty="0" err="1">
                <a:solidFill>
                  <a:schemeClr val="tx1"/>
                </a:solidFill>
                <a:effectLst/>
                <a:latin typeface="+mn-lt"/>
                <a:ea typeface="+mn-ea"/>
                <a:cs typeface="+mn-cs"/>
              </a:rPr>
              <a:t>accès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thématiques</a:t>
            </a:r>
            <a:r>
              <a:rPr lang="en-US" sz="1200" kern="1200" dirty="0">
                <a:solidFill>
                  <a:schemeClr val="tx1"/>
                </a:solidFill>
                <a:effectLst/>
                <a:latin typeface="+mn-lt"/>
                <a:ea typeface="+mn-ea"/>
                <a:cs typeface="+mn-cs"/>
              </a:rPr>
              <a:t> pour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autres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partenaires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Concernant</a:t>
            </a:r>
            <a:r>
              <a:rPr lang="en-US" sz="1200" kern="1200" dirty="0">
                <a:solidFill>
                  <a:schemeClr val="tx1"/>
                </a:solidFill>
                <a:effectLst/>
                <a:latin typeface="+mn-lt"/>
                <a:ea typeface="+mn-ea"/>
                <a:cs typeface="+mn-cs"/>
              </a:rPr>
              <a:t> la protection des données, </a:t>
            </a:r>
            <a:r>
              <a:rPr lang="en-US" sz="1200" kern="1200" dirty="0" err="1">
                <a:solidFill>
                  <a:schemeClr val="tx1"/>
                </a:solidFill>
                <a:effectLst/>
                <a:latin typeface="+mn-lt"/>
                <a:ea typeface="+mn-ea"/>
                <a:cs typeface="+mn-cs"/>
              </a:rPr>
              <a:t>conformément</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exigences </a:t>
            </a:r>
            <a:r>
              <a:rPr lang="en-US" sz="1200" kern="1200" dirty="0" err="1">
                <a:solidFill>
                  <a:schemeClr val="tx1"/>
                </a:solidFill>
                <a:effectLst/>
                <a:latin typeface="+mn-lt"/>
                <a:ea typeface="+mn-ea"/>
                <a:cs typeface="+mn-cs"/>
              </a:rPr>
              <a:t>nationales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toutes</a:t>
            </a:r>
            <a:r>
              <a:rPr lang="en-US" sz="1200" kern="1200" dirty="0">
                <a:solidFill>
                  <a:schemeClr val="tx1"/>
                </a:solidFill>
                <a:effectLst/>
                <a:latin typeface="+mn-lt"/>
                <a:ea typeface="+mn-ea"/>
                <a:cs typeface="+mn-cs"/>
              </a:rPr>
              <a:t> les données </a:t>
            </a:r>
            <a:r>
              <a:rPr lang="en-US" sz="1200" kern="1200" dirty="0" err="1">
                <a:solidFill>
                  <a:schemeClr val="tx1"/>
                </a:solidFill>
                <a:effectLst/>
                <a:latin typeface="+mn-lt"/>
                <a:ea typeface="+mn-ea"/>
                <a:cs typeface="+mn-cs"/>
              </a:rPr>
              <a:t>seront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hébergées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Tunisie, dans un </a:t>
            </a:r>
            <a:r>
              <a:rPr lang="en-US" sz="1200" kern="1200" dirty="0" err="1">
                <a:solidFill>
                  <a:schemeClr val="tx1"/>
                </a:solidFill>
                <a:effectLst/>
                <a:latin typeface="+mn-lt"/>
                <a:ea typeface="+mn-ea"/>
                <a:cs typeface="+mn-cs"/>
              </a:rPr>
              <a:t>centre</a:t>
            </a:r>
            <a:r>
              <a:rPr lang="en-US" sz="1200" kern="1200" dirty="0">
                <a:solidFill>
                  <a:schemeClr val="tx1"/>
                </a:solidFill>
                <a:effectLst/>
                <a:latin typeface="+mn-lt"/>
                <a:ea typeface="+mn-ea"/>
                <a:cs typeface="+mn-cs"/>
              </a:rPr>
              <a:t> de données </a:t>
            </a:r>
            <a:r>
              <a:rPr lang="en-US" sz="1200" kern="1200" dirty="0" err="1">
                <a:solidFill>
                  <a:schemeClr val="tx1"/>
                </a:solidFill>
                <a:effectLst/>
                <a:latin typeface="+mn-lt"/>
                <a:ea typeface="+mn-ea"/>
                <a:cs typeface="+mn-cs"/>
              </a:rPr>
              <a:t>agréé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chiffrées</a:t>
            </a:r>
            <a:r>
              <a:rPr lang="en-US" sz="1200" kern="1200" dirty="0">
                <a:solidFill>
                  <a:schemeClr val="tx1"/>
                </a:solidFill>
                <a:effectLst/>
                <a:latin typeface="+mn-lt"/>
                <a:ea typeface="+mn-ea"/>
                <a:cs typeface="+mn-cs"/>
              </a:rPr>
              <a:t> au repos et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transit, </a:t>
            </a:r>
            <a:r>
              <a:rPr lang="en-US" sz="1200" kern="1200" dirty="0" err="1">
                <a:solidFill>
                  <a:schemeClr val="tx1"/>
                </a:solidFill>
                <a:effectLst/>
                <a:latin typeface="+mn-lt"/>
                <a:ea typeface="+mn-ea"/>
                <a:cs typeface="+mn-cs"/>
              </a:rPr>
              <a:t>systématiquement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anonymisées</a:t>
            </a:r>
            <a:r>
              <a:rPr lang="en-US" sz="1200" kern="1200" dirty="0">
                <a:solidFill>
                  <a:schemeClr val="tx1"/>
                </a:solidFill>
                <a:effectLst/>
                <a:latin typeface="+mn-lt"/>
                <a:ea typeface="+mn-ea"/>
                <a:cs typeface="+mn-cs"/>
              </a:rPr>
              <a:t>, avec des </a:t>
            </a:r>
            <a:r>
              <a:rPr lang="en-US" sz="1200" kern="1200" dirty="0" err="1">
                <a:solidFill>
                  <a:schemeClr val="tx1"/>
                </a:solidFill>
                <a:effectLst/>
                <a:latin typeface="+mn-lt"/>
                <a:ea typeface="+mn-ea"/>
                <a:cs typeface="+mn-cs"/>
              </a:rPr>
              <a:t>mécanismes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d'audit</a:t>
            </a:r>
            <a:r>
              <a:rPr lang="en-US" sz="1200" kern="1200" dirty="0">
                <a:solidFill>
                  <a:schemeClr val="tx1"/>
                </a:solidFill>
                <a:effectLst/>
                <a:latin typeface="+mn-lt"/>
                <a:ea typeface="+mn-ea"/>
                <a:cs typeface="+mn-cs"/>
              </a:rPr>
              <a:t> qui </a:t>
            </a:r>
            <a:r>
              <a:rPr lang="en-US" sz="1200" kern="1200" dirty="0" err="1">
                <a:solidFill>
                  <a:schemeClr val="tx1"/>
                </a:solidFill>
                <a:effectLst/>
                <a:latin typeface="+mn-lt"/>
                <a:ea typeface="+mn-ea"/>
                <a:cs typeface="+mn-cs"/>
              </a:rPr>
              <a:t>garantissent</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traçabilité</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accès</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Nous </a:t>
            </a:r>
            <a:r>
              <a:rPr lang="en-US" sz="1200" kern="1200" dirty="0" err="1">
                <a:solidFill>
                  <a:schemeClr val="tx1"/>
                </a:solidFill>
                <a:effectLst/>
                <a:latin typeface="+mn-lt"/>
                <a:ea typeface="+mn-ea"/>
                <a:cs typeface="+mn-cs"/>
              </a:rPr>
              <a:t>proposons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mise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oeuvre progressive, sur environ </a:t>
            </a:r>
            <a:r>
              <a:rPr lang="en-US" sz="1200" kern="1200" dirty="0" err="1">
                <a:solidFill>
                  <a:schemeClr val="tx1"/>
                </a:solidFill>
                <a:effectLst/>
                <a:latin typeface="+mn-lt"/>
                <a:ea typeface="+mn-ea"/>
                <a:cs typeface="+mn-cs"/>
              </a:rPr>
              <a:t>douze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mois</a:t>
            </a:r>
            <a:r>
              <a:rPr lang="en-US" sz="1200" kern="1200" dirty="0">
                <a:solidFill>
                  <a:schemeClr val="tx1"/>
                </a:solidFill>
                <a:effectLst/>
                <a:latin typeface="+mn-lt"/>
                <a:ea typeface="+mn-ea"/>
                <a:cs typeface="+mn-cs"/>
              </a:rPr>
              <a:t>, sous la </a:t>
            </a:r>
            <a:r>
              <a:rPr lang="en-US" sz="1200" kern="1200" dirty="0" err="1">
                <a:solidFill>
                  <a:schemeClr val="tx1"/>
                </a:solidFill>
                <a:effectLst/>
                <a:latin typeface="+mn-lt"/>
                <a:ea typeface="+mn-ea"/>
                <a:cs typeface="+mn-cs"/>
              </a:rPr>
              <a:t>forme</a:t>
            </a:r>
            <a:r>
              <a:rPr lang="en-US" sz="1200" kern="1200" dirty="0">
                <a:solidFill>
                  <a:schemeClr val="tx1"/>
                </a:solidFill>
                <a:effectLst/>
                <a:latin typeface="+mn-lt"/>
                <a:ea typeface="+mn-ea"/>
                <a:cs typeface="+mn-cs"/>
              </a:rPr>
              <a:t> d'un </a:t>
            </a:r>
            <a:r>
              <a:rPr lang="en-US" sz="1200" kern="1200" dirty="0" err="1">
                <a:solidFill>
                  <a:schemeClr val="tx1"/>
                </a:solidFill>
                <a:effectLst/>
                <a:latin typeface="+mn-lt"/>
                <a:ea typeface="+mn-ea"/>
                <a:cs typeface="+mn-cs"/>
              </a:rPr>
              <a:t>pilote</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portée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nationale</a:t>
            </a:r>
            <a:r>
              <a:rPr lang="en-US" sz="1200" kern="1200" dirty="0">
                <a:solidFill>
                  <a:schemeClr val="tx1"/>
                </a:solidFill>
                <a:effectLst/>
                <a:latin typeface="+mn-lt"/>
                <a:ea typeface="+mn-ea"/>
                <a:cs typeface="+mn-cs"/>
              </a:rPr>
              <a:t>. La première phase, de deux à trois </a:t>
            </a:r>
            <a:r>
              <a:rPr lang="en-US" sz="1200" kern="1200" dirty="0" err="1">
                <a:solidFill>
                  <a:schemeClr val="tx1"/>
                </a:solidFill>
                <a:effectLst/>
                <a:latin typeface="+mn-lt"/>
                <a:ea typeface="+mn-ea"/>
                <a:cs typeface="+mn-cs"/>
              </a:rPr>
              <a:t>mois</a:t>
            </a:r>
            <a:r>
              <a:rPr lang="en-US" sz="1200" kern="1200" dirty="0">
                <a:solidFill>
                  <a:schemeClr val="tx1"/>
                </a:solidFill>
                <a:effectLst/>
                <a:latin typeface="+mn-lt"/>
                <a:ea typeface="+mn-ea"/>
                <a:cs typeface="+mn-cs"/>
              </a:rPr>
              <a:t>, sera </a:t>
            </a:r>
            <a:r>
              <a:rPr lang="en-US" sz="1200" kern="1200" dirty="0" err="1">
                <a:solidFill>
                  <a:schemeClr val="tx1"/>
                </a:solidFill>
                <a:effectLst/>
                <a:latin typeface="+mn-lt"/>
                <a:ea typeface="+mn-ea"/>
                <a:cs typeface="+mn-cs"/>
              </a:rPr>
              <a:t>consacrée</a:t>
            </a:r>
            <a:r>
              <a:rPr lang="en-US" sz="1200" kern="1200" dirty="0">
                <a:solidFill>
                  <a:schemeClr val="tx1"/>
                </a:solidFill>
                <a:effectLst/>
                <a:latin typeface="+mn-lt"/>
                <a:ea typeface="+mn-ea"/>
                <a:cs typeface="+mn-cs"/>
              </a:rPr>
              <a:t> au </a:t>
            </a:r>
            <a:r>
              <a:rPr lang="en-US" sz="1200" kern="1200" dirty="0" err="1">
                <a:solidFill>
                  <a:schemeClr val="tx1"/>
                </a:solidFill>
                <a:effectLst/>
                <a:latin typeface="+mn-lt"/>
                <a:ea typeface="+mn-ea"/>
                <a:cs typeface="+mn-cs"/>
              </a:rPr>
              <a:t>cadrage</a:t>
            </a:r>
            <a:r>
              <a:rPr lang="en-US" sz="1200" kern="1200" dirty="0">
                <a:solidFill>
                  <a:schemeClr val="tx1"/>
                </a:solidFill>
                <a:effectLst/>
                <a:latin typeface="+mn-lt"/>
                <a:ea typeface="+mn-ea"/>
                <a:cs typeface="+mn-cs"/>
              </a:rPr>
              <a:t> : ateliers avec </a:t>
            </a:r>
            <a:r>
              <a:rPr lang="en-US" sz="1200" kern="1200" dirty="0" err="1">
                <a:solidFill>
                  <a:schemeClr val="tx1"/>
                </a:solidFill>
                <a:effectLst/>
                <a:latin typeface="+mn-lt"/>
                <a:ea typeface="+mn-ea"/>
                <a:cs typeface="+mn-cs"/>
              </a:rPr>
              <a:t>l'ONMNE</a:t>
            </a:r>
            <a:r>
              <a:rPr lang="en-US" sz="1200" kern="1200" dirty="0">
                <a:solidFill>
                  <a:schemeClr val="tx1"/>
                </a:solidFill>
                <a:effectLst/>
                <a:latin typeface="+mn-lt"/>
                <a:ea typeface="+mn-ea"/>
                <a:cs typeface="+mn-cs"/>
              </a:rPr>
              <a:t> et le Ministère, choix des </a:t>
            </a:r>
            <a:r>
              <a:rPr lang="en-US" sz="1200" kern="1200" dirty="0" err="1">
                <a:solidFill>
                  <a:schemeClr val="tx1"/>
                </a:solidFill>
                <a:effectLst/>
                <a:latin typeface="+mn-lt"/>
                <a:ea typeface="+mn-ea"/>
                <a:cs typeface="+mn-cs"/>
              </a:rPr>
              <a:t>priorités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thématiques</a:t>
            </a:r>
            <a:r>
              <a:rPr lang="en-US" sz="1200" kern="1200" dirty="0">
                <a:solidFill>
                  <a:schemeClr val="tx1"/>
                </a:solidFill>
                <a:effectLst/>
                <a:latin typeface="+mn-lt"/>
                <a:ea typeface="+mn-ea"/>
                <a:cs typeface="+mn-cs"/>
              </a:rPr>
              <a:t>. La deuxième phase, de trois à quatre </a:t>
            </a:r>
            <a:r>
              <a:rPr lang="en-US" sz="1200" kern="1200" dirty="0" err="1">
                <a:solidFill>
                  <a:schemeClr val="tx1"/>
                </a:solidFill>
                <a:effectLst/>
                <a:latin typeface="+mn-lt"/>
                <a:ea typeface="+mn-ea"/>
                <a:cs typeface="+mn-cs"/>
              </a:rPr>
              <a:t>mois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permettra</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développer</a:t>
            </a:r>
            <a:r>
              <a:rPr lang="en-US" sz="1200" kern="1200" dirty="0">
                <a:solidFill>
                  <a:schemeClr val="tx1"/>
                </a:solidFill>
                <a:effectLst/>
                <a:latin typeface="+mn-lt"/>
                <a:ea typeface="+mn-ea"/>
                <a:cs typeface="+mn-cs"/>
              </a:rPr>
              <a:t> le noyau technique et les premiers </a:t>
            </a:r>
            <a:r>
              <a:rPr lang="en-US" sz="1200" kern="1200" dirty="0" err="1">
                <a:solidFill>
                  <a:schemeClr val="tx1"/>
                </a:solidFill>
                <a:effectLst/>
                <a:latin typeface="+mn-lt"/>
                <a:ea typeface="+mn-ea"/>
                <a:cs typeface="+mn-cs"/>
              </a:rPr>
              <a:t>modèles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d'intelligence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artificielle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troisième</a:t>
            </a:r>
            <a:r>
              <a:rPr lang="en-US" sz="1200" kern="1200" dirty="0">
                <a:solidFill>
                  <a:schemeClr val="tx1"/>
                </a:solidFill>
                <a:effectLst/>
                <a:latin typeface="+mn-lt"/>
                <a:ea typeface="+mn-ea"/>
                <a:cs typeface="+mn-cs"/>
              </a:rPr>
              <a:t> phase </a:t>
            </a:r>
            <a:r>
              <a:rPr lang="en-US" sz="1200" kern="1200" dirty="0" err="1">
                <a:solidFill>
                  <a:schemeClr val="tx1"/>
                </a:solidFill>
                <a:effectLst/>
                <a:latin typeface="+mn-lt"/>
                <a:ea typeface="+mn-ea"/>
                <a:cs typeface="+mn-cs"/>
              </a:rPr>
              <a:t>testera</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conditions </a:t>
            </a:r>
            <a:r>
              <a:rPr lang="en-US" sz="1200" kern="1200" dirty="0" err="1">
                <a:solidFill>
                  <a:schemeClr val="tx1"/>
                </a:solidFill>
                <a:effectLst/>
                <a:latin typeface="+mn-lt"/>
                <a:ea typeface="+mn-ea"/>
                <a:cs typeface="+mn-cs"/>
              </a:rPr>
              <a:t>réelles</a:t>
            </a:r>
            <a:r>
              <a:rPr lang="en-US" sz="1200" kern="1200" dirty="0">
                <a:solidFill>
                  <a:schemeClr val="tx1"/>
                </a:solidFill>
                <a:effectLst/>
                <a:latin typeface="+mn-lt"/>
                <a:ea typeface="+mn-ea"/>
                <a:cs typeface="+mn-cs"/>
              </a:rPr>
              <a:t>, avec un usage </a:t>
            </a:r>
            <a:r>
              <a:rPr lang="en-US" sz="1200" kern="1200" dirty="0" err="1">
                <a:solidFill>
                  <a:schemeClr val="tx1"/>
                </a:solidFill>
                <a:effectLst/>
                <a:latin typeface="+mn-lt"/>
                <a:ea typeface="+mn-ea"/>
                <a:cs typeface="+mn-cs"/>
              </a:rPr>
              <a:t>quotidien</a:t>
            </a:r>
            <a:r>
              <a:rPr lang="en-US" sz="1200" kern="1200" dirty="0">
                <a:solidFill>
                  <a:schemeClr val="tx1"/>
                </a:solidFill>
                <a:effectLst/>
                <a:latin typeface="+mn-lt"/>
                <a:ea typeface="+mn-ea"/>
                <a:cs typeface="+mn-cs"/>
              </a:rPr>
              <a:t> par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équipes. Et la </a:t>
            </a:r>
            <a:r>
              <a:rPr lang="en-US" sz="1200" kern="1200" dirty="0" err="1">
                <a:solidFill>
                  <a:schemeClr val="tx1"/>
                </a:solidFill>
                <a:effectLst/>
                <a:latin typeface="+mn-lt"/>
                <a:ea typeface="+mn-ea"/>
                <a:cs typeface="+mn-cs"/>
              </a:rPr>
              <a:t>quatrième</a:t>
            </a:r>
            <a:r>
              <a:rPr lang="en-US" sz="1200" kern="1200" dirty="0">
                <a:solidFill>
                  <a:schemeClr val="tx1"/>
                </a:solidFill>
                <a:effectLst/>
                <a:latin typeface="+mn-lt"/>
                <a:ea typeface="+mn-ea"/>
                <a:cs typeface="+mn-cs"/>
              </a:rPr>
              <a:t> phase </a:t>
            </a:r>
            <a:r>
              <a:rPr lang="en-US" sz="1200" kern="1200" dirty="0" err="1">
                <a:solidFill>
                  <a:schemeClr val="tx1"/>
                </a:solidFill>
                <a:effectLst/>
                <a:latin typeface="+mn-lt"/>
                <a:ea typeface="+mn-ea"/>
                <a:cs typeface="+mn-cs"/>
              </a:rPr>
              <a:t>consolidera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l'outil</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préparera</a:t>
            </a:r>
            <a:r>
              <a:rPr lang="en-US" sz="1200" kern="1200" dirty="0">
                <a:solidFill>
                  <a:schemeClr val="tx1"/>
                </a:solidFill>
                <a:effectLst/>
                <a:latin typeface="+mn-lt"/>
                <a:ea typeface="+mn-ea"/>
                <a:cs typeface="+mn-cs"/>
              </a:rPr>
              <a:t> un plan </a:t>
            </a:r>
            <a:r>
              <a:rPr lang="en-US" sz="1200" kern="1200" dirty="0" err="1">
                <a:solidFill>
                  <a:schemeClr val="tx1"/>
                </a:solidFill>
                <a:effectLst/>
                <a:latin typeface="+mn-lt"/>
                <a:ea typeface="+mn-ea"/>
                <a:cs typeface="+mn-cs"/>
              </a:rPr>
              <a:t>triennal</a:t>
            </a:r>
            <a:r>
              <a:rPr lang="en-US" sz="1200" kern="1200" dirty="0">
                <a:solidFill>
                  <a:schemeClr val="tx1"/>
                </a:solidFill>
                <a:effectLst/>
                <a:latin typeface="+mn-lt"/>
                <a:ea typeface="+mn-ea"/>
                <a:cs typeface="+mn-cs"/>
              </a:rPr>
              <a:t> pour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solution </a:t>
            </a:r>
            <a:r>
              <a:rPr lang="en-US" sz="1200" kern="1200" dirty="0" err="1">
                <a:solidFill>
                  <a:schemeClr val="tx1"/>
                </a:solidFill>
                <a:effectLst/>
                <a:latin typeface="+mn-lt"/>
                <a:ea typeface="+mn-ea"/>
                <a:cs typeface="+mn-cs"/>
              </a:rPr>
              <a:t>pérenne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Cette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intègre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plusieurs</a:t>
            </a:r>
            <a:r>
              <a:rPr lang="en-US" sz="1200" kern="1200" dirty="0">
                <a:solidFill>
                  <a:schemeClr val="tx1"/>
                </a:solidFill>
                <a:effectLst/>
                <a:latin typeface="+mn-lt"/>
                <a:ea typeface="+mn-ea"/>
                <a:cs typeface="+mn-cs"/>
              </a:rPr>
              <a:t> innovations majeures : </a:t>
            </a:r>
            <a:r>
              <a:rPr lang="en-US" sz="1200" kern="1200" dirty="0" err="1">
                <a:solidFill>
                  <a:schemeClr val="tx1"/>
                </a:solidFill>
                <a:effectLst/>
                <a:latin typeface="+mn-lt"/>
                <a:ea typeface="+mn-ea"/>
                <a:cs typeface="+mn-cs"/>
              </a:rPr>
              <a:t>l'intelligence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artificielle</a:t>
            </a:r>
            <a:r>
              <a:rPr lang="en-US" sz="1200" kern="1200" dirty="0">
                <a:solidFill>
                  <a:schemeClr val="tx1"/>
                </a:solidFill>
                <a:effectLst/>
                <a:latin typeface="+mn-lt"/>
                <a:ea typeface="+mn-ea"/>
                <a:cs typeface="+mn-cs"/>
              </a:rPr>
              <a:t> pour la </a:t>
            </a:r>
            <a:r>
              <a:rPr lang="en-US" sz="1200" kern="1200" dirty="0" err="1">
                <a:solidFill>
                  <a:schemeClr val="tx1"/>
                </a:solidFill>
                <a:effectLst/>
                <a:latin typeface="+mn-lt"/>
                <a:ea typeface="+mn-ea"/>
                <a:cs typeface="+mn-cs"/>
              </a:rPr>
              <a:t>détection</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l'aide</a:t>
            </a:r>
            <a:r>
              <a:rPr lang="en-US" sz="1200" kern="1200" dirty="0">
                <a:solidFill>
                  <a:schemeClr val="tx1"/>
                </a:solidFill>
                <a:effectLst/>
                <a:latin typeface="+mn-lt"/>
                <a:ea typeface="+mn-ea"/>
                <a:cs typeface="+mn-cs"/>
              </a:rPr>
              <a:t> à la </a:t>
            </a:r>
            <a:r>
              <a:rPr lang="en-US" sz="1200" kern="1200" dirty="0" err="1">
                <a:solidFill>
                  <a:schemeClr val="tx1"/>
                </a:solidFill>
                <a:effectLst/>
                <a:latin typeface="+mn-lt"/>
                <a:ea typeface="+mn-ea"/>
                <a:cs typeface="+mn-cs"/>
              </a:rPr>
              <a:t>décision</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intelligence </a:t>
            </a:r>
            <a:r>
              <a:rPr lang="en-US" sz="1200" kern="1200" dirty="0" err="1">
                <a:solidFill>
                  <a:schemeClr val="tx1"/>
                </a:solidFill>
                <a:effectLst/>
                <a:latin typeface="+mn-lt"/>
                <a:ea typeface="+mn-ea"/>
                <a:cs typeface="+mn-cs"/>
              </a:rPr>
              <a:t>linguistique</a:t>
            </a:r>
            <a:r>
              <a:rPr lang="en-US" sz="1200" kern="1200" dirty="0">
                <a:solidFill>
                  <a:schemeClr val="tx1"/>
                </a:solidFill>
                <a:effectLst/>
                <a:latin typeface="+mn-lt"/>
                <a:ea typeface="+mn-ea"/>
                <a:cs typeface="+mn-cs"/>
              </a:rPr>
              <a:t> capable </a:t>
            </a:r>
            <a:r>
              <a:rPr lang="en-US" sz="1200" kern="1200" dirty="0" err="1">
                <a:solidFill>
                  <a:schemeClr val="tx1"/>
                </a:solidFill>
                <a:effectLst/>
                <a:latin typeface="+mn-lt"/>
                <a:ea typeface="+mn-ea"/>
                <a:cs typeface="+mn-cs"/>
              </a:rPr>
              <a:t>d'analyser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l'arabe</a:t>
            </a:r>
            <a:r>
              <a:rPr lang="en-US" sz="1200" kern="1200" dirty="0">
                <a:solidFill>
                  <a:schemeClr val="tx1"/>
                </a:solidFill>
                <a:effectLst/>
                <a:latin typeface="+mn-lt"/>
                <a:ea typeface="+mn-ea"/>
                <a:cs typeface="+mn-cs"/>
              </a:rPr>
              <a:t>, le français et </a:t>
            </a:r>
            <a:r>
              <a:rPr lang="en-US" sz="1200" kern="1200" dirty="0" err="1">
                <a:solidFill>
                  <a:schemeClr val="tx1"/>
                </a:solidFill>
                <a:effectLst/>
                <a:latin typeface="+mn-lt"/>
                <a:ea typeface="+mn-ea"/>
                <a:cs typeface="+mn-cs"/>
              </a:rPr>
              <a:t>notre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dialecte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tunisien</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cartographie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géospatiale</a:t>
            </a:r>
            <a:r>
              <a:rPr lang="en-US" sz="1200" kern="1200" dirty="0">
                <a:solidFill>
                  <a:schemeClr val="tx1"/>
                </a:solidFill>
                <a:effectLst/>
                <a:latin typeface="+mn-lt"/>
                <a:ea typeface="+mn-ea"/>
                <a:cs typeface="+mn-cs"/>
              </a:rPr>
              <a:t> des </a:t>
            </a:r>
            <a:r>
              <a:rPr lang="en-US" sz="1200" kern="1200" dirty="0" err="1">
                <a:solidFill>
                  <a:schemeClr val="tx1"/>
                </a:solidFill>
                <a:effectLst/>
                <a:latin typeface="+mn-lt"/>
                <a:ea typeface="+mn-ea"/>
                <a:cs typeface="+mn-cs"/>
              </a:rPr>
              <a:t>rumeurs</a:t>
            </a:r>
            <a:r>
              <a:rPr lang="en-US" sz="1200" kern="1200" dirty="0">
                <a:solidFill>
                  <a:schemeClr val="tx1"/>
                </a:solidFill>
                <a:effectLst/>
                <a:latin typeface="+mn-lt"/>
                <a:ea typeface="+mn-ea"/>
                <a:cs typeface="+mn-cs"/>
              </a:rPr>
              <a:t> et des </a:t>
            </a:r>
            <a:r>
              <a:rPr lang="en-US" sz="1200" kern="1200" dirty="0" err="1">
                <a:solidFill>
                  <a:schemeClr val="tx1"/>
                </a:solidFill>
                <a:effectLst/>
                <a:latin typeface="+mn-lt"/>
                <a:ea typeface="+mn-ea"/>
                <a:cs typeface="+mn-cs"/>
              </a:rPr>
              <a:t>niveaux</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confiance</a:t>
            </a:r>
            <a:r>
              <a:rPr lang="en-US" sz="1200" kern="1200" dirty="0">
                <a:solidFill>
                  <a:schemeClr val="tx1"/>
                </a:solidFill>
                <a:effectLst/>
                <a:latin typeface="+mn-lt"/>
                <a:ea typeface="+mn-ea"/>
                <a:cs typeface="+mn-cs"/>
              </a:rPr>
              <a:t> ; des tableaux de bord </a:t>
            </a:r>
            <a:r>
              <a:rPr lang="en-US" sz="1200" kern="1200" dirty="0" err="1">
                <a:solidFill>
                  <a:schemeClr val="tx1"/>
                </a:solidFill>
                <a:effectLst/>
                <a:latin typeface="+mn-lt"/>
                <a:ea typeface="+mn-ea"/>
                <a:cs typeface="+mn-cs"/>
              </a:rPr>
              <a:t>interactifs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destinés</a:t>
            </a:r>
            <a:r>
              <a:rPr lang="en-US" sz="1200" kern="1200" dirty="0">
                <a:solidFill>
                  <a:schemeClr val="tx1"/>
                </a:solidFill>
                <a:effectLst/>
                <a:latin typeface="+mn-lt"/>
                <a:ea typeface="+mn-ea"/>
                <a:cs typeface="+mn-cs"/>
              </a:rPr>
              <a:t> aux </a:t>
            </a:r>
            <a:r>
              <a:rPr lang="en-US" sz="1200" kern="1200" dirty="0" err="1">
                <a:solidFill>
                  <a:schemeClr val="tx1"/>
                </a:solidFill>
                <a:effectLst/>
                <a:latin typeface="+mn-lt"/>
                <a:ea typeface="+mn-ea"/>
                <a:cs typeface="+mn-cs"/>
              </a:rPr>
              <a:t>décideurs</a:t>
            </a:r>
            <a:r>
              <a:rPr lang="en-US" sz="1200" kern="1200" dirty="0">
                <a:solidFill>
                  <a:schemeClr val="tx1"/>
                </a:solidFill>
                <a:effectLst/>
                <a:latin typeface="+mn-lt"/>
                <a:ea typeface="+mn-ea"/>
                <a:cs typeface="+mn-cs"/>
              </a:rPr>
              <a:t> ; et </a:t>
            </a:r>
            <a:r>
              <a:rPr lang="en-US" sz="1200" kern="1200" dirty="0" err="1">
                <a:solidFill>
                  <a:schemeClr val="tx1"/>
                </a:solidFill>
                <a:effectLst/>
                <a:latin typeface="+mn-lt"/>
                <a:ea typeface="+mn-ea"/>
                <a:cs typeface="+mn-cs"/>
              </a:rPr>
              <a:t>enfin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interopérabilité</a:t>
            </a:r>
            <a:r>
              <a:rPr lang="en-US" sz="1200" kern="1200" dirty="0">
                <a:solidFill>
                  <a:schemeClr val="tx1"/>
                </a:solidFill>
                <a:effectLst/>
                <a:latin typeface="+mn-lt"/>
                <a:ea typeface="+mn-ea"/>
                <a:cs typeface="+mn-cs"/>
              </a:rPr>
              <a:t> avec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systèmes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nationaux</a:t>
            </a:r>
            <a:r>
              <a:rPr lang="en-US" sz="1200" kern="1200" dirty="0">
                <a:solidFill>
                  <a:schemeClr val="tx1"/>
                </a:solidFill>
                <a:effectLst/>
                <a:latin typeface="+mn-lt"/>
                <a:ea typeface="+mn-ea"/>
                <a:cs typeface="+mn-cs"/>
              </a:rPr>
              <a:t> de surveillance, le PHEOC, et les </a:t>
            </a:r>
            <a:r>
              <a:rPr lang="en-US" sz="1200" kern="1200" dirty="0" err="1">
                <a:solidFill>
                  <a:schemeClr val="tx1"/>
                </a:solidFill>
                <a:effectLst/>
                <a:latin typeface="+mn-lt"/>
                <a:ea typeface="+mn-ea"/>
                <a:cs typeface="+mn-cs"/>
              </a:rPr>
              <a:t>futurs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outils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numériques</a:t>
            </a:r>
            <a:r>
              <a:rPr lang="en-US" sz="1200" kern="1200" dirty="0">
                <a:solidFill>
                  <a:schemeClr val="tx1"/>
                </a:solidFill>
                <a:effectLst/>
                <a:latin typeface="+mn-lt"/>
                <a:ea typeface="+mn-ea"/>
                <a:cs typeface="+mn-cs"/>
              </a:rPr>
              <a:t> du Ministère.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Concrètement</a:t>
            </a:r>
            <a:r>
              <a:rPr lang="en-US" sz="1200" kern="1200" dirty="0">
                <a:solidFill>
                  <a:schemeClr val="tx1"/>
                </a:solidFill>
                <a:effectLst/>
                <a:latin typeface="+mn-lt"/>
                <a:ea typeface="+mn-ea"/>
                <a:cs typeface="+mn-cs"/>
              </a:rPr>
              <a:t>, Monsieur le </a:t>
            </a:r>
            <a:r>
              <a:rPr lang="en-US" sz="1200" kern="1200" dirty="0" err="1">
                <a:solidFill>
                  <a:schemeClr val="tx1"/>
                </a:solidFill>
                <a:effectLst/>
                <a:latin typeface="+mn-lt"/>
                <a:ea typeface="+mn-ea"/>
                <a:cs typeface="+mn-cs"/>
              </a:rPr>
              <a:t>Ministre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cette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bénéficiera</a:t>
            </a:r>
            <a:r>
              <a:rPr lang="en-US" sz="1200" kern="1200" dirty="0">
                <a:solidFill>
                  <a:schemeClr val="tx1"/>
                </a:solidFill>
                <a:effectLst/>
                <a:latin typeface="+mn-lt"/>
                <a:ea typeface="+mn-ea"/>
                <a:cs typeface="+mn-cs"/>
              </a:rPr>
              <a:t> à trois </a:t>
            </a:r>
            <a:r>
              <a:rPr lang="en-US" sz="1200" kern="1200" dirty="0" err="1">
                <a:solidFill>
                  <a:schemeClr val="tx1"/>
                </a:solidFill>
                <a:effectLst/>
                <a:latin typeface="+mn-lt"/>
                <a:ea typeface="+mn-ea"/>
                <a:cs typeface="+mn-cs"/>
              </a:rPr>
              <a:t>niveaux</a:t>
            </a:r>
            <a:r>
              <a:rPr lang="en-US" sz="1200" kern="1200" dirty="0">
                <a:solidFill>
                  <a:schemeClr val="tx1"/>
                </a:solidFill>
                <a:effectLst/>
                <a:latin typeface="+mn-lt"/>
                <a:ea typeface="+mn-ea"/>
                <a:cs typeface="+mn-cs"/>
              </a:rPr>
              <a:t>. Pour le Ministère :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meilleure</a:t>
            </a:r>
            <a:r>
              <a:rPr lang="en-US" sz="1200" kern="1200" dirty="0">
                <a:solidFill>
                  <a:schemeClr val="tx1"/>
                </a:solidFill>
                <a:effectLst/>
                <a:latin typeface="+mn-lt"/>
                <a:ea typeface="+mn-ea"/>
                <a:cs typeface="+mn-cs"/>
              </a:rPr>
              <a:t> anticipation des crises, des </a:t>
            </a:r>
            <a:r>
              <a:rPr lang="en-US" sz="1200" kern="1200" dirty="0" err="1">
                <a:solidFill>
                  <a:schemeClr val="tx1"/>
                </a:solidFill>
                <a:effectLst/>
                <a:latin typeface="+mn-lt"/>
                <a:ea typeface="+mn-ea"/>
                <a:cs typeface="+mn-cs"/>
              </a:rPr>
              <a:t>décisions</a:t>
            </a:r>
            <a:r>
              <a:rPr lang="en-US" sz="1200" kern="1200" dirty="0">
                <a:solidFill>
                  <a:schemeClr val="tx1"/>
                </a:solidFill>
                <a:effectLst/>
                <a:latin typeface="+mn-lt"/>
                <a:ea typeface="+mn-ea"/>
                <a:cs typeface="+mn-cs"/>
              </a:rPr>
              <a:t> plus </a:t>
            </a:r>
            <a:r>
              <a:rPr lang="en-US" sz="1200" kern="1200" dirty="0" err="1">
                <a:solidFill>
                  <a:schemeClr val="tx1"/>
                </a:solidFill>
                <a:effectLst/>
                <a:latin typeface="+mn-lt"/>
                <a:ea typeface="+mn-ea"/>
                <a:cs typeface="+mn-cs"/>
              </a:rPr>
              <a:t>rapides</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mieux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ciblées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coordination </a:t>
            </a:r>
            <a:r>
              <a:rPr lang="en-US" sz="1200" kern="1200" dirty="0" err="1">
                <a:solidFill>
                  <a:schemeClr val="tx1"/>
                </a:solidFill>
                <a:effectLst/>
                <a:latin typeface="+mn-lt"/>
                <a:ea typeface="+mn-ea"/>
                <a:cs typeface="+mn-cs"/>
              </a:rPr>
              <a:t>renforcée</a:t>
            </a:r>
            <a:r>
              <a:rPr lang="en-US" sz="1200" kern="1200" dirty="0">
                <a:solidFill>
                  <a:schemeClr val="tx1"/>
                </a:solidFill>
                <a:effectLst/>
                <a:latin typeface="+mn-lt"/>
                <a:ea typeface="+mn-ea"/>
                <a:cs typeface="+mn-cs"/>
              </a:rPr>
              <a:t> entre </a:t>
            </a:r>
            <a:r>
              <a:rPr lang="en-US" sz="1200" kern="1200" dirty="0" err="1">
                <a:solidFill>
                  <a:schemeClr val="tx1"/>
                </a:solidFill>
                <a:effectLst/>
                <a:latin typeface="+mn-lt"/>
                <a:ea typeface="+mn-ea"/>
                <a:cs typeface="+mn-cs"/>
              </a:rPr>
              <a:t>secteurs</a:t>
            </a:r>
            <a:r>
              <a:rPr lang="en-US" sz="1200" kern="1200" dirty="0">
                <a:solidFill>
                  <a:schemeClr val="tx1"/>
                </a:solidFill>
                <a:effectLst/>
                <a:latin typeface="+mn-lt"/>
                <a:ea typeface="+mn-ea"/>
                <a:cs typeface="+mn-cs"/>
              </a:rPr>
              <a:t>. Pour les </a:t>
            </a:r>
            <a:r>
              <a:rPr lang="en-US" sz="1200" kern="1200" dirty="0" err="1">
                <a:solidFill>
                  <a:schemeClr val="tx1"/>
                </a:solidFill>
                <a:effectLst/>
                <a:latin typeface="+mn-lt"/>
                <a:ea typeface="+mn-ea"/>
                <a:cs typeface="+mn-cs"/>
              </a:rPr>
              <a:t>citoyens</a:t>
            </a:r>
            <a:r>
              <a:rPr lang="en-US" sz="1200" kern="1200" dirty="0">
                <a:solidFill>
                  <a:schemeClr val="tx1"/>
                </a:solidFill>
                <a:effectLst/>
                <a:latin typeface="+mn-lt"/>
                <a:ea typeface="+mn-ea"/>
                <a:cs typeface="+mn-cs"/>
              </a:rPr>
              <a:t> : un </a:t>
            </a:r>
            <a:r>
              <a:rPr lang="en-US" sz="1200" kern="1200" dirty="0" err="1">
                <a:solidFill>
                  <a:schemeClr val="tx1"/>
                </a:solidFill>
                <a:effectLst/>
                <a:latin typeface="+mn-lt"/>
                <a:ea typeface="+mn-ea"/>
                <a:cs typeface="+mn-cs"/>
              </a:rPr>
              <a:t>accès</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information </a:t>
            </a:r>
            <a:r>
              <a:rPr lang="en-US" sz="1200" kern="1200" dirty="0" err="1">
                <a:solidFill>
                  <a:schemeClr val="tx1"/>
                </a:solidFill>
                <a:effectLst/>
                <a:latin typeface="+mn-lt"/>
                <a:ea typeface="+mn-ea"/>
                <a:cs typeface="+mn-cs"/>
              </a:rPr>
              <a:t>fiable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meilleure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confiance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meilleure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adhésion</a:t>
            </a:r>
            <a:r>
              <a:rPr lang="en-US" sz="1200" kern="1200" dirty="0">
                <a:solidFill>
                  <a:schemeClr val="tx1"/>
                </a:solidFill>
                <a:effectLst/>
                <a:latin typeface="+mn-lt"/>
                <a:ea typeface="+mn-ea"/>
                <a:cs typeface="+mn-cs"/>
              </a:rPr>
              <a:t> aux </a:t>
            </a:r>
            <a:r>
              <a:rPr lang="en-US" sz="1200" kern="1200" dirty="0" err="1">
                <a:solidFill>
                  <a:schemeClr val="tx1"/>
                </a:solidFill>
                <a:effectLst/>
                <a:latin typeface="+mn-lt"/>
                <a:ea typeface="+mn-ea"/>
                <a:cs typeface="+mn-cs"/>
              </a:rPr>
              <a:t>mesures</a:t>
            </a:r>
            <a:r>
              <a:rPr lang="en-US" sz="1200" kern="1200" dirty="0">
                <a:solidFill>
                  <a:schemeClr val="tx1"/>
                </a:solidFill>
                <a:effectLst/>
                <a:latin typeface="+mn-lt"/>
                <a:ea typeface="+mn-ea"/>
                <a:cs typeface="+mn-cs"/>
              </a:rPr>
              <a:t> de santé publique. Et pour </a:t>
            </a:r>
            <a:r>
              <a:rPr lang="en-US" sz="1200" kern="1200" dirty="0" err="1">
                <a:solidFill>
                  <a:schemeClr val="tx1"/>
                </a:solidFill>
                <a:effectLst/>
                <a:latin typeface="+mn-lt"/>
                <a:ea typeface="+mn-ea"/>
                <a:cs typeface="+mn-cs"/>
              </a:rPr>
              <a:t>l'ensemble</a:t>
            </a:r>
            <a:r>
              <a:rPr lang="en-US" sz="1200" kern="1200" dirty="0">
                <a:solidFill>
                  <a:schemeClr val="tx1"/>
                </a:solidFill>
                <a:effectLst/>
                <a:latin typeface="+mn-lt"/>
                <a:ea typeface="+mn-ea"/>
                <a:cs typeface="+mn-cs"/>
              </a:rPr>
              <a:t> du </a:t>
            </a:r>
            <a:r>
              <a:rPr lang="en-US" sz="1200" kern="1200" dirty="0" err="1">
                <a:solidFill>
                  <a:schemeClr val="tx1"/>
                </a:solidFill>
                <a:effectLst/>
                <a:latin typeface="+mn-lt"/>
                <a:ea typeface="+mn-ea"/>
                <a:cs typeface="+mn-cs"/>
              </a:rPr>
              <a:t>système</a:t>
            </a:r>
            <a:r>
              <a:rPr lang="en-US" sz="1200" kern="1200" dirty="0">
                <a:solidFill>
                  <a:schemeClr val="tx1"/>
                </a:solidFill>
                <a:effectLst/>
                <a:latin typeface="+mn-lt"/>
                <a:ea typeface="+mn-ea"/>
                <a:cs typeface="+mn-cs"/>
              </a:rPr>
              <a:t> de santé : un </a:t>
            </a:r>
            <a:r>
              <a:rPr lang="en-US" sz="1200" kern="1200" dirty="0" err="1">
                <a:solidFill>
                  <a:schemeClr val="tx1"/>
                </a:solidFill>
                <a:effectLst/>
                <a:latin typeface="+mn-lt"/>
                <a:ea typeface="+mn-ea"/>
                <a:cs typeface="+mn-cs"/>
              </a:rPr>
              <a:t>renforcement</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résilience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meilleure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préparation</a:t>
            </a:r>
            <a:r>
              <a:rPr lang="en-US" sz="1200" kern="1200" dirty="0">
                <a:solidFill>
                  <a:schemeClr val="tx1"/>
                </a:solidFill>
                <a:effectLst/>
                <a:latin typeface="+mn-lt"/>
                <a:ea typeface="+mn-ea"/>
                <a:cs typeface="+mn-cs"/>
              </a:rPr>
              <a:t> aux urgences, et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intégration</a:t>
            </a:r>
            <a:r>
              <a:rPr lang="en-US" sz="1200" kern="1200" dirty="0">
                <a:solidFill>
                  <a:schemeClr val="tx1"/>
                </a:solidFill>
                <a:effectLst/>
                <a:latin typeface="+mn-lt"/>
                <a:ea typeface="+mn-ea"/>
                <a:cs typeface="+mn-cs"/>
              </a:rPr>
              <a:t> durable de </a:t>
            </a:r>
            <a:r>
              <a:rPr lang="en-US" sz="1200" kern="1200" dirty="0" err="1">
                <a:solidFill>
                  <a:schemeClr val="tx1"/>
                </a:solidFill>
                <a:effectLst/>
                <a:latin typeface="+mn-lt"/>
                <a:ea typeface="+mn-ea"/>
                <a:cs typeface="+mn-cs"/>
              </a:rPr>
              <a:t>l'intelligence</a:t>
            </a:r>
            <a:r>
              <a:rPr lang="en-US" sz="1200" kern="1200" dirty="0">
                <a:solidFill>
                  <a:schemeClr val="tx1"/>
                </a:solidFill>
                <a:effectLst/>
                <a:latin typeface="+mn-lt"/>
                <a:ea typeface="+mn-ea"/>
                <a:cs typeface="+mn-cs"/>
              </a:rPr>
              <a:t> sanitaire dans </a:t>
            </a:r>
            <a:r>
              <a:rPr lang="en-US" sz="1200" kern="1200" dirty="0" err="1">
                <a:solidFill>
                  <a:schemeClr val="tx1"/>
                </a:solidFill>
                <a:effectLst/>
                <a:latin typeface="+mn-lt"/>
                <a:ea typeface="+mn-ea"/>
                <a:cs typeface="+mn-cs"/>
              </a:rPr>
              <a:t>notre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gouvernance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Pour </a:t>
            </a:r>
            <a:r>
              <a:rPr lang="en-US" sz="1200" kern="1200" dirty="0" err="1">
                <a:solidFill>
                  <a:schemeClr val="tx1"/>
                </a:solidFill>
                <a:effectLst/>
                <a:latin typeface="+mn-lt"/>
                <a:ea typeface="+mn-ea"/>
                <a:cs typeface="+mn-cs"/>
              </a:rPr>
              <a:t>conclure</a:t>
            </a:r>
            <a:r>
              <a:rPr lang="en-US" sz="1200" kern="1200" dirty="0">
                <a:solidFill>
                  <a:schemeClr val="tx1"/>
                </a:solidFill>
                <a:effectLst/>
                <a:latin typeface="+mn-lt"/>
                <a:ea typeface="+mn-ea"/>
                <a:cs typeface="+mn-cs"/>
              </a:rPr>
              <a:t>, Monsieur le </a:t>
            </a:r>
            <a:r>
              <a:rPr lang="en-US" sz="1200" kern="1200" dirty="0" err="1">
                <a:solidFill>
                  <a:schemeClr val="tx1"/>
                </a:solidFill>
                <a:effectLst/>
                <a:latin typeface="+mn-lt"/>
                <a:ea typeface="+mn-ea"/>
                <a:cs typeface="+mn-cs"/>
              </a:rPr>
              <a:t>Ministre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cette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plateforme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représente</a:t>
            </a:r>
            <a:r>
              <a:rPr lang="en-US" sz="1200" kern="1200" dirty="0">
                <a:solidFill>
                  <a:schemeClr val="tx1"/>
                </a:solidFill>
                <a:effectLst/>
                <a:latin typeface="+mn-lt"/>
                <a:ea typeface="+mn-ea"/>
                <a:cs typeface="+mn-cs"/>
              </a:rPr>
              <a:t> bien plus </a:t>
            </a:r>
            <a:r>
              <a:rPr lang="en-US" sz="1200" kern="1200" dirty="0" err="1">
                <a:solidFill>
                  <a:schemeClr val="tx1"/>
                </a:solidFill>
                <a:effectLst/>
                <a:latin typeface="+mn-lt"/>
                <a:ea typeface="+mn-ea"/>
                <a:cs typeface="+mn-cs"/>
              </a:rPr>
              <a:t>qu'un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projet</a:t>
            </a:r>
            <a:r>
              <a:rPr lang="en-US" sz="1200" kern="1200" dirty="0">
                <a:solidFill>
                  <a:schemeClr val="tx1"/>
                </a:solidFill>
                <a:effectLst/>
                <a:latin typeface="+mn-lt"/>
                <a:ea typeface="+mn-ea"/>
                <a:cs typeface="+mn-cs"/>
              </a:rPr>
              <a:t> numérique. </a:t>
            </a:r>
            <a:r>
              <a:rPr lang="en-US" sz="1200" kern="1200" dirty="0" err="1">
                <a:solidFill>
                  <a:schemeClr val="tx1"/>
                </a:solidFill>
                <a:effectLst/>
                <a:latin typeface="+mn-lt"/>
                <a:ea typeface="+mn-ea"/>
                <a:cs typeface="+mn-cs"/>
              </a:rPr>
              <a:t>C'est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évolution</a:t>
            </a:r>
            <a:r>
              <a:rPr lang="en-US" sz="1200" kern="1200" dirty="0">
                <a:solidFill>
                  <a:schemeClr val="tx1"/>
                </a:solidFill>
                <a:effectLst/>
                <a:latin typeface="+mn-lt"/>
                <a:ea typeface="+mn-ea"/>
                <a:cs typeface="+mn-cs"/>
              </a:rPr>
              <a:t> majeure vers un </a:t>
            </a:r>
            <a:r>
              <a:rPr lang="en-US" sz="1200" kern="1200" dirty="0" err="1">
                <a:solidFill>
                  <a:schemeClr val="tx1"/>
                </a:solidFill>
                <a:effectLst/>
                <a:latin typeface="+mn-lt"/>
                <a:ea typeface="+mn-ea"/>
                <a:cs typeface="+mn-cs"/>
              </a:rPr>
              <a:t>véritable</a:t>
            </a:r>
            <a:r>
              <a:rPr lang="en-US" sz="1200" kern="1200" dirty="0">
                <a:solidFill>
                  <a:schemeClr val="tx1"/>
                </a:solidFill>
                <a:effectLst/>
                <a:latin typeface="+mn-lt"/>
                <a:ea typeface="+mn-ea"/>
                <a:cs typeface="+mn-cs"/>
              </a:rPr>
              <a:t> Système National </a:t>
            </a:r>
            <a:r>
              <a:rPr lang="en-US" sz="1200" kern="1200" dirty="0" err="1">
                <a:solidFill>
                  <a:schemeClr val="tx1"/>
                </a:solidFill>
                <a:effectLst/>
                <a:latin typeface="+mn-lt"/>
                <a:ea typeface="+mn-ea"/>
                <a:cs typeface="+mn-cs"/>
              </a:rPr>
              <a:t>d'Intelligence</a:t>
            </a:r>
            <a:r>
              <a:rPr lang="en-US" sz="1200" kern="1200" dirty="0">
                <a:solidFill>
                  <a:schemeClr val="tx1"/>
                </a:solidFill>
                <a:effectLst/>
                <a:latin typeface="+mn-lt"/>
                <a:ea typeface="+mn-ea"/>
                <a:cs typeface="+mn-cs"/>
              </a:rPr>
              <a:t> Sanitaire, qui </a:t>
            </a:r>
            <a:r>
              <a:rPr lang="en-US" sz="1200" kern="1200" dirty="0" err="1">
                <a:solidFill>
                  <a:schemeClr val="tx1"/>
                </a:solidFill>
                <a:effectLst/>
                <a:latin typeface="+mn-lt"/>
                <a:ea typeface="+mn-ea"/>
                <a:cs typeface="+mn-cs"/>
              </a:rPr>
              <a:t>intègre</a:t>
            </a:r>
            <a:r>
              <a:rPr lang="en-US" sz="1200" kern="1200" dirty="0">
                <a:solidFill>
                  <a:schemeClr val="tx1"/>
                </a:solidFill>
                <a:effectLst/>
                <a:latin typeface="+mn-lt"/>
                <a:ea typeface="+mn-ea"/>
                <a:cs typeface="+mn-cs"/>
              </a:rPr>
              <a:t> la surveillance </a:t>
            </a:r>
            <a:r>
              <a:rPr lang="en-US" sz="1200" kern="1200" dirty="0" err="1">
                <a:solidFill>
                  <a:schemeClr val="tx1"/>
                </a:solidFill>
                <a:effectLst/>
                <a:latin typeface="+mn-lt"/>
                <a:ea typeface="+mn-ea"/>
                <a:cs typeface="+mn-cs"/>
              </a:rPr>
              <a:t>épidémiologique</a:t>
            </a:r>
            <a:r>
              <a:rPr lang="en-US" sz="1200" kern="1200" dirty="0">
                <a:solidFill>
                  <a:schemeClr val="tx1"/>
                </a:solidFill>
                <a:effectLst/>
                <a:latin typeface="+mn-lt"/>
                <a:ea typeface="+mn-ea"/>
                <a:cs typeface="+mn-cs"/>
              </a:rPr>
              <a:t>, la gestion de </a:t>
            </a:r>
            <a:r>
              <a:rPr lang="en-US" sz="1200" kern="1200" dirty="0" err="1">
                <a:solidFill>
                  <a:schemeClr val="tx1"/>
                </a:solidFill>
                <a:effectLst/>
                <a:latin typeface="+mn-lt"/>
                <a:ea typeface="+mn-ea"/>
                <a:cs typeface="+mn-cs"/>
              </a:rPr>
              <a:t>l'infodémie</a:t>
            </a:r>
            <a:r>
              <a:rPr lang="en-US" sz="1200" kern="1200" dirty="0">
                <a:solidFill>
                  <a:schemeClr val="tx1"/>
                </a:solidFill>
                <a:effectLst/>
                <a:latin typeface="+mn-lt"/>
                <a:ea typeface="+mn-ea"/>
                <a:cs typeface="+mn-cs"/>
              </a:rPr>
              <a:t>, la communication des </a:t>
            </a:r>
            <a:r>
              <a:rPr lang="en-US" sz="1200" kern="1200" dirty="0" err="1">
                <a:solidFill>
                  <a:schemeClr val="tx1"/>
                </a:solidFill>
                <a:effectLst/>
                <a:latin typeface="+mn-lt"/>
                <a:ea typeface="+mn-ea"/>
                <a:cs typeface="+mn-cs"/>
              </a:rPr>
              <a:t>risques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l'engagement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communautaire</a:t>
            </a:r>
            <a:r>
              <a:rPr lang="en-US" sz="1200" kern="1200" dirty="0">
                <a:solidFill>
                  <a:schemeClr val="tx1"/>
                </a:solidFill>
                <a:effectLst/>
                <a:latin typeface="+mn-lt"/>
                <a:ea typeface="+mn-ea"/>
                <a:cs typeface="+mn-cs"/>
              </a:rPr>
              <a:t> et </a:t>
            </a:r>
            <a:r>
              <a:rPr lang="en-US" sz="1200" kern="1200" dirty="0" err="1">
                <a:solidFill>
                  <a:schemeClr val="tx1"/>
                </a:solidFill>
                <a:effectLst/>
                <a:latin typeface="+mn-lt"/>
                <a:ea typeface="+mn-ea"/>
                <a:cs typeface="+mn-cs"/>
              </a:rPr>
              <a:t>l'intelligence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artificielle</a:t>
            </a:r>
            <a:r>
              <a:rPr lang="en-US" sz="1200" kern="1200" dirty="0">
                <a:solidFill>
                  <a:schemeClr val="tx1"/>
                </a:solidFill>
                <a:effectLst/>
                <a:latin typeface="+mn-lt"/>
                <a:ea typeface="+mn-ea"/>
                <a:cs typeface="+mn-cs"/>
              </a:rPr>
              <a:t>, au service </a:t>
            </a:r>
            <a:r>
              <a:rPr lang="en-US" sz="1200" kern="1200" dirty="0" err="1">
                <a:solidFill>
                  <a:schemeClr val="tx1"/>
                </a:solidFill>
                <a:effectLst/>
                <a:latin typeface="+mn-lt"/>
                <a:ea typeface="+mn-ea"/>
                <a:cs typeface="+mn-cs"/>
              </a:rPr>
              <a:t>d'une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décision</a:t>
            </a:r>
            <a:r>
              <a:rPr lang="en-US" sz="1200" kern="1200" dirty="0">
                <a:solidFill>
                  <a:schemeClr val="tx1"/>
                </a:solidFill>
                <a:effectLst/>
                <a:latin typeface="+mn-lt"/>
                <a:ea typeface="+mn-ea"/>
                <a:cs typeface="+mn-cs"/>
              </a:rPr>
              <a:t> publique </a:t>
            </a:r>
            <a:r>
              <a:rPr lang="en-US" sz="1200" kern="1200" dirty="0" err="1">
                <a:solidFill>
                  <a:schemeClr val="tx1"/>
                </a:solidFill>
                <a:effectLst/>
                <a:latin typeface="+mn-lt"/>
                <a:ea typeface="+mn-ea"/>
                <a:cs typeface="+mn-cs"/>
              </a:rPr>
              <a:t>fondée</a:t>
            </a:r>
            <a:r>
              <a:rPr lang="en-US" sz="1200" kern="1200" dirty="0">
                <a:solidFill>
                  <a:schemeClr val="tx1"/>
                </a:solidFill>
                <a:effectLst/>
                <a:latin typeface="+mn-lt"/>
                <a:ea typeface="+mn-ea"/>
                <a:cs typeface="+mn-cs"/>
              </a:rPr>
              <a:t> sur les </a:t>
            </a:r>
            <a:r>
              <a:rPr lang="en-US" sz="1200" kern="1200" dirty="0" err="1">
                <a:solidFill>
                  <a:schemeClr val="tx1"/>
                </a:solidFill>
                <a:effectLst/>
                <a:latin typeface="+mn-lt"/>
                <a:ea typeface="+mn-ea"/>
                <a:cs typeface="+mn-cs"/>
              </a:rPr>
              <a:t>preuves</a:t>
            </a:r>
            <a:r>
              <a:rPr lang="en-US" sz="1200" kern="1200" dirty="0">
                <a:solidFill>
                  <a:schemeClr val="tx1"/>
                </a:solidFill>
                <a:effectLst/>
                <a:latin typeface="+mn-lt"/>
                <a:ea typeface="+mn-ea"/>
                <a:cs typeface="+mn-cs"/>
              </a:rPr>
              <a:t>. En </a:t>
            </a:r>
            <a:r>
              <a:rPr lang="en-US" sz="1200" kern="1200" dirty="0" err="1">
                <a:solidFill>
                  <a:schemeClr val="tx1"/>
                </a:solidFill>
                <a:effectLst/>
                <a:latin typeface="+mn-lt"/>
                <a:ea typeface="+mn-ea"/>
                <a:cs typeface="+mn-cs"/>
              </a:rPr>
              <a:t>institutionnalisant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cette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approche</a:t>
            </a:r>
            <a:r>
              <a:rPr lang="en-US" sz="1200" kern="1200" dirty="0">
                <a:solidFill>
                  <a:schemeClr val="tx1"/>
                </a:solidFill>
                <a:effectLst/>
                <a:latin typeface="+mn-lt"/>
                <a:ea typeface="+mn-ea"/>
                <a:cs typeface="+mn-cs"/>
              </a:rPr>
              <a:t>, la Tunisie se </a:t>
            </a:r>
            <a:r>
              <a:rPr lang="en-US" sz="1200" kern="1200" dirty="0" err="1">
                <a:solidFill>
                  <a:schemeClr val="tx1"/>
                </a:solidFill>
                <a:effectLst/>
                <a:latin typeface="+mn-lt"/>
                <a:ea typeface="+mn-ea"/>
                <a:cs typeface="+mn-cs"/>
              </a:rPr>
              <a:t>positionnera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parmi</a:t>
            </a:r>
            <a:r>
              <a:rPr lang="en-US" sz="1200" kern="1200" dirty="0">
                <a:solidFill>
                  <a:schemeClr val="tx1"/>
                </a:solidFill>
                <a:effectLst/>
                <a:latin typeface="+mn-lt"/>
                <a:ea typeface="+mn-ea"/>
                <a:cs typeface="+mn-cs"/>
              </a:rPr>
              <a:t> les pays </a:t>
            </a:r>
            <a:r>
              <a:rPr lang="en-US" sz="1200" kern="1200" dirty="0" err="1">
                <a:solidFill>
                  <a:schemeClr val="tx1"/>
                </a:solidFill>
                <a:effectLst/>
                <a:latin typeface="+mn-lt"/>
                <a:ea typeface="+mn-ea"/>
                <a:cs typeface="+mn-cs"/>
              </a:rPr>
              <a:t>pionniers</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région</a:t>
            </a:r>
            <a:r>
              <a:rPr lang="en-US" sz="1200" kern="1200" dirty="0">
                <a:solidFill>
                  <a:schemeClr val="tx1"/>
                </a:solidFill>
                <a:effectLst/>
                <a:latin typeface="+mn-lt"/>
                <a:ea typeface="+mn-ea"/>
                <a:cs typeface="+mn-cs"/>
              </a:rPr>
              <a:t> dans le </a:t>
            </a:r>
            <a:r>
              <a:rPr lang="en-US" sz="1200" kern="1200" dirty="0" err="1">
                <a:solidFill>
                  <a:schemeClr val="tx1"/>
                </a:solidFill>
                <a:effectLst/>
                <a:latin typeface="+mn-lt"/>
                <a:ea typeface="+mn-ea"/>
                <a:cs typeface="+mn-cs"/>
              </a:rPr>
              <a:t>domaine</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l'intelligence</a:t>
            </a:r>
            <a:r>
              <a:rPr lang="en-US" sz="1200" kern="1200" dirty="0">
                <a:solidFill>
                  <a:schemeClr val="tx1"/>
                </a:solidFill>
                <a:effectLst/>
                <a:latin typeface="+mn-lt"/>
                <a:ea typeface="+mn-ea"/>
                <a:cs typeface="+mn-cs"/>
              </a:rPr>
              <a:t> sanitaire </a:t>
            </a:r>
            <a:r>
              <a:rPr lang="en-US" sz="1200" kern="1200" dirty="0" err="1">
                <a:solidFill>
                  <a:schemeClr val="tx1"/>
                </a:solidFill>
                <a:effectLst/>
                <a:latin typeface="+mn-lt"/>
                <a:ea typeface="+mn-ea"/>
                <a:cs typeface="+mn-cs"/>
              </a:rPr>
              <a:t>intégrée</a:t>
            </a:r>
            <a:r>
              <a:rPr lang="en-US" sz="1200" kern="1200" dirty="0">
                <a:solidFill>
                  <a:schemeClr val="tx1"/>
                </a:solidFill>
                <a:effectLst/>
                <a:latin typeface="+mn-lt"/>
                <a:ea typeface="+mn-ea"/>
                <a:cs typeface="+mn-cs"/>
              </a:rPr>
              <a:t>. Je vous </a:t>
            </a:r>
            <a:r>
              <a:rPr lang="en-US" sz="1200" kern="1200" dirty="0" err="1">
                <a:solidFill>
                  <a:schemeClr val="tx1"/>
                </a:solidFill>
                <a:effectLst/>
                <a:latin typeface="+mn-lt"/>
                <a:ea typeface="+mn-ea"/>
                <a:cs typeface="+mn-cs"/>
              </a:rPr>
              <a:t>remercie</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votre</a:t>
            </a:r>
            <a:r>
              <a:rPr lang="en-US" sz="1200" kern="1200" dirty="0">
                <a:solidFill>
                  <a:schemeClr val="tx1"/>
                </a:solidFill>
                <a:effectLst/>
                <a:latin typeface="+mn-lt"/>
                <a:ea typeface="+mn-ea"/>
                <a:cs typeface="+mn-cs"/>
              </a:rPr>
              <a:t> attention et me </a:t>
            </a:r>
            <a:r>
              <a:rPr lang="en-US" sz="1200" kern="1200" dirty="0" err="1">
                <a:solidFill>
                  <a:schemeClr val="tx1"/>
                </a:solidFill>
                <a:effectLst/>
                <a:latin typeface="+mn-lt"/>
                <a:ea typeface="+mn-ea"/>
                <a:cs typeface="+mn-cs"/>
              </a:rPr>
              <a:t>tiens</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votre</a:t>
            </a:r>
            <a:r>
              <a:rPr lang="en-US" sz="1200" kern="1200" dirty="0">
                <a:solidFill>
                  <a:schemeClr val="tx1"/>
                </a:solidFill>
                <a:effectLst/>
                <a:latin typeface="+mn-lt"/>
                <a:ea typeface="+mn-ea"/>
                <a:cs typeface="+mn-cs"/>
              </a:rPr>
              <a:t> disposition pour </a:t>
            </a:r>
            <a:r>
              <a:rPr lang="en-US" sz="1200" kern="1200" dirty="0" err="1">
                <a:solidFill>
                  <a:schemeClr val="tx1"/>
                </a:solidFill>
                <a:effectLst/>
                <a:latin typeface="+mn-lt"/>
                <a:ea typeface="+mn-ea"/>
                <a:cs typeface="+mn-cs"/>
              </a:rPr>
              <a:t>répondre</a:t>
            </a:r>
            <a:r>
              <a:rPr lang="en-US" sz="1200" kern="1200" dirty="0">
                <a:solidFill>
                  <a:schemeClr val="tx1"/>
                </a:solidFill>
                <a:effectLst/>
                <a:latin typeface="+mn-lt"/>
                <a:ea typeface="+mn-ea"/>
                <a:cs typeface="+mn-cs"/>
              </a:rPr>
              <a:t> à </a:t>
            </a:r>
            <a:r>
              <a:rPr lang="en-US" sz="1200" kern="1200" dirty="0" err="1">
                <a:solidFill>
                  <a:schemeClr val="tx1"/>
                </a:solidFill>
                <a:effectLst/>
                <a:latin typeface="+mn-lt"/>
                <a:ea typeface="+mn-ea"/>
                <a:cs typeface="+mn-cs"/>
              </a:rPr>
              <a:t>vos</a:t>
            </a:r>
            <a:r>
              <a:rPr lang="en-US" sz="1200" kern="1200" dirty="0">
                <a:solidFill>
                  <a:schemeClr val="tx1"/>
                </a:solidFill>
                <a:effectLst/>
                <a:latin typeface="+mn-lt"/>
                <a:ea typeface="+mn-ea"/>
                <a:cs typeface="+mn-cs"/>
              </a:rPr>
              <a:t>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03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34.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97280" y="853440"/>
            <a:ext cx="9753600" cy="487680"/>
          </a:xfrm>
          <a:prstGeom prst="rect">
            <a:avLst/>
          </a:prstGeom>
          <a:noFill/>
          <a:ln/>
        </p:spPr>
        <p:txBody>
          <a:bodyPr wrap="square" rtlCol="0" anchor="ctr"/>
          <a:lstStyle/>
          <a:p>
            <a:r>
              <a:rPr lang="en-US" sz="1733" kern="0" spc="267" dirty="0">
                <a:solidFill>
                  <a:srgbClr val="CADCFC"/>
                </a:solidFill>
                <a:latin typeface="Calibri" pitchFamily="34" charset="0"/>
                <a:ea typeface="Calibri" pitchFamily="34" charset="-122"/>
                <a:cs typeface="Calibri" pitchFamily="34" charset="-120"/>
              </a:rPr>
              <a:t>MINISTÈRE DE LA SANTÉ</a:t>
            </a:r>
            <a:endParaRPr lang="en-US" sz="1733" dirty="0"/>
          </a:p>
        </p:txBody>
      </p:sp>
      <p:sp>
        <p:nvSpPr>
          <p:cNvPr id="3" name="Text 1"/>
          <p:cNvSpPr/>
          <p:nvPr/>
        </p:nvSpPr>
        <p:spPr>
          <a:xfrm>
            <a:off x="1097280" y="1280160"/>
            <a:ext cx="10972800" cy="426720"/>
          </a:xfrm>
          <a:prstGeom prst="rect">
            <a:avLst/>
          </a:prstGeom>
          <a:noFill/>
          <a:ln/>
        </p:spPr>
        <p:txBody>
          <a:bodyPr wrap="square" rtlCol="0" anchor="ctr"/>
          <a:lstStyle/>
          <a:p>
            <a:r>
              <a:rPr lang="en-US" sz="1733" dirty="0">
                <a:solidFill>
                  <a:srgbClr val="CADCFC"/>
                </a:solidFill>
                <a:latin typeface="Calibri" pitchFamily="34" charset="0"/>
                <a:ea typeface="Calibri" pitchFamily="34" charset="-122"/>
                <a:cs typeface="Calibri" pitchFamily="34" charset="-120"/>
              </a:rPr>
              <a:t>Observatoire National des Maladies Nouvelles et Émergentes</a:t>
            </a:r>
            <a:endParaRPr lang="en-US" sz="1733" dirty="0"/>
          </a:p>
        </p:txBody>
      </p:sp>
      <p:sp>
        <p:nvSpPr>
          <p:cNvPr id="4" name="Text 2"/>
          <p:cNvSpPr/>
          <p:nvPr/>
        </p:nvSpPr>
        <p:spPr>
          <a:xfrm>
            <a:off x="1097280" y="2621280"/>
            <a:ext cx="13655040" cy="2560320"/>
          </a:xfrm>
          <a:prstGeom prst="rect">
            <a:avLst/>
          </a:prstGeom>
          <a:noFill/>
          <a:ln/>
        </p:spPr>
        <p:txBody>
          <a:bodyPr wrap="square" rtlCol="0" anchor="ctr"/>
          <a:lstStyle/>
          <a:p>
            <a:pPr>
              <a:lnSpc>
                <a:spcPct val="105000"/>
              </a:lnSpc>
            </a:pPr>
            <a:r>
              <a:rPr lang="en-US" sz="5867" b="1" dirty="0">
                <a:solidFill>
                  <a:srgbClr val="FF0000"/>
                </a:solidFill>
                <a:latin typeface="Cambria" pitchFamily="34" charset="0"/>
                <a:ea typeface="Cambria" pitchFamily="34" charset="-122"/>
                <a:cs typeface="Cambria" pitchFamily="34" charset="-120"/>
              </a:rPr>
              <a:t>Plateforme Nationale Intégrée</a:t>
            </a:r>
            <a:endParaRPr lang="en-US" sz="5867" dirty="0">
              <a:solidFill>
                <a:srgbClr val="FF0000"/>
              </a:solidFill>
            </a:endParaRPr>
          </a:p>
          <a:p>
            <a:pPr>
              <a:lnSpc>
                <a:spcPct val="105000"/>
              </a:lnSpc>
            </a:pPr>
            <a:r>
              <a:rPr lang="en-US" sz="5867" b="1" dirty="0">
                <a:solidFill>
                  <a:srgbClr val="FF0000"/>
                </a:solidFill>
                <a:latin typeface="Cambria" pitchFamily="34" charset="0"/>
                <a:ea typeface="Cambria" pitchFamily="34" charset="-122"/>
                <a:cs typeface="Cambria" pitchFamily="34" charset="-120"/>
              </a:rPr>
              <a:t>de Gestion de l'Infodémie</a:t>
            </a:r>
            <a:endParaRPr lang="en-US" sz="5867" dirty="0">
              <a:solidFill>
                <a:srgbClr val="FF0000"/>
              </a:solidFill>
            </a:endParaRPr>
          </a:p>
        </p:txBody>
      </p:sp>
      <p:sp>
        <p:nvSpPr>
          <p:cNvPr id="5" name="Shape 3"/>
          <p:cNvSpPr/>
          <p:nvPr/>
        </p:nvSpPr>
        <p:spPr>
          <a:xfrm>
            <a:off x="1158240" y="5303520"/>
            <a:ext cx="3169920" cy="0"/>
          </a:xfrm>
          <a:prstGeom prst="line">
            <a:avLst/>
          </a:prstGeom>
          <a:noFill/>
          <a:ln w="25400">
            <a:solidFill>
              <a:srgbClr val="CADCFC"/>
            </a:solidFill>
            <a:prstDash val="solid"/>
          </a:ln>
        </p:spPr>
        <p:txBody>
          <a:bodyPr/>
          <a:lstStyle/>
          <a:p>
            <a:endParaRPr lang="ar-TN" sz="2400"/>
          </a:p>
        </p:txBody>
      </p:sp>
      <p:sp>
        <p:nvSpPr>
          <p:cNvPr id="6" name="Text 4"/>
          <p:cNvSpPr/>
          <p:nvPr/>
        </p:nvSpPr>
        <p:spPr>
          <a:xfrm>
            <a:off x="1097280" y="5547360"/>
            <a:ext cx="11948160" cy="1584960"/>
          </a:xfrm>
          <a:prstGeom prst="rect">
            <a:avLst/>
          </a:prstGeom>
          <a:noFill/>
          <a:ln/>
        </p:spPr>
        <p:txBody>
          <a:bodyPr wrap="square" rtlCol="0" anchor="ctr"/>
          <a:lstStyle/>
          <a:p>
            <a:pPr>
              <a:lnSpc>
                <a:spcPct val="120000"/>
              </a:lnSpc>
            </a:pPr>
            <a:r>
              <a:rPr lang="en-US" sz="2133" i="1" dirty="0">
                <a:solidFill>
                  <a:srgbClr val="CADCFC"/>
                </a:solidFill>
                <a:latin typeface="Calibri" pitchFamily="34" charset="0"/>
                <a:ea typeface="Calibri" pitchFamily="34" charset="-122"/>
                <a:cs typeface="Calibri" pitchFamily="34" charset="-120"/>
              </a:rPr>
              <a:t>Vers un Système National d'Intelligence Sanitaire intégrant surveillance épidémiologique, veille informationnelle, communication des risques et engagement communautaire</a:t>
            </a:r>
            <a:endParaRPr lang="en-US" sz="2133" dirty="0"/>
          </a:p>
        </p:txBody>
      </p:sp>
      <p:sp>
        <p:nvSpPr>
          <p:cNvPr id="7" name="Shape 5"/>
          <p:cNvSpPr/>
          <p:nvPr/>
        </p:nvSpPr>
        <p:spPr>
          <a:xfrm>
            <a:off x="13533120" y="5486400"/>
            <a:ext cx="1828800" cy="1828800"/>
          </a:xfrm>
          <a:prstGeom prst="ellipse">
            <a:avLst/>
          </a:prstGeom>
          <a:solidFill>
            <a:srgbClr val="CADCFC"/>
          </a:solidFill>
          <a:ln/>
        </p:spPr>
        <p:txBody>
          <a:bodyPr/>
          <a:lstStyle/>
          <a:p>
            <a:endParaRPr lang="ar-TN" sz="2400"/>
          </a:p>
        </p:txBody>
      </p:sp>
      <p:pic>
        <p:nvPicPr>
          <p:cNvPr id="8" name="Image 0" descr="/home/claude/pptx_project/icons/shield_navy.png"/>
          <p:cNvPicPr>
            <a:picLocks noChangeAspect="1"/>
          </p:cNvPicPr>
          <p:nvPr/>
        </p:nvPicPr>
        <p:blipFill>
          <a:blip r:embed="rId3"/>
          <a:stretch>
            <a:fillRect/>
          </a:stretch>
        </p:blipFill>
        <p:spPr>
          <a:xfrm>
            <a:off x="13770864" y="5724144"/>
            <a:ext cx="1353312" cy="1353312"/>
          </a:xfrm>
          <a:prstGeom prst="rect">
            <a:avLst/>
          </a:prstGeom>
        </p:spPr>
      </p:pic>
      <p:sp>
        <p:nvSpPr>
          <p:cNvPr id="9" name="Text 6"/>
          <p:cNvSpPr/>
          <p:nvPr/>
        </p:nvSpPr>
        <p:spPr>
          <a:xfrm>
            <a:off x="1097280" y="8046720"/>
            <a:ext cx="7315200" cy="487680"/>
          </a:xfrm>
          <a:prstGeom prst="rect">
            <a:avLst/>
          </a:prstGeom>
          <a:noFill/>
          <a:ln/>
        </p:spPr>
        <p:txBody>
          <a:bodyPr wrap="square" rtlCol="0" anchor="ctr"/>
          <a:lstStyle/>
          <a:p>
            <a:r>
              <a:rPr lang="en-US" sz="1600" dirty="0">
                <a:solidFill>
                  <a:srgbClr val="CADCFC"/>
                </a:solidFill>
                <a:latin typeface="Calibri" pitchFamily="34" charset="0"/>
                <a:ea typeface="Calibri" pitchFamily="34" charset="-122"/>
                <a:cs typeface="Calibri" pitchFamily="34" charset="-120"/>
              </a:rPr>
              <a:t>Présentation au Ministre</a:t>
            </a:r>
            <a:endParaRPr lang="en-US" sz="1600" dirty="0"/>
          </a:p>
        </p:txBody>
      </p:sp>
    </p:spTree>
    <p:extLst>
      <p:ext uri="{BB962C8B-B14F-4D97-AF65-F5344CB8AC3E}">
        <p14:creationId xmlns:p14="http://schemas.microsoft.com/office/powerpoint/2010/main" val="2131618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97536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Une nouvelle donne pour la décision sanitaire</a:t>
            </a:r>
            <a:endParaRPr lang="en-US" sz="4000" dirty="0"/>
          </a:p>
        </p:txBody>
      </p:sp>
      <p:sp>
        <p:nvSpPr>
          <p:cNvPr id="3" name="Text 1"/>
          <p:cNvSpPr/>
          <p:nvPr/>
        </p:nvSpPr>
        <p:spPr>
          <a:xfrm>
            <a:off x="853440" y="1645920"/>
            <a:ext cx="14508480" cy="1219200"/>
          </a:xfrm>
          <a:prstGeom prst="rect">
            <a:avLst/>
          </a:prstGeom>
          <a:noFill/>
          <a:ln/>
        </p:spPr>
        <p:txBody>
          <a:bodyPr wrap="square" rtlCol="0" anchor="ctr"/>
          <a:lstStyle/>
          <a:p>
            <a:pPr>
              <a:lnSpc>
                <a:spcPct val="125000"/>
              </a:lnSpc>
            </a:pPr>
            <a:r>
              <a:rPr lang="en-US" sz="2000" dirty="0">
                <a:solidFill>
                  <a:srgbClr val="1A1A2E"/>
                </a:solidFill>
                <a:latin typeface="Calibri" pitchFamily="34" charset="0"/>
                <a:ea typeface="Calibri" pitchFamily="34" charset="-122"/>
                <a:cs typeface="Calibri" pitchFamily="34" charset="-120"/>
              </a:rPr>
              <a:t>Les crises sanitaires du XXIᵉ siècle ne sont plus uniquement biologiques : les phénomènes épidémiologiques évoluent désormais avec des phénomènes informationnels, sociaux et comportementaux. Une épidémie se propage aussi par l'information.</a:t>
            </a:r>
            <a:endParaRPr lang="en-US" sz="2000" dirty="0"/>
          </a:p>
        </p:txBody>
      </p:sp>
      <p:sp>
        <p:nvSpPr>
          <p:cNvPr id="4" name="Shape 2"/>
          <p:cNvSpPr/>
          <p:nvPr/>
        </p:nvSpPr>
        <p:spPr>
          <a:xfrm>
            <a:off x="853440" y="3230880"/>
            <a:ext cx="6969557" cy="4389120"/>
          </a:xfrm>
          <a:prstGeom prst="roundRect">
            <a:avLst>
              <a:gd name="adj" fmla="val 2222"/>
            </a:avLst>
          </a:prstGeom>
          <a:solidFill>
            <a:srgbClr val="F4F6FB"/>
          </a:solidFill>
          <a:ln/>
        </p:spPr>
        <p:txBody>
          <a:bodyPr/>
          <a:lstStyle/>
          <a:p>
            <a:endParaRPr lang="ar-TN" sz="2400"/>
          </a:p>
        </p:txBody>
      </p:sp>
      <p:sp>
        <p:nvSpPr>
          <p:cNvPr id="5" name="Shape 3"/>
          <p:cNvSpPr/>
          <p:nvPr/>
        </p:nvSpPr>
        <p:spPr>
          <a:xfrm>
            <a:off x="1341120" y="3718560"/>
            <a:ext cx="1097280" cy="1097280"/>
          </a:xfrm>
          <a:prstGeom prst="ellipse">
            <a:avLst/>
          </a:prstGeom>
          <a:solidFill>
            <a:srgbClr val="1E2761"/>
          </a:solidFill>
          <a:ln/>
        </p:spPr>
        <p:txBody>
          <a:bodyPr/>
          <a:lstStyle/>
          <a:p>
            <a:endParaRPr lang="ar-TN" sz="2400"/>
          </a:p>
        </p:txBody>
      </p:sp>
      <p:pic>
        <p:nvPicPr>
          <p:cNvPr id="6" name="Image 0" descr="/home/claude/pptx_project/icons/hospital_white.png"/>
          <p:cNvPicPr>
            <a:picLocks noChangeAspect="1"/>
          </p:cNvPicPr>
          <p:nvPr/>
        </p:nvPicPr>
        <p:blipFill>
          <a:blip r:embed="rId3"/>
          <a:stretch>
            <a:fillRect/>
          </a:stretch>
        </p:blipFill>
        <p:spPr>
          <a:xfrm>
            <a:off x="1483767" y="3861207"/>
            <a:ext cx="811987" cy="811987"/>
          </a:xfrm>
          <a:prstGeom prst="rect">
            <a:avLst/>
          </a:prstGeom>
        </p:spPr>
      </p:pic>
      <p:sp>
        <p:nvSpPr>
          <p:cNvPr id="7" name="Text 4"/>
          <p:cNvSpPr/>
          <p:nvPr/>
        </p:nvSpPr>
        <p:spPr>
          <a:xfrm>
            <a:off x="1341120" y="5059680"/>
            <a:ext cx="5994197" cy="487680"/>
          </a:xfrm>
          <a:prstGeom prst="rect">
            <a:avLst/>
          </a:prstGeom>
          <a:noFill/>
          <a:ln/>
        </p:spPr>
        <p:txBody>
          <a:bodyPr wrap="square" rtlCol="0" anchor="ctr"/>
          <a:lstStyle/>
          <a:p>
            <a:r>
              <a:rPr lang="en-US" sz="2533" b="1" dirty="0">
                <a:solidFill>
                  <a:srgbClr val="1E2761"/>
                </a:solidFill>
                <a:latin typeface="Cambria" pitchFamily="34" charset="0"/>
                <a:ea typeface="Cambria" pitchFamily="34" charset="-122"/>
                <a:cs typeface="Cambria" pitchFamily="34" charset="-120"/>
              </a:rPr>
              <a:t>Risque sanitaire</a:t>
            </a:r>
            <a:endParaRPr lang="en-US" sz="2533" dirty="0"/>
          </a:p>
        </p:txBody>
      </p:sp>
      <p:sp>
        <p:nvSpPr>
          <p:cNvPr id="8" name="Text 5"/>
          <p:cNvSpPr/>
          <p:nvPr/>
        </p:nvSpPr>
        <p:spPr>
          <a:xfrm>
            <a:off x="1341120" y="5608320"/>
            <a:ext cx="5994197" cy="1584960"/>
          </a:xfrm>
          <a:prstGeom prst="rect">
            <a:avLst/>
          </a:prstGeom>
          <a:noFill/>
          <a:ln/>
        </p:spPr>
        <p:txBody>
          <a:bodyPr wrap="square" rtlCol="0" anchor="ctr"/>
          <a:lstStyle/>
          <a:p>
            <a:pPr>
              <a:lnSpc>
                <a:spcPct val="125000"/>
              </a:lnSpc>
            </a:pPr>
            <a:r>
              <a:rPr lang="en-US" sz="1867" dirty="0">
                <a:solidFill>
                  <a:srgbClr val="1A1A2E"/>
                </a:solidFill>
                <a:latin typeface="Calibri" pitchFamily="34" charset="0"/>
                <a:ea typeface="Calibri" pitchFamily="34" charset="-122"/>
                <a:cs typeface="Calibri" pitchFamily="34" charset="-120"/>
              </a:rPr>
              <a:t>La maîtrise classique de la menace biologique : surveillance épidémiologique, détection des cas, réponse médicale.</a:t>
            </a:r>
            <a:endParaRPr lang="en-US" sz="1867" dirty="0"/>
          </a:p>
        </p:txBody>
      </p:sp>
      <p:sp>
        <p:nvSpPr>
          <p:cNvPr id="9" name="Shape 6"/>
          <p:cNvSpPr/>
          <p:nvPr/>
        </p:nvSpPr>
        <p:spPr>
          <a:xfrm>
            <a:off x="8432598" y="3230880"/>
            <a:ext cx="6969557" cy="4389120"/>
          </a:xfrm>
          <a:prstGeom prst="roundRect">
            <a:avLst>
              <a:gd name="adj" fmla="val 2222"/>
            </a:avLst>
          </a:prstGeom>
          <a:solidFill>
            <a:srgbClr val="1E2761"/>
          </a:solidFill>
          <a:ln/>
        </p:spPr>
        <p:txBody>
          <a:bodyPr/>
          <a:lstStyle/>
          <a:p>
            <a:endParaRPr lang="ar-TN" sz="2400"/>
          </a:p>
        </p:txBody>
      </p:sp>
      <p:sp>
        <p:nvSpPr>
          <p:cNvPr id="10" name="Shape 7"/>
          <p:cNvSpPr/>
          <p:nvPr/>
        </p:nvSpPr>
        <p:spPr>
          <a:xfrm>
            <a:off x="8920277" y="3718560"/>
            <a:ext cx="1097280" cy="1097280"/>
          </a:xfrm>
          <a:prstGeom prst="ellipse">
            <a:avLst/>
          </a:prstGeom>
          <a:solidFill>
            <a:srgbClr val="CADCFC"/>
          </a:solidFill>
          <a:ln/>
        </p:spPr>
        <p:txBody>
          <a:bodyPr/>
          <a:lstStyle/>
          <a:p>
            <a:endParaRPr lang="ar-TN" sz="2400"/>
          </a:p>
        </p:txBody>
      </p:sp>
      <p:pic>
        <p:nvPicPr>
          <p:cNvPr id="11" name="Image 1" descr="/home/claude/pptx_project/icons/comments_navy.png"/>
          <p:cNvPicPr>
            <a:picLocks noChangeAspect="1"/>
          </p:cNvPicPr>
          <p:nvPr/>
        </p:nvPicPr>
        <p:blipFill>
          <a:blip r:embed="rId4"/>
          <a:stretch>
            <a:fillRect/>
          </a:stretch>
        </p:blipFill>
        <p:spPr>
          <a:xfrm>
            <a:off x="9062923" y="3861207"/>
            <a:ext cx="811987" cy="811987"/>
          </a:xfrm>
          <a:prstGeom prst="rect">
            <a:avLst/>
          </a:prstGeom>
        </p:spPr>
      </p:pic>
      <p:sp>
        <p:nvSpPr>
          <p:cNvPr id="12" name="Text 8"/>
          <p:cNvSpPr/>
          <p:nvPr/>
        </p:nvSpPr>
        <p:spPr>
          <a:xfrm>
            <a:off x="8920278" y="5059680"/>
            <a:ext cx="5994197" cy="487680"/>
          </a:xfrm>
          <a:prstGeom prst="rect">
            <a:avLst/>
          </a:prstGeom>
          <a:noFill/>
          <a:ln/>
        </p:spPr>
        <p:txBody>
          <a:bodyPr wrap="square" rtlCol="0" anchor="ctr"/>
          <a:lstStyle/>
          <a:p>
            <a:r>
              <a:rPr lang="en-US" sz="2533" b="1" dirty="0">
                <a:solidFill>
                  <a:srgbClr val="FFFFFF"/>
                </a:solidFill>
                <a:latin typeface="Cambria" pitchFamily="34" charset="0"/>
                <a:ea typeface="Cambria" pitchFamily="34" charset="-122"/>
                <a:cs typeface="Cambria" pitchFamily="34" charset="-120"/>
              </a:rPr>
              <a:t>Risque informationnel</a:t>
            </a:r>
            <a:endParaRPr lang="en-US" sz="2533" dirty="0"/>
          </a:p>
        </p:txBody>
      </p:sp>
      <p:sp>
        <p:nvSpPr>
          <p:cNvPr id="13" name="Text 9"/>
          <p:cNvSpPr/>
          <p:nvPr/>
        </p:nvSpPr>
        <p:spPr>
          <a:xfrm>
            <a:off x="8920278" y="5608320"/>
            <a:ext cx="5994197" cy="1584960"/>
          </a:xfrm>
          <a:prstGeom prst="rect">
            <a:avLst/>
          </a:prstGeom>
          <a:noFill/>
          <a:ln/>
        </p:spPr>
        <p:txBody>
          <a:bodyPr wrap="square" rtlCol="0" anchor="ctr"/>
          <a:lstStyle/>
          <a:p>
            <a:pPr>
              <a:lnSpc>
                <a:spcPct val="125000"/>
              </a:lnSpc>
            </a:pPr>
            <a:r>
              <a:rPr lang="en-US" sz="1867" dirty="0">
                <a:solidFill>
                  <a:srgbClr val="CADCFC"/>
                </a:solidFill>
                <a:latin typeface="Calibri" pitchFamily="34" charset="0"/>
                <a:ea typeface="Calibri" pitchFamily="34" charset="-122"/>
                <a:cs typeface="Calibri" pitchFamily="34" charset="-120"/>
              </a:rPr>
              <a:t>Rumeurs, désinformation, théories complotistes : elles influencent les comportements individuels et collectifs autant que le risque biologique lui-même.</a:t>
            </a:r>
            <a:endParaRPr lang="en-US" sz="1867" dirty="0"/>
          </a:p>
        </p:txBody>
      </p:sp>
      <p:sp>
        <p:nvSpPr>
          <p:cNvPr id="14" name="Text 10"/>
          <p:cNvSpPr/>
          <p:nvPr/>
        </p:nvSpPr>
        <p:spPr>
          <a:xfrm>
            <a:off x="853440" y="7924800"/>
            <a:ext cx="14508480" cy="731520"/>
          </a:xfrm>
          <a:prstGeom prst="rect">
            <a:avLst/>
          </a:prstGeom>
          <a:noFill/>
          <a:ln/>
        </p:spPr>
        <p:txBody>
          <a:bodyPr wrap="square" rtlCol="0" anchor="ctr"/>
          <a:lstStyle/>
          <a:p>
            <a:r>
              <a:rPr lang="en-US" sz="1733" i="1" dirty="0">
                <a:solidFill>
                  <a:srgbClr val="5B6472"/>
                </a:solidFill>
                <a:latin typeface="Calibri" pitchFamily="34" charset="0"/>
                <a:ea typeface="Calibri" pitchFamily="34" charset="-122"/>
                <a:cs typeface="Calibri" pitchFamily="34" charset="-120"/>
              </a:rPr>
              <a:t>Une décision sanitaire efficace doit désormais intégrer les perceptions, les préoccupations et le niveau de confiance des populations — c'est l'objet de la Stratégie nationale RCCE-IM.</a:t>
            </a:r>
            <a:endParaRPr lang="en-US" sz="1733" dirty="0"/>
          </a:p>
        </p:txBody>
      </p:sp>
      <p:sp>
        <p:nvSpPr>
          <p:cNvPr id="15" name="Text 11"/>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16" name="Text 12"/>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2</a:t>
            </a:r>
            <a:endParaRPr lang="en-US" sz="133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Pourquoi une plateforme dédiée ?</a:t>
            </a:r>
            <a:endParaRPr lang="en-US" sz="4000" dirty="0"/>
          </a:p>
        </p:txBody>
      </p:sp>
      <p:sp>
        <p:nvSpPr>
          <p:cNvPr id="3" name="Text 1"/>
          <p:cNvSpPr/>
          <p:nvPr/>
        </p:nvSpPr>
        <p:spPr>
          <a:xfrm>
            <a:off x="853440" y="1524000"/>
            <a:ext cx="14508480" cy="853440"/>
          </a:xfrm>
          <a:prstGeom prst="rect">
            <a:avLst/>
          </a:prstGeom>
          <a:noFill/>
          <a:ln/>
        </p:spPr>
        <p:txBody>
          <a:bodyPr wrap="square" rtlCol="0" anchor="ctr"/>
          <a:lstStyle/>
          <a:p>
            <a:pPr>
              <a:lnSpc>
                <a:spcPct val="120000"/>
              </a:lnSpc>
            </a:pPr>
            <a:r>
              <a:rPr lang="en-US" sz="2000" dirty="0">
                <a:solidFill>
                  <a:srgbClr val="1A1A2E"/>
                </a:solidFill>
                <a:latin typeface="Calibri" pitchFamily="34" charset="0"/>
                <a:ea typeface="Calibri" pitchFamily="34" charset="-122"/>
                <a:cs typeface="Calibri" pitchFamily="34" charset="-120"/>
              </a:rPr>
              <a:t>La pandémie de COVID-19 a démontré que rumeurs et désinformation peuvent compromettre les interventions sanitaires autant que les risques biologiques eux-mêmes.</a:t>
            </a:r>
            <a:endParaRPr lang="en-US" sz="2000" dirty="0"/>
          </a:p>
        </p:txBody>
      </p:sp>
      <p:sp>
        <p:nvSpPr>
          <p:cNvPr id="4" name="Shape 2"/>
          <p:cNvSpPr/>
          <p:nvPr/>
        </p:nvSpPr>
        <p:spPr>
          <a:xfrm>
            <a:off x="853440" y="2682240"/>
            <a:ext cx="9144000" cy="694944"/>
          </a:xfrm>
          <a:prstGeom prst="roundRect">
            <a:avLst>
              <a:gd name="adj" fmla="val 10526"/>
            </a:avLst>
          </a:prstGeom>
          <a:solidFill>
            <a:srgbClr val="F4F6FB"/>
          </a:solidFill>
          <a:ln/>
        </p:spPr>
        <p:txBody>
          <a:bodyPr/>
          <a:lstStyle/>
          <a:p>
            <a:endParaRPr lang="ar-TN" sz="2400"/>
          </a:p>
        </p:txBody>
      </p:sp>
      <p:sp>
        <p:nvSpPr>
          <p:cNvPr id="5" name="Shape 3"/>
          <p:cNvSpPr/>
          <p:nvPr/>
        </p:nvSpPr>
        <p:spPr>
          <a:xfrm>
            <a:off x="1097280" y="2919984"/>
            <a:ext cx="219456" cy="219456"/>
          </a:xfrm>
          <a:prstGeom prst="ellipse">
            <a:avLst/>
          </a:prstGeom>
          <a:solidFill>
            <a:srgbClr val="1E2761"/>
          </a:solidFill>
          <a:ln/>
        </p:spPr>
        <p:txBody>
          <a:bodyPr/>
          <a:lstStyle/>
          <a:p>
            <a:endParaRPr lang="ar-TN" sz="2400"/>
          </a:p>
        </p:txBody>
      </p:sp>
      <p:sp>
        <p:nvSpPr>
          <p:cNvPr id="6" name="Text 4"/>
          <p:cNvSpPr/>
          <p:nvPr/>
        </p:nvSpPr>
        <p:spPr>
          <a:xfrm>
            <a:off x="1524000" y="2682240"/>
            <a:ext cx="8290560" cy="694944"/>
          </a:xfrm>
          <a:prstGeom prst="rect">
            <a:avLst/>
          </a:prstGeom>
          <a:noFill/>
          <a:ln/>
        </p:spPr>
        <p:txBody>
          <a:bodyPr wrap="square" rtlCol="0" anchor="ctr"/>
          <a:lstStyle/>
          <a:p>
            <a:r>
              <a:rPr lang="en-US" sz="1867" dirty="0">
                <a:solidFill>
                  <a:srgbClr val="1A1A2E"/>
                </a:solidFill>
                <a:latin typeface="Calibri" pitchFamily="34" charset="0"/>
                <a:ea typeface="Calibri" pitchFamily="34" charset="-122"/>
                <a:cs typeface="Calibri" pitchFamily="34" charset="-120"/>
              </a:rPr>
              <a:t>Baisse de la couverture vaccinale</a:t>
            </a:r>
            <a:endParaRPr lang="en-US" sz="1867" dirty="0"/>
          </a:p>
        </p:txBody>
      </p:sp>
      <p:sp>
        <p:nvSpPr>
          <p:cNvPr id="7" name="Shape 5"/>
          <p:cNvSpPr/>
          <p:nvPr/>
        </p:nvSpPr>
        <p:spPr>
          <a:xfrm>
            <a:off x="853440" y="3560064"/>
            <a:ext cx="9144000" cy="694944"/>
          </a:xfrm>
          <a:prstGeom prst="roundRect">
            <a:avLst>
              <a:gd name="adj" fmla="val 10526"/>
            </a:avLst>
          </a:prstGeom>
          <a:solidFill>
            <a:srgbClr val="F4F6FB"/>
          </a:solidFill>
          <a:ln/>
        </p:spPr>
        <p:txBody>
          <a:bodyPr/>
          <a:lstStyle/>
          <a:p>
            <a:endParaRPr lang="ar-TN" sz="2400"/>
          </a:p>
        </p:txBody>
      </p:sp>
      <p:sp>
        <p:nvSpPr>
          <p:cNvPr id="8" name="Shape 6"/>
          <p:cNvSpPr/>
          <p:nvPr/>
        </p:nvSpPr>
        <p:spPr>
          <a:xfrm>
            <a:off x="1097280" y="3797808"/>
            <a:ext cx="219456" cy="219456"/>
          </a:xfrm>
          <a:prstGeom prst="ellipse">
            <a:avLst/>
          </a:prstGeom>
          <a:solidFill>
            <a:srgbClr val="1E2761"/>
          </a:solidFill>
          <a:ln/>
        </p:spPr>
        <p:txBody>
          <a:bodyPr/>
          <a:lstStyle/>
          <a:p>
            <a:endParaRPr lang="ar-TN" sz="2400"/>
          </a:p>
        </p:txBody>
      </p:sp>
      <p:sp>
        <p:nvSpPr>
          <p:cNvPr id="9" name="Text 7"/>
          <p:cNvSpPr/>
          <p:nvPr/>
        </p:nvSpPr>
        <p:spPr>
          <a:xfrm>
            <a:off x="1524000" y="3560064"/>
            <a:ext cx="8290560" cy="694944"/>
          </a:xfrm>
          <a:prstGeom prst="rect">
            <a:avLst/>
          </a:prstGeom>
          <a:noFill/>
          <a:ln/>
        </p:spPr>
        <p:txBody>
          <a:bodyPr wrap="square" rtlCol="0" anchor="ctr"/>
          <a:lstStyle/>
          <a:p>
            <a:r>
              <a:rPr lang="en-US" sz="1867" dirty="0">
                <a:solidFill>
                  <a:srgbClr val="1A1A2E"/>
                </a:solidFill>
                <a:latin typeface="Calibri" pitchFamily="34" charset="0"/>
                <a:ea typeface="Calibri" pitchFamily="34" charset="-122"/>
                <a:cs typeface="Calibri" pitchFamily="34" charset="-120"/>
              </a:rPr>
              <a:t>Recours à des traitements non validés</a:t>
            </a:r>
            <a:endParaRPr lang="en-US" sz="1867" dirty="0"/>
          </a:p>
        </p:txBody>
      </p:sp>
      <p:sp>
        <p:nvSpPr>
          <p:cNvPr id="10" name="Shape 8"/>
          <p:cNvSpPr/>
          <p:nvPr/>
        </p:nvSpPr>
        <p:spPr>
          <a:xfrm>
            <a:off x="853440" y="4437888"/>
            <a:ext cx="9144000" cy="694944"/>
          </a:xfrm>
          <a:prstGeom prst="roundRect">
            <a:avLst>
              <a:gd name="adj" fmla="val 10526"/>
            </a:avLst>
          </a:prstGeom>
          <a:solidFill>
            <a:srgbClr val="F4F6FB"/>
          </a:solidFill>
          <a:ln/>
        </p:spPr>
        <p:txBody>
          <a:bodyPr/>
          <a:lstStyle/>
          <a:p>
            <a:endParaRPr lang="ar-TN" sz="2400"/>
          </a:p>
        </p:txBody>
      </p:sp>
      <p:sp>
        <p:nvSpPr>
          <p:cNvPr id="11" name="Shape 9"/>
          <p:cNvSpPr/>
          <p:nvPr/>
        </p:nvSpPr>
        <p:spPr>
          <a:xfrm>
            <a:off x="1097280" y="4675632"/>
            <a:ext cx="219456" cy="219456"/>
          </a:xfrm>
          <a:prstGeom prst="ellipse">
            <a:avLst/>
          </a:prstGeom>
          <a:solidFill>
            <a:srgbClr val="1E2761"/>
          </a:solidFill>
          <a:ln/>
        </p:spPr>
        <p:txBody>
          <a:bodyPr/>
          <a:lstStyle/>
          <a:p>
            <a:endParaRPr lang="ar-TN" sz="2400"/>
          </a:p>
        </p:txBody>
      </p:sp>
      <p:sp>
        <p:nvSpPr>
          <p:cNvPr id="12" name="Text 10"/>
          <p:cNvSpPr/>
          <p:nvPr/>
        </p:nvSpPr>
        <p:spPr>
          <a:xfrm>
            <a:off x="1524000" y="4437888"/>
            <a:ext cx="8290560" cy="694944"/>
          </a:xfrm>
          <a:prstGeom prst="rect">
            <a:avLst/>
          </a:prstGeom>
          <a:noFill/>
          <a:ln/>
        </p:spPr>
        <p:txBody>
          <a:bodyPr wrap="square" rtlCol="0" anchor="ctr"/>
          <a:lstStyle/>
          <a:p>
            <a:r>
              <a:rPr lang="en-US" sz="1867" dirty="0">
                <a:solidFill>
                  <a:srgbClr val="1A1A2E"/>
                </a:solidFill>
                <a:latin typeface="Calibri" pitchFamily="34" charset="0"/>
                <a:ea typeface="Calibri" pitchFamily="34" charset="-122"/>
                <a:cs typeface="Calibri" pitchFamily="34" charset="-120"/>
              </a:rPr>
              <a:t>Retard de consultation médicale</a:t>
            </a:r>
            <a:endParaRPr lang="en-US" sz="1867" dirty="0"/>
          </a:p>
        </p:txBody>
      </p:sp>
      <p:sp>
        <p:nvSpPr>
          <p:cNvPr id="13" name="Shape 11"/>
          <p:cNvSpPr/>
          <p:nvPr/>
        </p:nvSpPr>
        <p:spPr>
          <a:xfrm>
            <a:off x="853440" y="5315712"/>
            <a:ext cx="9144000" cy="694944"/>
          </a:xfrm>
          <a:prstGeom prst="roundRect">
            <a:avLst>
              <a:gd name="adj" fmla="val 10526"/>
            </a:avLst>
          </a:prstGeom>
          <a:solidFill>
            <a:srgbClr val="F4F6FB"/>
          </a:solidFill>
          <a:ln/>
        </p:spPr>
        <p:txBody>
          <a:bodyPr/>
          <a:lstStyle/>
          <a:p>
            <a:endParaRPr lang="ar-TN" sz="2400"/>
          </a:p>
        </p:txBody>
      </p:sp>
      <p:sp>
        <p:nvSpPr>
          <p:cNvPr id="14" name="Shape 12"/>
          <p:cNvSpPr/>
          <p:nvPr/>
        </p:nvSpPr>
        <p:spPr>
          <a:xfrm>
            <a:off x="1097280" y="5553456"/>
            <a:ext cx="219456" cy="219456"/>
          </a:xfrm>
          <a:prstGeom prst="ellipse">
            <a:avLst/>
          </a:prstGeom>
          <a:solidFill>
            <a:srgbClr val="1E2761"/>
          </a:solidFill>
          <a:ln/>
        </p:spPr>
        <p:txBody>
          <a:bodyPr/>
          <a:lstStyle/>
          <a:p>
            <a:endParaRPr lang="ar-TN" sz="2400"/>
          </a:p>
        </p:txBody>
      </p:sp>
      <p:sp>
        <p:nvSpPr>
          <p:cNvPr id="15" name="Text 13"/>
          <p:cNvSpPr/>
          <p:nvPr/>
        </p:nvSpPr>
        <p:spPr>
          <a:xfrm>
            <a:off x="1524000" y="5315712"/>
            <a:ext cx="8290560" cy="694944"/>
          </a:xfrm>
          <a:prstGeom prst="rect">
            <a:avLst/>
          </a:prstGeom>
          <a:noFill/>
          <a:ln/>
        </p:spPr>
        <p:txBody>
          <a:bodyPr wrap="square" rtlCol="0" anchor="ctr"/>
          <a:lstStyle/>
          <a:p>
            <a:r>
              <a:rPr lang="en-US" sz="1867" dirty="0">
                <a:solidFill>
                  <a:srgbClr val="1A1A2E"/>
                </a:solidFill>
                <a:latin typeface="Calibri" pitchFamily="34" charset="0"/>
                <a:ea typeface="Calibri" pitchFamily="34" charset="-122"/>
                <a:cs typeface="Calibri" pitchFamily="34" charset="-120"/>
              </a:rPr>
              <a:t>Méfiance envers les institutions</a:t>
            </a:r>
            <a:endParaRPr lang="en-US" sz="1867" dirty="0"/>
          </a:p>
        </p:txBody>
      </p:sp>
      <p:sp>
        <p:nvSpPr>
          <p:cNvPr id="16" name="Shape 14"/>
          <p:cNvSpPr/>
          <p:nvPr/>
        </p:nvSpPr>
        <p:spPr>
          <a:xfrm>
            <a:off x="853440" y="6193536"/>
            <a:ext cx="9144000" cy="694944"/>
          </a:xfrm>
          <a:prstGeom prst="roundRect">
            <a:avLst>
              <a:gd name="adj" fmla="val 10526"/>
            </a:avLst>
          </a:prstGeom>
          <a:solidFill>
            <a:srgbClr val="F4F6FB"/>
          </a:solidFill>
          <a:ln/>
        </p:spPr>
        <p:txBody>
          <a:bodyPr/>
          <a:lstStyle/>
          <a:p>
            <a:endParaRPr lang="ar-TN" sz="2400"/>
          </a:p>
        </p:txBody>
      </p:sp>
      <p:sp>
        <p:nvSpPr>
          <p:cNvPr id="17" name="Shape 15"/>
          <p:cNvSpPr/>
          <p:nvPr/>
        </p:nvSpPr>
        <p:spPr>
          <a:xfrm>
            <a:off x="1097280" y="6431280"/>
            <a:ext cx="219456" cy="219456"/>
          </a:xfrm>
          <a:prstGeom prst="ellipse">
            <a:avLst/>
          </a:prstGeom>
          <a:solidFill>
            <a:srgbClr val="1E2761"/>
          </a:solidFill>
          <a:ln/>
        </p:spPr>
        <p:txBody>
          <a:bodyPr/>
          <a:lstStyle/>
          <a:p>
            <a:endParaRPr lang="ar-TN" sz="2400"/>
          </a:p>
        </p:txBody>
      </p:sp>
      <p:sp>
        <p:nvSpPr>
          <p:cNvPr id="18" name="Text 16"/>
          <p:cNvSpPr/>
          <p:nvPr/>
        </p:nvSpPr>
        <p:spPr>
          <a:xfrm>
            <a:off x="1524000" y="6193536"/>
            <a:ext cx="8290560" cy="694944"/>
          </a:xfrm>
          <a:prstGeom prst="rect">
            <a:avLst/>
          </a:prstGeom>
          <a:noFill/>
          <a:ln/>
        </p:spPr>
        <p:txBody>
          <a:bodyPr wrap="square" rtlCol="0" anchor="ctr"/>
          <a:lstStyle/>
          <a:p>
            <a:r>
              <a:rPr lang="en-US" sz="1867" dirty="0">
                <a:solidFill>
                  <a:srgbClr val="1A1A2E"/>
                </a:solidFill>
                <a:latin typeface="Calibri" pitchFamily="34" charset="0"/>
                <a:ea typeface="Calibri" pitchFamily="34" charset="-122"/>
                <a:cs typeface="Calibri" pitchFamily="34" charset="-120"/>
              </a:rPr>
              <a:t>Amplification de la peur ou banalisation des risques</a:t>
            </a:r>
            <a:endParaRPr lang="en-US" sz="1867" dirty="0"/>
          </a:p>
        </p:txBody>
      </p:sp>
      <p:sp>
        <p:nvSpPr>
          <p:cNvPr id="19" name="Shape 17"/>
          <p:cNvSpPr/>
          <p:nvPr/>
        </p:nvSpPr>
        <p:spPr>
          <a:xfrm>
            <a:off x="10424160" y="2682240"/>
            <a:ext cx="4937760" cy="4206240"/>
          </a:xfrm>
          <a:prstGeom prst="roundRect">
            <a:avLst>
              <a:gd name="adj" fmla="val 2319"/>
            </a:avLst>
          </a:prstGeom>
          <a:solidFill>
            <a:srgbClr val="1E2761"/>
          </a:solidFill>
          <a:ln/>
        </p:spPr>
        <p:txBody>
          <a:bodyPr/>
          <a:lstStyle/>
          <a:p>
            <a:endParaRPr lang="ar-TN" sz="2400"/>
          </a:p>
        </p:txBody>
      </p:sp>
      <p:sp>
        <p:nvSpPr>
          <p:cNvPr id="20" name="Shape 18"/>
          <p:cNvSpPr/>
          <p:nvPr/>
        </p:nvSpPr>
        <p:spPr>
          <a:xfrm>
            <a:off x="10850880" y="3108960"/>
            <a:ext cx="975360" cy="975360"/>
          </a:xfrm>
          <a:prstGeom prst="ellipse">
            <a:avLst/>
          </a:prstGeom>
          <a:solidFill>
            <a:srgbClr val="CADCFC"/>
          </a:solidFill>
          <a:ln/>
        </p:spPr>
        <p:txBody>
          <a:bodyPr/>
          <a:lstStyle/>
          <a:p>
            <a:endParaRPr lang="ar-TN" sz="2400"/>
          </a:p>
        </p:txBody>
      </p:sp>
      <p:pic>
        <p:nvPicPr>
          <p:cNvPr id="21" name="Image 0" descr="/home/claude/pptx_project/icons/radar_navy.png"/>
          <p:cNvPicPr>
            <a:picLocks noChangeAspect="1"/>
          </p:cNvPicPr>
          <p:nvPr/>
        </p:nvPicPr>
        <p:blipFill>
          <a:blip r:embed="rId3"/>
          <a:stretch>
            <a:fillRect/>
          </a:stretch>
        </p:blipFill>
        <p:spPr>
          <a:xfrm>
            <a:off x="10977678" y="3235758"/>
            <a:ext cx="721767" cy="721767"/>
          </a:xfrm>
          <a:prstGeom prst="rect">
            <a:avLst/>
          </a:prstGeom>
        </p:spPr>
      </p:pic>
      <p:sp>
        <p:nvSpPr>
          <p:cNvPr id="22" name="Text 19"/>
          <p:cNvSpPr/>
          <p:nvPr/>
        </p:nvSpPr>
        <p:spPr>
          <a:xfrm>
            <a:off x="10850880" y="4023360"/>
            <a:ext cx="4145280" cy="1219200"/>
          </a:xfrm>
          <a:prstGeom prst="rect">
            <a:avLst/>
          </a:prstGeom>
          <a:noFill/>
          <a:ln/>
        </p:spPr>
        <p:txBody>
          <a:bodyPr wrap="square" rtlCol="0" anchor="ctr"/>
          <a:lstStyle/>
          <a:p>
            <a:pPr>
              <a:lnSpc>
                <a:spcPct val="115000"/>
              </a:lnSpc>
            </a:pPr>
            <a:r>
              <a:rPr lang="en-US" sz="2000" b="1" dirty="0">
                <a:solidFill>
                  <a:srgbClr val="FFFFFF"/>
                </a:solidFill>
                <a:latin typeface="Cambria" pitchFamily="34" charset="0"/>
                <a:ea typeface="Cambria" pitchFamily="34" charset="-122"/>
                <a:cs typeface="Cambria" pitchFamily="34" charset="-120"/>
              </a:rPr>
              <a:t>Un signal précoce, pas seulement un problème</a:t>
            </a:r>
            <a:endParaRPr lang="en-US" sz="2000" dirty="0"/>
          </a:p>
        </p:txBody>
      </p:sp>
      <p:sp>
        <p:nvSpPr>
          <p:cNvPr id="23" name="Text 20"/>
          <p:cNvSpPr/>
          <p:nvPr/>
        </p:nvSpPr>
        <p:spPr>
          <a:xfrm>
            <a:off x="10850880" y="5120640"/>
            <a:ext cx="4145280" cy="1950720"/>
          </a:xfrm>
          <a:prstGeom prst="rect">
            <a:avLst/>
          </a:prstGeom>
          <a:noFill/>
          <a:ln/>
        </p:spPr>
        <p:txBody>
          <a:bodyPr wrap="square" rtlCol="0" anchor="ctr"/>
          <a:lstStyle/>
          <a:p>
            <a:pPr>
              <a:lnSpc>
                <a:spcPct val="125000"/>
              </a:lnSpc>
            </a:pPr>
            <a:r>
              <a:rPr lang="en-US" sz="1667" dirty="0">
                <a:solidFill>
                  <a:srgbClr val="CADCFC"/>
                </a:solidFill>
                <a:latin typeface="Calibri" pitchFamily="34" charset="0"/>
                <a:ea typeface="Calibri" pitchFamily="34" charset="-122"/>
                <a:cs typeface="Calibri" pitchFamily="34" charset="-120"/>
              </a:rPr>
              <a:t>Les rumeurs précèdent souvent la détection par les systèmes classiques de surveillance : elles deviennent un véritable outil de veille sanitaire.</a:t>
            </a:r>
            <a:endParaRPr lang="en-US" sz="1667" dirty="0"/>
          </a:p>
        </p:txBody>
      </p:sp>
      <p:sp>
        <p:nvSpPr>
          <p:cNvPr id="24" name="Text 21"/>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25" name="Text 22"/>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3</a:t>
            </a:r>
            <a:endParaRPr lang="en-US" sz="133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1097280"/>
          </a:xfrm>
          <a:prstGeom prst="rect">
            <a:avLst/>
          </a:prstGeom>
          <a:noFill/>
          <a:ln/>
        </p:spPr>
        <p:txBody>
          <a:bodyPr wrap="square" rtlCol="0" anchor="ctr"/>
          <a:lstStyle/>
          <a:p>
            <a:r>
              <a:rPr lang="en-US" sz="3600" b="1" dirty="0">
                <a:solidFill>
                  <a:srgbClr val="FFFFFF"/>
                </a:solidFill>
                <a:latin typeface="Cambria" pitchFamily="34" charset="0"/>
                <a:ea typeface="Cambria" pitchFamily="34" charset="-122"/>
                <a:cs typeface="Cambria" pitchFamily="34" charset="-120"/>
              </a:rPr>
              <a:t>Notre ambition : un Système National d'Intelligence Sanitaire</a:t>
            </a:r>
            <a:endParaRPr lang="en-US" sz="3600" dirty="0"/>
          </a:p>
        </p:txBody>
      </p:sp>
      <p:sp>
        <p:nvSpPr>
          <p:cNvPr id="3" name="Text 1"/>
          <p:cNvSpPr/>
          <p:nvPr/>
        </p:nvSpPr>
        <p:spPr>
          <a:xfrm>
            <a:off x="853440" y="1645920"/>
            <a:ext cx="14508480" cy="487680"/>
          </a:xfrm>
          <a:prstGeom prst="rect">
            <a:avLst/>
          </a:prstGeom>
          <a:noFill/>
          <a:ln/>
        </p:spPr>
        <p:txBody>
          <a:bodyPr wrap="square" rtlCol="0" anchor="ctr"/>
          <a:lstStyle/>
          <a:p>
            <a:r>
              <a:rPr lang="en-US" sz="2000" dirty="0">
                <a:solidFill>
                  <a:srgbClr val="CADCFC"/>
                </a:solidFill>
                <a:latin typeface="Calibri" pitchFamily="34" charset="0"/>
                <a:ea typeface="Calibri" pitchFamily="34" charset="-122"/>
                <a:cs typeface="Calibri" pitchFamily="34" charset="-120"/>
              </a:rPr>
              <a:t>Capable d'intégrer en temps réel :</a:t>
            </a:r>
            <a:endParaRPr lang="en-US" sz="2000" dirty="0"/>
          </a:p>
        </p:txBody>
      </p:sp>
      <p:sp>
        <p:nvSpPr>
          <p:cNvPr id="4" name="Shape 2"/>
          <p:cNvSpPr/>
          <p:nvPr/>
        </p:nvSpPr>
        <p:spPr>
          <a:xfrm>
            <a:off x="853440" y="2438400"/>
            <a:ext cx="4693920" cy="1402080"/>
          </a:xfrm>
          <a:prstGeom prst="roundRect">
            <a:avLst>
              <a:gd name="adj" fmla="val 6087"/>
            </a:avLst>
          </a:prstGeom>
          <a:solidFill>
            <a:srgbClr val="26306E"/>
          </a:solidFill>
          <a:ln/>
        </p:spPr>
        <p:txBody>
          <a:bodyPr/>
          <a:lstStyle/>
          <a:p>
            <a:endParaRPr lang="ar-TN" sz="2400"/>
          </a:p>
        </p:txBody>
      </p:sp>
      <p:sp>
        <p:nvSpPr>
          <p:cNvPr id="5" name="Shape 3"/>
          <p:cNvSpPr/>
          <p:nvPr/>
        </p:nvSpPr>
        <p:spPr>
          <a:xfrm>
            <a:off x="1121664" y="2968752"/>
            <a:ext cx="341376" cy="341376"/>
          </a:xfrm>
          <a:prstGeom prst="ellipse">
            <a:avLst/>
          </a:prstGeom>
          <a:solidFill>
            <a:srgbClr val="CADCFC"/>
          </a:solidFill>
          <a:ln/>
        </p:spPr>
        <p:txBody>
          <a:bodyPr/>
          <a:lstStyle/>
          <a:p>
            <a:endParaRPr lang="ar-TN" sz="2400"/>
          </a:p>
        </p:txBody>
      </p:sp>
      <p:sp>
        <p:nvSpPr>
          <p:cNvPr id="6" name="Text 4"/>
          <p:cNvSpPr/>
          <p:nvPr/>
        </p:nvSpPr>
        <p:spPr>
          <a:xfrm>
            <a:off x="1645920" y="2438400"/>
            <a:ext cx="3657600" cy="1402080"/>
          </a:xfrm>
          <a:prstGeom prst="rect">
            <a:avLst/>
          </a:prstGeom>
          <a:noFill/>
          <a:ln/>
        </p:spPr>
        <p:txBody>
          <a:bodyPr wrap="square" rtlCol="0" anchor="ctr"/>
          <a:lstStyle/>
          <a:p>
            <a:pPr>
              <a:lnSpc>
                <a:spcPct val="110000"/>
              </a:lnSpc>
            </a:pPr>
            <a:r>
              <a:rPr lang="en-US" sz="1733" dirty="0">
                <a:solidFill>
                  <a:srgbClr val="FFFFFF"/>
                </a:solidFill>
                <a:latin typeface="Calibri" pitchFamily="34" charset="0"/>
                <a:ea typeface="Calibri" pitchFamily="34" charset="-122"/>
                <a:cs typeface="Calibri" pitchFamily="34" charset="-120"/>
              </a:rPr>
              <a:t>Données épidémiologiques</a:t>
            </a:r>
            <a:endParaRPr lang="en-US" sz="1733" dirty="0"/>
          </a:p>
        </p:txBody>
      </p:sp>
      <p:sp>
        <p:nvSpPr>
          <p:cNvPr id="7" name="Shape 5"/>
          <p:cNvSpPr/>
          <p:nvPr/>
        </p:nvSpPr>
        <p:spPr>
          <a:xfrm>
            <a:off x="5852160" y="2438400"/>
            <a:ext cx="4693920" cy="1402080"/>
          </a:xfrm>
          <a:prstGeom prst="roundRect">
            <a:avLst>
              <a:gd name="adj" fmla="val 6087"/>
            </a:avLst>
          </a:prstGeom>
          <a:solidFill>
            <a:srgbClr val="26306E"/>
          </a:solidFill>
          <a:ln/>
        </p:spPr>
        <p:txBody>
          <a:bodyPr/>
          <a:lstStyle/>
          <a:p>
            <a:endParaRPr lang="ar-TN" sz="2400"/>
          </a:p>
        </p:txBody>
      </p:sp>
      <p:sp>
        <p:nvSpPr>
          <p:cNvPr id="8" name="Shape 6"/>
          <p:cNvSpPr/>
          <p:nvPr/>
        </p:nvSpPr>
        <p:spPr>
          <a:xfrm>
            <a:off x="6120384" y="2968752"/>
            <a:ext cx="341376" cy="341376"/>
          </a:xfrm>
          <a:prstGeom prst="ellipse">
            <a:avLst/>
          </a:prstGeom>
          <a:solidFill>
            <a:srgbClr val="CADCFC"/>
          </a:solidFill>
          <a:ln/>
        </p:spPr>
        <p:txBody>
          <a:bodyPr/>
          <a:lstStyle/>
          <a:p>
            <a:endParaRPr lang="ar-TN" sz="2400"/>
          </a:p>
        </p:txBody>
      </p:sp>
      <p:sp>
        <p:nvSpPr>
          <p:cNvPr id="9" name="Text 7"/>
          <p:cNvSpPr/>
          <p:nvPr/>
        </p:nvSpPr>
        <p:spPr>
          <a:xfrm>
            <a:off x="6644640" y="2438400"/>
            <a:ext cx="3657600" cy="1402080"/>
          </a:xfrm>
          <a:prstGeom prst="rect">
            <a:avLst/>
          </a:prstGeom>
          <a:noFill/>
          <a:ln/>
        </p:spPr>
        <p:txBody>
          <a:bodyPr wrap="square" rtlCol="0" anchor="ctr"/>
          <a:lstStyle/>
          <a:p>
            <a:pPr>
              <a:lnSpc>
                <a:spcPct val="110000"/>
              </a:lnSpc>
            </a:pPr>
            <a:r>
              <a:rPr lang="en-US" sz="1733" dirty="0">
                <a:solidFill>
                  <a:srgbClr val="FFFFFF"/>
                </a:solidFill>
                <a:latin typeface="Calibri" pitchFamily="34" charset="0"/>
                <a:ea typeface="Calibri" pitchFamily="34" charset="-122"/>
                <a:cs typeface="Calibri" pitchFamily="34" charset="-120"/>
              </a:rPr>
              <a:t>Signaux de surveillance basée sur les événements</a:t>
            </a:r>
            <a:endParaRPr lang="en-US" sz="1733" dirty="0"/>
          </a:p>
        </p:txBody>
      </p:sp>
      <p:sp>
        <p:nvSpPr>
          <p:cNvPr id="10" name="Shape 8"/>
          <p:cNvSpPr/>
          <p:nvPr/>
        </p:nvSpPr>
        <p:spPr>
          <a:xfrm>
            <a:off x="10850880" y="2438400"/>
            <a:ext cx="4693920" cy="1402080"/>
          </a:xfrm>
          <a:prstGeom prst="roundRect">
            <a:avLst>
              <a:gd name="adj" fmla="val 6087"/>
            </a:avLst>
          </a:prstGeom>
          <a:solidFill>
            <a:srgbClr val="26306E"/>
          </a:solidFill>
          <a:ln/>
        </p:spPr>
        <p:txBody>
          <a:bodyPr/>
          <a:lstStyle/>
          <a:p>
            <a:endParaRPr lang="ar-TN" sz="2400"/>
          </a:p>
        </p:txBody>
      </p:sp>
      <p:sp>
        <p:nvSpPr>
          <p:cNvPr id="11" name="Shape 9"/>
          <p:cNvSpPr/>
          <p:nvPr/>
        </p:nvSpPr>
        <p:spPr>
          <a:xfrm>
            <a:off x="11119104" y="2968752"/>
            <a:ext cx="341376" cy="341376"/>
          </a:xfrm>
          <a:prstGeom prst="ellipse">
            <a:avLst/>
          </a:prstGeom>
          <a:solidFill>
            <a:srgbClr val="CADCFC"/>
          </a:solidFill>
          <a:ln/>
        </p:spPr>
        <p:txBody>
          <a:bodyPr/>
          <a:lstStyle/>
          <a:p>
            <a:endParaRPr lang="ar-TN" sz="2400"/>
          </a:p>
        </p:txBody>
      </p:sp>
      <p:sp>
        <p:nvSpPr>
          <p:cNvPr id="12" name="Text 10"/>
          <p:cNvSpPr/>
          <p:nvPr/>
        </p:nvSpPr>
        <p:spPr>
          <a:xfrm>
            <a:off x="11643360" y="2438400"/>
            <a:ext cx="3657600" cy="1402080"/>
          </a:xfrm>
          <a:prstGeom prst="rect">
            <a:avLst/>
          </a:prstGeom>
          <a:noFill/>
          <a:ln/>
        </p:spPr>
        <p:txBody>
          <a:bodyPr wrap="square" rtlCol="0" anchor="ctr"/>
          <a:lstStyle/>
          <a:p>
            <a:pPr>
              <a:lnSpc>
                <a:spcPct val="110000"/>
              </a:lnSpc>
            </a:pPr>
            <a:r>
              <a:rPr lang="en-US" sz="1733" dirty="0">
                <a:solidFill>
                  <a:srgbClr val="FFFFFF"/>
                </a:solidFill>
                <a:latin typeface="Calibri" pitchFamily="34" charset="0"/>
                <a:ea typeface="Calibri" pitchFamily="34" charset="-122"/>
                <a:cs typeface="Calibri" pitchFamily="34" charset="-120"/>
              </a:rPr>
              <a:t>Informations des médias et réseaux sociaux</a:t>
            </a:r>
            <a:endParaRPr lang="en-US" sz="1733" dirty="0"/>
          </a:p>
        </p:txBody>
      </p:sp>
      <p:sp>
        <p:nvSpPr>
          <p:cNvPr id="13" name="Shape 11"/>
          <p:cNvSpPr/>
          <p:nvPr/>
        </p:nvSpPr>
        <p:spPr>
          <a:xfrm>
            <a:off x="853440" y="4145280"/>
            <a:ext cx="4693920" cy="1402080"/>
          </a:xfrm>
          <a:prstGeom prst="roundRect">
            <a:avLst>
              <a:gd name="adj" fmla="val 6087"/>
            </a:avLst>
          </a:prstGeom>
          <a:solidFill>
            <a:srgbClr val="26306E"/>
          </a:solidFill>
          <a:ln/>
        </p:spPr>
        <p:txBody>
          <a:bodyPr/>
          <a:lstStyle/>
          <a:p>
            <a:endParaRPr lang="ar-TN" sz="2400"/>
          </a:p>
        </p:txBody>
      </p:sp>
      <p:sp>
        <p:nvSpPr>
          <p:cNvPr id="14" name="Shape 12"/>
          <p:cNvSpPr/>
          <p:nvPr/>
        </p:nvSpPr>
        <p:spPr>
          <a:xfrm>
            <a:off x="1121664" y="4675632"/>
            <a:ext cx="341376" cy="341376"/>
          </a:xfrm>
          <a:prstGeom prst="ellipse">
            <a:avLst/>
          </a:prstGeom>
          <a:solidFill>
            <a:srgbClr val="CADCFC"/>
          </a:solidFill>
          <a:ln/>
        </p:spPr>
        <p:txBody>
          <a:bodyPr/>
          <a:lstStyle/>
          <a:p>
            <a:endParaRPr lang="ar-TN" sz="2400"/>
          </a:p>
        </p:txBody>
      </p:sp>
      <p:sp>
        <p:nvSpPr>
          <p:cNvPr id="15" name="Text 13"/>
          <p:cNvSpPr/>
          <p:nvPr/>
        </p:nvSpPr>
        <p:spPr>
          <a:xfrm>
            <a:off x="1645920" y="4145280"/>
            <a:ext cx="3657600" cy="1402080"/>
          </a:xfrm>
          <a:prstGeom prst="rect">
            <a:avLst/>
          </a:prstGeom>
          <a:noFill/>
          <a:ln/>
        </p:spPr>
        <p:txBody>
          <a:bodyPr wrap="square" rtlCol="0" anchor="ctr"/>
          <a:lstStyle/>
          <a:p>
            <a:pPr>
              <a:lnSpc>
                <a:spcPct val="110000"/>
              </a:lnSpc>
            </a:pPr>
            <a:r>
              <a:rPr lang="en-US" sz="1733" dirty="0">
                <a:solidFill>
                  <a:srgbClr val="FFFFFF"/>
                </a:solidFill>
                <a:latin typeface="Calibri" pitchFamily="34" charset="0"/>
                <a:ea typeface="Calibri" pitchFamily="34" charset="-122"/>
                <a:cs typeface="Calibri" pitchFamily="34" charset="-120"/>
              </a:rPr>
              <a:t>Perceptions et préoccupations des communautés</a:t>
            </a:r>
            <a:endParaRPr lang="en-US" sz="1733" dirty="0"/>
          </a:p>
        </p:txBody>
      </p:sp>
      <p:sp>
        <p:nvSpPr>
          <p:cNvPr id="16" name="Shape 14"/>
          <p:cNvSpPr/>
          <p:nvPr/>
        </p:nvSpPr>
        <p:spPr>
          <a:xfrm>
            <a:off x="5852160" y="4145280"/>
            <a:ext cx="4693920" cy="1402080"/>
          </a:xfrm>
          <a:prstGeom prst="roundRect">
            <a:avLst>
              <a:gd name="adj" fmla="val 6087"/>
            </a:avLst>
          </a:prstGeom>
          <a:solidFill>
            <a:srgbClr val="26306E"/>
          </a:solidFill>
          <a:ln/>
        </p:spPr>
        <p:txBody>
          <a:bodyPr/>
          <a:lstStyle/>
          <a:p>
            <a:endParaRPr lang="ar-TN" sz="2400"/>
          </a:p>
        </p:txBody>
      </p:sp>
      <p:sp>
        <p:nvSpPr>
          <p:cNvPr id="17" name="Shape 15"/>
          <p:cNvSpPr/>
          <p:nvPr/>
        </p:nvSpPr>
        <p:spPr>
          <a:xfrm>
            <a:off x="6120384" y="4675632"/>
            <a:ext cx="341376" cy="341376"/>
          </a:xfrm>
          <a:prstGeom prst="ellipse">
            <a:avLst/>
          </a:prstGeom>
          <a:solidFill>
            <a:srgbClr val="CADCFC"/>
          </a:solidFill>
          <a:ln/>
        </p:spPr>
        <p:txBody>
          <a:bodyPr/>
          <a:lstStyle/>
          <a:p>
            <a:endParaRPr lang="ar-TN" sz="2400"/>
          </a:p>
        </p:txBody>
      </p:sp>
      <p:sp>
        <p:nvSpPr>
          <p:cNvPr id="18" name="Text 16"/>
          <p:cNvSpPr/>
          <p:nvPr/>
        </p:nvSpPr>
        <p:spPr>
          <a:xfrm>
            <a:off x="6644640" y="4145280"/>
            <a:ext cx="3657600" cy="1402080"/>
          </a:xfrm>
          <a:prstGeom prst="rect">
            <a:avLst/>
          </a:prstGeom>
          <a:noFill/>
          <a:ln/>
        </p:spPr>
        <p:txBody>
          <a:bodyPr wrap="square" rtlCol="0" anchor="ctr"/>
          <a:lstStyle/>
          <a:p>
            <a:pPr>
              <a:lnSpc>
                <a:spcPct val="110000"/>
              </a:lnSpc>
            </a:pPr>
            <a:r>
              <a:rPr lang="en-US" sz="1733" dirty="0">
                <a:solidFill>
                  <a:srgbClr val="FFFFFF"/>
                </a:solidFill>
                <a:latin typeface="Calibri" pitchFamily="34" charset="0"/>
                <a:ea typeface="Calibri" pitchFamily="34" charset="-122"/>
                <a:cs typeface="Calibri" pitchFamily="34" charset="-120"/>
              </a:rPr>
              <a:t>Analyses comportementales</a:t>
            </a:r>
            <a:endParaRPr lang="en-US" sz="1733" dirty="0"/>
          </a:p>
        </p:txBody>
      </p:sp>
      <p:sp>
        <p:nvSpPr>
          <p:cNvPr id="19" name="Shape 17"/>
          <p:cNvSpPr/>
          <p:nvPr/>
        </p:nvSpPr>
        <p:spPr>
          <a:xfrm>
            <a:off x="10850880" y="4145280"/>
            <a:ext cx="4693920" cy="1402080"/>
          </a:xfrm>
          <a:prstGeom prst="roundRect">
            <a:avLst>
              <a:gd name="adj" fmla="val 6087"/>
            </a:avLst>
          </a:prstGeom>
          <a:solidFill>
            <a:srgbClr val="26306E"/>
          </a:solidFill>
          <a:ln/>
        </p:spPr>
        <p:txBody>
          <a:bodyPr/>
          <a:lstStyle/>
          <a:p>
            <a:endParaRPr lang="ar-TN" sz="2400"/>
          </a:p>
        </p:txBody>
      </p:sp>
      <p:sp>
        <p:nvSpPr>
          <p:cNvPr id="20" name="Shape 18"/>
          <p:cNvSpPr/>
          <p:nvPr/>
        </p:nvSpPr>
        <p:spPr>
          <a:xfrm>
            <a:off x="11119104" y="4675632"/>
            <a:ext cx="341376" cy="341376"/>
          </a:xfrm>
          <a:prstGeom prst="ellipse">
            <a:avLst/>
          </a:prstGeom>
          <a:solidFill>
            <a:srgbClr val="CADCFC"/>
          </a:solidFill>
          <a:ln/>
        </p:spPr>
        <p:txBody>
          <a:bodyPr/>
          <a:lstStyle/>
          <a:p>
            <a:endParaRPr lang="ar-TN" sz="2400"/>
          </a:p>
        </p:txBody>
      </p:sp>
      <p:sp>
        <p:nvSpPr>
          <p:cNvPr id="21" name="Text 19"/>
          <p:cNvSpPr/>
          <p:nvPr/>
        </p:nvSpPr>
        <p:spPr>
          <a:xfrm>
            <a:off x="11643360" y="4145280"/>
            <a:ext cx="3657600" cy="1402080"/>
          </a:xfrm>
          <a:prstGeom prst="rect">
            <a:avLst/>
          </a:prstGeom>
          <a:noFill/>
          <a:ln/>
        </p:spPr>
        <p:txBody>
          <a:bodyPr wrap="square" rtlCol="0" anchor="ctr"/>
          <a:lstStyle/>
          <a:p>
            <a:pPr>
              <a:lnSpc>
                <a:spcPct val="110000"/>
              </a:lnSpc>
            </a:pPr>
            <a:r>
              <a:rPr lang="en-US" sz="1733" dirty="0">
                <a:solidFill>
                  <a:srgbClr val="FFFFFF"/>
                </a:solidFill>
                <a:latin typeface="Calibri" pitchFamily="34" charset="0"/>
                <a:ea typeface="Calibri" pitchFamily="34" charset="-122"/>
                <a:cs typeface="Calibri" pitchFamily="34" charset="-120"/>
              </a:rPr>
              <a:t>Données géographiques</a:t>
            </a:r>
            <a:endParaRPr lang="en-US" sz="1733" dirty="0"/>
          </a:p>
        </p:txBody>
      </p:sp>
      <p:sp>
        <p:nvSpPr>
          <p:cNvPr id="22" name="Text 20"/>
          <p:cNvSpPr/>
          <p:nvPr/>
        </p:nvSpPr>
        <p:spPr>
          <a:xfrm>
            <a:off x="853440" y="6035040"/>
            <a:ext cx="14508480" cy="853440"/>
          </a:xfrm>
          <a:prstGeom prst="rect">
            <a:avLst/>
          </a:prstGeom>
          <a:noFill/>
          <a:ln/>
        </p:spPr>
        <p:txBody>
          <a:bodyPr wrap="square" rtlCol="0" anchor="ctr"/>
          <a:lstStyle/>
          <a:p>
            <a:r>
              <a:rPr lang="en-US" sz="1867" i="1" dirty="0">
                <a:solidFill>
                  <a:srgbClr val="CADCFC"/>
                </a:solidFill>
                <a:latin typeface="Calibri" pitchFamily="34" charset="0"/>
                <a:ea typeface="Calibri" pitchFamily="34" charset="-122"/>
                <a:cs typeface="Calibri" pitchFamily="34" charset="-120"/>
              </a:rPr>
              <a:t>Objectif : anticiper les menaces sanitaires, détecter précocement les signaux faibles et orienter les décisions stratégiques — pas seulement répondre aux crises.</a:t>
            </a:r>
            <a:endParaRPr lang="en-US" sz="1867" dirty="0"/>
          </a:p>
        </p:txBody>
      </p:sp>
      <p:sp>
        <p:nvSpPr>
          <p:cNvPr id="23" name="Text 21"/>
          <p:cNvSpPr/>
          <p:nvPr/>
        </p:nvSpPr>
        <p:spPr>
          <a:xfrm>
            <a:off x="609600" y="8631936"/>
            <a:ext cx="7315200" cy="365760"/>
          </a:xfrm>
          <a:prstGeom prst="rect">
            <a:avLst/>
          </a:prstGeom>
          <a:noFill/>
          <a:ln/>
        </p:spPr>
        <p:txBody>
          <a:bodyPr wrap="square" rtlCol="0" anchor="ctr"/>
          <a:lstStyle/>
          <a:p>
            <a:r>
              <a:rPr lang="en-US" sz="1333" dirty="0">
                <a:solidFill>
                  <a:srgbClr val="CADCFC"/>
                </a:solidFill>
                <a:latin typeface="Calibri" pitchFamily="34" charset="0"/>
                <a:ea typeface="Calibri" pitchFamily="34" charset="-122"/>
                <a:cs typeface="Calibri" pitchFamily="34" charset="-120"/>
              </a:rPr>
              <a:t>ONMNE — Ministère de la Santé</a:t>
            </a:r>
            <a:endParaRPr lang="en-US" sz="1333" dirty="0"/>
          </a:p>
        </p:txBody>
      </p:sp>
      <p:sp>
        <p:nvSpPr>
          <p:cNvPr id="24" name="Text 22"/>
          <p:cNvSpPr/>
          <p:nvPr/>
        </p:nvSpPr>
        <p:spPr>
          <a:xfrm>
            <a:off x="15036393" y="8631936"/>
            <a:ext cx="609600" cy="365760"/>
          </a:xfrm>
          <a:prstGeom prst="rect">
            <a:avLst/>
          </a:prstGeom>
          <a:noFill/>
          <a:ln/>
        </p:spPr>
        <p:txBody>
          <a:bodyPr wrap="square" rtlCol="0" anchor="ctr"/>
          <a:lstStyle/>
          <a:p>
            <a:pPr algn="r"/>
            <a:r>
              <a:rPr lang="en-US" sz="1333" dirty="0">
                <a:solidFill>
                  <a:srgbClr val="CADCFC"/>
                </a:solidFill>
                <a:latin typeface="Calibri" pitchFamily="34" charset="0"/>
                <a:ea typeface="Calibri" pitchFamily="34" charset="-122"/>
                <a:cs typeface="Calibri" pitchFamily="34" charset="-120"/>
              </a:rPr>
              <a:t>4</a:t>
            </a:r>
            <a:endParaRPr lang="en-US" sz="1333"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Un socle déjà opérationnel à l'ONMNE</a:t>
            </a:r>
            <a:endParaRPr lang="en-US" sz="4000" dirty="0"/>
          </a:p>
        </p:txBody>
      </p:sp>
      <p:sp>
        <p:nvSpPr>
          <p:cNvPr id="3" name="Text 1"/>
          <p:cNvSpPr/>
          <p:nvPr/>
        </p:nvSpPr>
        <p:spPr>
          <a:xfrm>
            <a:off x="853440" y="1524000"/>
            <a:ext cx="14508480" cy="487680"/>
          </a:xfrm>
          <a:prstGeom prst="rect">
            <a:avLst/>
          </a:prstGeom>
          <a:noFill/>
          <a:ln/>
        </p:spPr>
        <p:txBody>
          <a:bodyPr wrap="square" rtlCol="0" anchor="ctr"/>
          <a:lstStyle/>
          <a:p>
            <a:r>
              <a:rPr lang="en-US" sz="2000" dirty="0">
                <a:solidFill>
                  <a:srgbClr val="5B6472"/>
                </a:solidFill>
                <a:latin typeface="Calibri" pitchFamily="34" charset="0"/>
                <a:ea typeface="Calibri" pitchFamily="34" charset="-122"/>
                <a:cs typeface="Calibri" pitchFamily="34" charset="-120"/>
              </a:rPr>
              <a:t>La Tunisie ne part pas de zéro : un dispositif national existe déjà.</a:t>
            </a:r>
            <a:endParaRPr lang="en-US" sz="2000" dirty="0"/>
          </a:p>
        </p:txBody>
      </p:sp>
      <p:sp>
        <p:nvSpPr>
          <p:cNvPr id="4" name="Shape 2"/>
          <p:cNvSpPr/>
          <p:nvPr/>
        </p:nvSpPr>
        <p:spPr>
          <a:xfrm>
            <a:off x="853440" y="2377440"/>
            <a:ext cx="4693920" cy="2072640"/>
          </a:xfrm>
          <a:prstGeom prst="roundRect">
            <a:avLst>
              <a:gd name="adj" fmla="val 4706"/>
            </a:avLst>
          </a:prstGeom>
          <a:solidFill>
            <a:srgbClr val="F4F6FB"/>
          </a:solidFill>
          <a:ln/>
        </p:spPr>
        <p:txBody>
          <a:bodyPr/>
          <a:lstStyle/>
          <a:p>
            <a:endParaRPr lang="ar-TN" sz="2400"/>
          </a:p>
        </p:txBody>
      </p:sp>
      <p:sp>
        <p:nvSpPr>
          <p:cNvPr id="5" name="Shape 3"/>
          <p:cNvSpPr/>
          <p:nvPr/>
        </p:nvSpPr>
        <p:spPr>
          <a:xfrm>
            <a:off x="1158240" y="2682240"/>
            <a:ext cx="853440" cy="853440"/>
          </a:xfrm>
          <a:prstGeom prst="ellipse">
            <a:avLst/>
          </a:prstGeom>
          <a:solidFill>
            <a:srgbClr val="1E2761"/>
          </a:solidFill>
          <a:ln/>
        </p:spPr>
        <p:txBody>
          <a:bodyPr/>
          <a:lstStyle/>
          <a:p>
            <a:endParaRPr lang="ar-TN" sz="2400"/>
          </a:p>
        </p:txBody>
      </p:sp>
      <p:pic>
        <p:nvPicPr>
          <p:cNvPr id="6" name="Image 0" descr="/home/claude/pptx_project/icons/network_white.png"/>
          <p:cNvPicPr>
            <a:picLocks noChangeAspect="1"/>
          </p:cNvPicPr>
          <p:nvPr/>
        </p:nvPicPr>
        <p:blipFill>
          <a:blip r:embed="rId3"/>
          <a:stretch>
            <a:fillRect/>
          </a:stretch>
        </p:blipFill>
        <p:spPr>
          <a:xfrm>
            <a:off x="1269188" y="2793188"/>
            <a:ext cx="631545" cy="631545"/>
          </a:xfrm>
          <a:prstGeom prst="rect">
            <a:avLst/>
          </a:prstGeom>
        </p:spPr>
      </p:pic>
      <p:sp>
        <p:nvSpPr>
          <p:cNvPr id="7" name="Text 4"/>
          <p:cNvSpPr/>
          <p:nvPr/>
        </p:nvSpPr>
        <p:spPr>
          <a:xfrm>
            <a:off x="1158240" y="3596640"/>
            <a:ext cx="408432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Surveillance basée sur les événements (EBS)</a:t>
            </a:r>
            <a:endParaRPr lang="en-US" sz="1733" dirty="0"/>
          </a:p>
        </p:txBody>
      </p:sp>
      <p:sp>
        <p:nvSpPr>
          <p:cNvPr id="8" name="Shape 5"/>
          <p:cNvSpPr/>
          <p:nvPr/>
        </p:nvSpPr>
        <p:spPr>
          <a:xfrm>
            <a:off x="5852160" y="2377440"/>
            <a:ext cx="4693920" cy="2072640"/>
          </a:xfrm>
          <a:prstGeom prst="roundRect">
            <a:avLst>
              <a:gd name="adj" fmla="val 4706"/>
            </a:avLst>
          </a:prstGeom>
          <a:solidFill>
            <a:srgbClr val="F4F6FB"/>
          </a:solidFill>
          <a:ln/>
        </p:spPr>
        <p:txBody>
          <a:bodyPr/>
          <a:lstStyle/>
          <a:p>
            <a:endParaRPr lang="ar-TN" sz="2400"/>
          </a:p>
        </p:txBody>
      </p:sp>
      <p:sp>
        <p:nvSpPr>
          <p:cNvPr id="9" name="Shape 6"/>
          <p:cNvSpPr/>
          <p:nvPr/>
        </p:nvSpPr>
        <p:spPr>
          <a:xfrm>
            <a:off x="6156960" y="2682240"/>
            <a:ext cx="853440" cy="853440"/>
          </a:xfrm>
          <a:prstGeom prst="ellipse">
            <a:avLst/>
          </a:prstGeom>
          <a:solidFill>
            <a:srgbClr val="1E2761"/>
          </a:solidFill>
          <a:ln/>
        </p:spPr>
        <p:txBody>
          <a:bodyPr/>
          <a:lstStyle/>
          <a:p>
            <a:endParaRPr lang="ar-TN" sz="2400"/>
          </a:p>
        </p:txBody>
      </p:sp>
      <p:pic>
        <p:nvPicPr>
          <p:cNvPr id="10" name="Image 1" descr="/home/claude/pptx_project/icons/globe_white.png"/>
          <p:cNvPicPr>
            <a:picLocks noChangeAspect="1"/>
          </p:cNvPicPr>
          <p:nvPr/>
        </p:nvPicPr>
        <p:blipFill>
          <a:blip r:embed="rId4"/>
          <a:stretch>
            <a:fillRect/>
          </a:stretch>
        </p:blipFill>
        <p:spPr>
          <a:xfrm>
            <a:off x="6267908" y="2793188"/>
            <a:ext cx="631545" cy="631545"/>
          </a:xfrm>
          <a:prstGeom prst="rect">
            <a:avLst/>
          </a:prstGeom>
        </p:spPr>
      </p:pic>
      <p:sp>
        <p:nvSpPr>
          <p:cNvPr id="11" name="Text 7"/>
          <p:cNvSpPr/>
          <p:nvPr/>
        </p:nvSpPr>
        <p:spPr>
          <a:xfrm>
            <a:off x="6156960" y="3596640"/>
            <a:ext cx="408432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Plateforme internationale EIOS de l'OMS</a:t>
            </a:r>
            <a:endParaRPr lang="en-US" sz="1733" dirty="0"/>
          </a:p>
        </p:txBody>
      </p:sp>
      <p:sp>
        <p:nvSpPr>
          <p:cNvPr id="12" name="Shape 8"/>
          <p:cNvSpPr/>
          <p:nvPr/>
        </p:nvSpPr>
        <p:spPr>
          <a:xfrm>
            <a:off x="10850880" y="2377440"/>
            <a:ext cx="4693920" cy="2072640"/>
          </a:xfrm>
          <a:prstGeom prst="roundRect">
            <a:avLst>
              <a:gd name="adj" fmla="val 4706"/>
            </a:avLst>
          </a:prstGeom>
          <a:solidFill>
            <a:srgbClr val="F4F6FB"/>
          </a:solidFill>
          <a:ln/>
        </p:spPr>
        <p:txBody>
          <a:bodyPr/>
          <a:lstStyle/>
          <a:p>
            <a:endParaRPr lang="ar-TN" sz="2400"/>
          </a:p>
        </p:txBody>
      </p:sp>
      <p:sp>
        <p:nvSpPr>
          <p:cNvPr id="13" name="Shape 9"/>
          <p:cNvSpPr/>
          <p:nvPr/>
        </p:nvSpPr>
        <p:spPr>
          <a:xfrm>
            <a:off x="11155680" y="2682240"/>
            <a:ext cx="853440" cy="853440"/>
          </a:xfrm>
          <a:prstGeom prst="ellipse">
            <a:avLst/>
          </a:prstGeom>
          <a:solidFill>
            <a:srgbClr val="1E2761"/>
          </a:solidFill>
          <a:ln/>
        </p:spPr>
        <p:txBody>
          <a:bodyPr/>
          <a:lstStyle/>
          <a:p>
            <a:endParaRPr lang="ar-TN" sz="2400"/>
          </a:p>
        </p:txBody>
      </p:sp>
      <p:pic>
        <p:nvPicPr>
          <p:cNvPr id="14" name="Image 2" descr="/home/claude/pptx_project/icons/users_white.png"/>
          <p:cNvPicPr>
            <a:picLocks noChangeAspect="1"/>
          </p:cNvPicPr>
          <p:nvPr/>
        </p:nvPicPr>
        <p:blipFill>
          <a:blip r:embed="rId5"/>
          <a:stretch>
            <a:fillRect/>
          </a:stretch>
        </p:blipFill>
        <p:spPr>
          <a:xfrm>
            <a:off x="11266628" y="2793188"/>
            <a:ext cx="631545" cy="631545"/>
          </a:xfrm>
          <a:prstGeom prst="rect">
            <a:avLst/>
          </a:prstGeom>
        </p:spPr>
      </p:pic>
      <p:sp>
        <p:nvSpPr>
          <p:cNvPr id="15" name="Text 10"/>
          <p:cNvSpPr/>
          <p:nvPr/>
        </p:nvSpPr>
        <p:spPr>
          <a:xfrm>
            <a:off x="11155680" y="3596640"/>
            <a:ext cx="408432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Réunions hebdomadaires EPITEC</a:t>
            </a:r>
            <a:endParaRPr lang="en-US" sz="1733" dirty="0"/>
          </a:p>
        </p:txBody>
      </p:sp>
      <p:sp>
        <p:nvSpPr>
          <p:cNvPr id="16" name="Shape 11"/>
          <p:cNvSpPr/>
          <p:nvPr/>
        </p:nvSpPr>
        <p:spPr>
          <a:xfrm>
            <a:off x="853440" y="4754880"/>
            <a:ext cx="4693920" cy="2072640"/>
          </a:xfrm>
          <a:prstGeom prst="roundRect">
            <a:avLst>
              <a:gd name="adj" fmla="val 4706"/>
            </a:avLst>
          </a:prstGeom>
          <a:solidFill>
            <a:srgbClr val="F4F6FB"/>
          </a:solidFill>
          <a:ln/>
        </p:spPr>
        <p:txBody>
          <a:bodyPr/>
          <a:lstStyle/>
          <a:p>
            <a:endParaRPr lang="ar-TN" sz="2400"/>
          </a:p>
        </p:txBody>
      </p:sp>
      <p:sp>
        <p:nvSpPr>
          <p:cNvPr id="17" name="Shape 12"/>
          <p:cNvSpPr/>
          <p:nvPr/>
        </p:nvSpPr>
        <p:spPr>
          <a:xfrm>
            <a:off x="1158240" y="5059680"/>
            <a:ext cx="853440" cy="853440"/>
          </a:xfrm>
          <a:prstGeom prst="ellipse">
            <a:avLst/>
          </a:prstGeom>
          <a:solidFill>
            <a:srgbClr val="1E2761"/>
          </a:solidFill>
          <a:ln/>
        </p:spPr>
        <p:txBody>
          <a:bodyPr/>
          <a:lstStyle/>
          <a:p>
            <a:endParaRPr lang="ar-TN" sz="2400"/>
          </a:p>
        </p:txBody>
      </p:sp>
      <p:pic>
        <p:nvPicPr>
          <p:cNvPr id="18" name="Image 3" descr="/home/claude/pptx_project/icons/balance_white.png"/>
          <p:cNvPicPr>
            <a:picLocks noChangeAspect="1"/>
          </p:cNvPicPr>
          <p:nvPr/>
        </p:nvPicPr>
        <p:blipFill>
          <a:blip r:embed="rId6"/>
          <a:stretch>
            <a:fillRect/>
          </a:stretch>
        </p:blipFill>
        <p:spPr>
          <a:xfrm>
            <a:off x="1269188" y="5170628"/>
            <a:ext cx="631545" cy="631545"/>
          </a:xfrm>
          <a:prstGeom prst="rect">
            <a:avLst/>
          </a:prstGeom>
        </p:spPr>
      </p:pic>
      <p:sp>
        <p:nvSpPr>
          <p:cNvPr id="19" name="Text 13"/>
          <p:cNvSpPr/>
          <p:nvPr/>
        </p:nvSpPr>
        <p:spPr>
          <a:xfrm>
            <a:off x="1158240" y="5974080"/>
            <a:ext cx="408432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Évaluations rapides du risque</a:t>
            </a:r>
            <a:endParaRPr lang="en-US" sz="1733" dirty="0"/>
          </a:p>
        </p:txBody>
      </p:sp>
      <p:sp>
        <p:nvSpPr>
          <p:cNvPr id="20" name="Shape 14"/>
          <p:cNvSpPr/>
          <p:nvPr/>
        </p:nvSpPr>
        <p:spPr>
          <a:xfrm>
            <a:off x="5852160" y="4754880"/>
            <a:ext cx="4693920" cy="2072640"/>
          </a:xfrm>
          <a:prstGeom prst="roundRect">
            <a:avLst>
              <a:gd name="adj" fmla="val 4706"/>
            </a:avLst>
          </a:prstGeom>
          <a:solidFill>
            <a:srgbClr val="F4F6FB"/>
          </a:solidFill>
          <a:ln/>
        </p:spPr>
        <p:txBody>
          <a:bodyPr/>
          <a:lstStyle/>
          <a:p>
            <a:endParaRPr lang="ar-TN" sz="2400"/>
          </a:p>
        </p:txBody>
      </p:sp>
      <p:sp>
        <p:nvSpPr>
          <p:cNvPr id="21" name="Shape 15"/>
          <p:cNvSpPr/>
          <p:nvPr/>
        </p:nvSpPr>
        <p:spPr>
          <a:xfrm>
            <a:off x="6156960" y="5059680"/>
            <a:ext cx="853440" cy="853440"/>
          </a:xfrm>
          <a:prstGeom prst="ellipse">
            <a:avLst/>
          </a:prstGeom>
          <a:solidFill>
            <a:srgbClr val="1E2761"/>
          </a:solidFill>
          <a:ln/>
        </p:spPr>
        <p:txBody>
          <a:bodyPr/>
          <a:lstStyle/>
          <a:p>
            <a:endParaRPr lang="ar-TN" sz="2400"/>
          </a:p>
        </p:txBody>
      </p:sp>
      <p:pic>
        <p:nvPicPr>
          <p:cNvPr id="22" name="Image 4" descr="/home/claude/pptx_project/icons/bell_white.png"/>
          <p:cNvPicPr>
            <a:picLocks noChangeAspect="1"/>
          </p:cNvPicPr>
          <p:nvPr/>
        </p:nvPicPr>
        <p:blipFill>
          <a:blip r:embed="rId7"/>
          <a:stretch>
            <a:fillRect/>
          </a:stretch>
        </p:blipFill>
        <p:spPr>
          <a:xfrm>
            <a:off x="6267908" y="5170628"/>
            <a:ext cx="631545" cy="631545"/>
          </a:xfrm>
          <a:prstGeom prst="rect">
            <a:avLst/>
          </a:prstGeom>
        </p:spPr>
      </p:pic>
      <p:sp>
        <p:nvSpPr>
          <p:cNvPr id="23" name="Text 16"/>
          <p:cNvSpPr/>
          <p:nvPr/>
        </p:nvSpPr>
        <p:spPr>
          <a:xfrm>
            <a:off x="6156960" y="5974080"/>
            <a:ext cx="408432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Production d'alertes et recommandations</a:t>
            </a:r>
            <a:endParaRPr lang="en-US" sz="1733" dirty="0"/>
          </a:p>
        </p:txBody>
      </p:sp>
      <p:sp>
        <p:nvSpPr>
          <p:cNvPr id="24" name="Shape 17"/>
          <p:cNvSpPr/>
          <p:nvPr/>
        </p:nvSpPr>
        <p:spPr>
          <a:xfrm>
            <a:off x="10850880" y="4754880"/>
            <a:ext cx="4693920" cy="2072640"/>
          </a:xfrm>
          <a:prstGeom prst="roundRect">
            <a:avLst>
              <a:gd name="adj" fmla="val 4706"/>
            </a:avLst>
          </a:prstGeom>
          <a:solidFill>
            <a:srgbClr val="F4F6FB"/>
          </a:solidFill>
          <a:ln/>
        </p:spPr>
        <p:txBody>
          <a:bodyPr/>
          <a:lstStyle/>
          <a:p>
            <a:endParaRPr lang="ar-TN" sz="2400"/>
          </a:p>
        </p:txBody>
      </p:sp>
      <p:sp>
        <p:nvSpPr>
          <p:cNvPr id="25" name="Shape 18"/>
          <p:cNvSpPr/>
          <p:nvPr/>
        </p:nvSpPr>
        <p:spPr>
          <a:xfrm>
            <a:off x="11155680" y="5059680"/>
            <a:ext cx="853440" cy="853440"/>
          </a:xfrm>
          <a:prstGeom prst="ellipse">
            <a:avLst/>
          </a:prstGeom>
          <a:solidFill>
            <a:srgbClr val="1E2761"/>
          </a:solidFill>
          <a:ln/>
        </p:spPr>
        <p:txBody>
          <a:bodyPr/>
          <a:lstStyle/>
          <a:p>
            <a:endParaRPr lang="ar-TN" sz="2400"/>
          </a:p>
        </p:txBody>
      </p:sp>
      <p:pic>
        <p:nvPicPr>
          <p:cNvPr id="26" name="Image 5" descr="/home/claude/pptx_project/icons/clipboard_white.png"/>
          <p:cNvPicPr>
            <a:picLocks noChangeAspect="1"/>
          </p:cNvPicPr>
          <p:nvPr/>
        </p:nvPicPr>
        <p:blipFill>
          <a:blip r:embed="rId8"/>
          <a:stretch>
            <a:fillRect/>
          </a:stretch>
        </p:blipFill>
        <p:spPr>
          <a:xfrm>
            <a:off x="11266628" y="5170628"/>
            <a:ext cx="631545" cy="631545"/>
          </a:xfrm>
          <a:prstGeom prst="rect">
            <a:avLst/>
          </a:prstGeom>
        </p:spPr>
      </p:pic>
      <p:sp>
        <p:nvSpPr>
          <p:cNvPr id="27" name="Text 19"/>
          <p:cNvSpPr/>
          <p:nvPr/>
        </p:nvSpPr>
        <p:spPr>
          <a:xfrm>
            <a:off x="11155680" y="5974080"/>
            <a:ext cx="408432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Cellule de veille médiatique 24h/24, 7j/7</a:t>
            </a:r>
            <a:endParaRPr lang="en-US" sz="1733" dirty="0"/>
          </a:p>
        </p:txBody>
      </p:sp>
      <p:sp>
        <p:nvSpPr>
          <p:cNvPr id="28" name="Text 20"/>
          <p:cNvSpPr/>
          <p:nvPr/>
        </p:nvSpPr>
        <p:spPr>
          <a:xfrm>
            <a:off x="853440" y="7254240"/>
            <a:ext cx="14508480" cy="731520"/>
          </a:xfrm>
          <a:prstGeom prst="rect">
            <a:avLst/>
          </a:prstGeom>
          <a:noFill/>
          <a:ln/>
        </p:spPr>
        <p:txBody>
          <a:bodyPr wrap="square" rtlCol="0" anchor="ctr"/>
          <a:lstStyle/>
          <a:p>
            <a:r>
              <a:rPr lang="en-US" sz="1733" i="1" dirty="0">
                <a:solidFill>
                  <a:srgbClr val="5B6472"/>
                </a:solidFill>
                <a:latin typeface="Calibri" pitchFamily="34" charset="0"/>
                <a:ea typeface="Calibri" pitchFamily="34" charset="-122"/>
                <a:cs typeface="Calibri" pitchFamily="34" charset="-120"/>
              </a:rPr>
              <a:t>Limite actuelle : la veille sur les réseaux sociaux reste largement manuelle, et EIOS ne couvre pas pleinement ces plateformes — d'où la nécessité d'une plateforme nationale dédiée.</a:t>
            </a:r>
            <a:endParaRPr lang="en-US" sz="1733" dirty="0"/>
          </a:p>
        </p:txBody>
      </p:sp>
      <p:sp>
        <p:nvSpPr>
          <p:cNvPr id="29" name="Text 21"/>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30" name="Text 22"/>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5</a:t>
            </a:r>
            <a:endParaRPr lang="en-US" sz="1333"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3600" b="1" dirty="0">
                <a:solidFill>
                  <a:srgbClr val="1E2761"/>
                </a:solidFill>
                <a:latin typeface="Cambria" pitchFamily="34" charset="0"/>
                <a:ea typeface="Cambria" pitchFamily="34" charset="-122"/>
                <a:cs typeface="Cambria" pitchFamily="34" charset="-120"/>
              </a:rPr>
              <a:t>La Stratégie nationale RCCE-IM : un cadre de gouvernance</a:t>
            </a:r>
            <a:endParaRPr lang="en-US" sz="3600" dirty="0"/>
          </a:p>
        </p:txBody>
      </p:sp>
      <p:sp>
        <p:nvSpPr>
          <p:cNvPr id="3" name="Text 1"/>
          <p:cNvSpPr/>
          <p:nvPr/>
        </p:nvSpPr>
        <p:spPr>
          <a:xfrm>
            <a:off x="853440" y="1524000"/>
            <a:ext cx="14508480" cy="609600"/>
          </a:xfrm>
          <a:prstGeom prst="rect">
            <a:avLst/>
          </a:prstGeom>
          <a:noFill/>
          <a:ln/>
        </p:spPr>
        <p:txBody>
          <a:bodyPr wrap="square" rtlCol="0" anchor="ctr"/>
          <a:lstStyle/>
          <a:p>
            <a:r>
              <a:rPr lang="en-US" sz="1867" dirty="0">
                <a:solidFill>
                  <a:srgbClr val="5B6472"/>
                </a:solidFill>
                <a:latin typeface="Calibri" pitchFamily="34" charset="0"/>
                <a:ea typeface="Calibri" pitchFamily="34" charset="-122"/>
                <a:cs typeface="Calibri" pitchFamily="34" charset="-120"/>
              </a:rPr>
              <a:t>La plateforme s'inscrit dans la mise en œuvre de la stratégie, structurée autour de six axes complémentaires :</a:t>
            </a:r>
            <a:endParaRPr lang="en-US" sz="1867" dirty="0"/>
          </a:p>
        </p:txBody>
      </p:sp>
      <p:sp>
        <p:nvSpPr>
          <p:cNvPr id="4" name="Shape 2"/>
          <p:cNvSpPr/>
          <p:nvPr/>
        </p:nvSpPr>
        <p:spPr>
          <a:xfrm>
            <a:off x="853440" y="2438400"/>
            <a:ext cx="4693920" cy="1828800"/>
          </a:xfrm>
          <a:prstGeom prst="roundRect">
            <a:avLst>
              <a:gd name="adj" fmla="val 5333"/>
            </a:avLst>
          </a:prstGeom>
          <a:solidFill>
            <a:srgbClr val="F4F6FB"/>
          </a:solidFill>
          <a:ln/>
        </p:spPr>
        <p:txBody>
          <a:bodyPr/>
          <a:lstStyle/>
          <a:p>
            <a:endParaRPr lang="ar-TN" sz="2400"/>
          </a:p>
        </p:txBody>
      </p:sp>
      <p:sp>
        <p:nvSpPr>
          <p:cNvPr id="5" name="Text 3"/>
          <p:cNvSpPr/>
          <p:nvPr/>
        </p:nvSpPr>
        <p:spPr>
          <a:xfrm>
            <a:off x="1097280" y="2621280"/>
            <a:ext cx="1219200" cy="609600"/>
          </a:xfrm>
          <a:prstGeom prst="rect">
            <a:avLst/>
          </a:prstGeom>
          <a:noFill/>
          <a:ln/>
        </p:spPr>
        <p:txBody>
          <a:bodyPr wrap="square" rtlCol="0" anchor="ctr"/>
          <a:lstStyle/>
          <a:p>
            <a:r>
              <a:rPr lang="en-US" sz="2933" b="1" dirty="0">
                <a:solidFill>
                  <a:srgbClr val="1E2761"/>
                </a:solidFill>
                <a:latin typeface="Cambria" pitchFamily="34" charset="0"/>
                <a:ea typeface="Cambria" pitchFamily="34" charset="-122"/>
                <a:cs typeface="Cambria" pitchFamily="34" charset="-120"/>
              </a:rPr>
              <a:t>01</a:t>
            </a:r>
            <a:endParaRPr lang="en-US" sz="2933" dirty="0"/>
          </a:p>
        </p:txBody>
      </p:sp>
      <p:sp>
        <p:nvSpPr>
          <p:cNvPr id="6" name="Text 4"/>
          <p:cNvSpPr/>
          <p:nvPr/>
        </p:nvSpPr>
        <p:spPr>
          <a:xfrm>
            <a:off x="1097280" y="3267456"/>
            <a:ext cx="4206240" cy="914400"/>
          </a:xfrm>
          <a:prstGeom prst="rect">
            <a:avLst/>
          </a:prstGeom>
          <a:noFill/>
          <a:ln/>
        </p:spPr>
        <p:txBody>
          <a:bodyPr wrap="square" rtlCol="0" anchor="ctr"/>
          <a:lstStyle/>
          <a:p>
            <a:pPr>
              <a:lnSpc>
                <a:spcPct val="115000"/>
              </a:lnSpc>
            </a:pPr>
            <a:r>
              <a:rPr lang="en-US" dirty="0">
                <a:solidFill>
                  <a:srgbClr val="1A1A2E"/>
                </a:solidFill>
                <a:latin typeface="Calibri" pitchFamily="34" charset="0"/>
                <a:ea typeface="Calibri" pitchFamily="34" charset="-122"/>
                <a:cs typeface="Calibri" pitchFamily="34" charset="-120"/>
              </a:rPr>
              <a:t>Gouvernance et coordination multisectorielle</a:t>
            </a:r>
            <a:endParaRPr lang="en-US" dirty="0"/>
          </a:p>
        </p:txBody>
      </p:sp>
      <p:sp>
        <p:nvSpPr>
          <p:cNvPr id="7" name="Shape 5"/>
          <p:cNvSpPr/>
          <p:nvPr/>
        </p:nvSpPr>
        <p:spPr>
          <a:xfrm>
            <a:off x="5852160" y="2438400"/>
            <a:ext cx="4693920" cy="1828800"/>
          </a:xfrm>
          <a:prstGeom prst="roundRect">
            <a:avLst>
              <a:gd name="adj" fmla="val 5333"/>
            </a:avLst>
          </a:prstGeom>
          <a:solidFill>
            <a:srgbClr val="F4F6FB"/>
          </a:solidFill>
          <a:ln/>
        </p:spPr>
        <p:txBody>
          <a:bodyPr/>
          <a:lstStyle/>
          <a:p>
            <a:endParaRPr lang="ar-TN" sz="2400"/>
          </a:p>
        </p:txBody>
      </p:sp>
      <p:sp>
        <p:nvSpPr>
          <p:cNvPr id="8" name="Text 6"/>
          <p:cNvSpPr/>
          <p:nvPr/>
        </p:nvSpPr>
        <p:spPr>
          <a:xfrm>
            <a:off x="6096000" y="2621280"/>
            <a:ext cx="1219200" cy="609600"/>
          </a:xfrm>
          <a:prstGeom prst="rect">
            <a:avLst/>
          </a:prstGeom>
          <a:noFill/>
          <a:ln/>
        </p:spPr>
        <p:txBody>
          <a:bodyPr wrap="square" rtlCol="0" anchor="ctr"/>
          <a:lstStyle/>
          <a:p>
            <a:r>
              <a:rPr lang="en-US" sz="2933" b="1" dirty="0">
                <a:solidFill>
                  <a:srgbClr val="1E2761"/>
                </a:solidFill>
                <a:latin typeface="Cambria" pitchFamily="34" charset="0"/>
                <a:ea typeface="Cambria" pitchFamily="34" charset="-122"/>
                <a:cs typeface="Cambria" pitchFamily="34" charset="-120"/>
              </a:rPr>
              <a:t>02</a:t>
            </a:r>
            <a:endParaRPr lang="en-US" sz="2933" dirty="0"/>
          </a:p>
        </p:txBody>
      </p:sp>
      <p:sp>
        <p:nvSpPr>
          <p:cNvPr id="9" name="Text 7"/>
          <p:cNvSpPr/>
          <p:nvPr/>
        </p:nvSpPr>
        <p:spPr>
          <a:xfrm>
            <a:off x="6096000" y="3267456"/>
            <a:ext cx="4206240" cy="914400"/>
          </a:xfrm>
          <a:prstGeom prst="rect">
            <a:avLst/>
          </a:prstGeom>
          <a:noFill/>
          <a:ln/>
        </p:spPr>
        <p:txBody>
          <a:bodyPr wrap="square" rtlCol="0" anchor="ctr"/>
          <a:lstStyle/>
          <a:p>
            <a:pPr>
              <a:lnSpc>
                <a:spcPct val="115000"/>
              </a:lnSpc>
            </a:pPr>
            <a:r>
              <a:rPr lang="en-US" dirty="0">
                <a:solidFill>
                  <a:srgbClr val="1A1A2E"/>
                </a:solidFill>
                <a:latin typeface="Calibri" pitchFamily="34" charset="0"/>
                <a:ea typeface="Calibri" pitchFamily="34" charset="-122"/>
                <a:cs typeface="Calibri" pitchFamily="34" charset="-120"/>
              </a:rPr>
              <a:t>Communication des risques</a:t>
            </a:r>
            <a:endParaRPr lang="en-US" dirty="0"/>
          </a:p>
        </p:txBody>
      </p:sp>
      <p:sp>
        <p:nvSpPr>
          <p:cNvPr id="10" name="Shape 8"/>
          <p:cNvSpPr/>
          <p:nvPr/>
        </p:nvSpPr>
        <p:spPr>
          <a:xfrm>
            <a:off x="10850880" y="2438400"/>
            <a:ext cx="4693920" cy="1828800"/>
          </a:xfrm>
          <a:prstGeom prst="roundRect">
            <a:avLst>
              <a:gd name="adj" fmla="val 5333"/>
            </a:avLst>
          </a:prstGeom>
          <a:solidFill>
            <a:srgbClr val="F4F6FB"/>
          </a:solidFill>
          <a:ln/>
        </p:spPr>
        <p:txBody>
          <a:bodyPr/>
          <a:lstStyle/>
          <a:p>
            <a:endParaRPr lang="ar-TN" sz="2400"/>
          </a:p>
        </p:txBody>
      </p:sp>
      <p:sp>
        <p:nvSpPr>
          <p:cNvPr id="11" name="Text 9"/>
          <p:cNvSpPr/>
          <p:nvPr/>
        </p:nvSpPr>
        <p:spPr>
          <a:xfrm>
            <a:off x="11094720" y="2621280"/>
            <a:ext cx="1219200" cy="609600"/>
          </a:xfrm>
          <a:prstGeom prst="rect">
            <a:avLst/>
          </a:prstGeom>
          <a:noFill/>
          <a:ln/>
        </p:spPr>
        <p:txBody>
          <a:bodyPr wrap="square" rtlCol="0" anchor="ctr"/>
          <a:lstStyle/>
          <a:p>
            <a:r>
              <a:rPr lang="en-US" sz="2933" b="1" dirty="0">
                <a:solidFill>
                  <a:srgbClr val="1E2761"/>
                </a:solidFill>
                <a:latin typeface="Cambria" pitchFamily="34" charset="0"/>
                <a:ea typeface="Cambria" pitchFamily="34" charset="-122"/>
                <a:cs typeface="Cambria" pitchFamily="34" charset="-120"/>
              </a:rPr>
              <a:t>03</a:t>
            </a:r>
            <a:endParaRPr lang="en-US" sz="2933" dirty="0"/>
          </a:p>
        </p:txBody>
      </p:sp>
      <p:sp>
        <p:nvSpPr>
          <p:cNvPr id="12" name="Text 10"/>
          <p:cNvSpPr/>
          <p:nvPr/>
        </p:nvSpPr>
        <p:spPr>
          <a:xfrm>
            <a:off x="11094720" y="3267456"/>
            <a:ext cx="4206240" cy="914400"/>
          </a:xfrm>
          <a:prstGeom prst="rect">
            <a:avLst/>
          </a:prstGeom>
          <a:noFill/>
          <a:ln/>
        </p:spPr>
        <p:txBody>
          <a:bodyPr wrap="square" rtlCol="0" anchor="ctr"/>
          <a:lstStyle/>
          <a:p>
            <a:pPr>
              <a:lnSpc>
                <a:spcPct val="115000"/>
              </a:lnSpc>
            </a:pPr>
            <a:r>
              <a:rPr lang="en-US" dirty="0">
                <a:solidFill>
                  <a:srgbClr val="1A1A2E"/>
                </a:solidFill>
                <a:latin typeface="Calibri" pitchFamily="34" charset="0"/>
                <a:ea typeface="Calibri" pitchFamily="34" charset="-122"/>
                <a:cs typeface="Calibri" pitchFamily="34" charset="-120"/>
              </a:rPr>
              <a:t>Engagement communautaire</a:t>
            </a:r>
            <a:endParaRPr lang="en-US" dirty="0"/>
          </a:p>
        </p:txBody>
      </p:sp>
      <p:sp>
        <p:nvSpPr>
          <p:cNvPr id="13" name="Shape 11"/>
          <p:cNvSpPr/>
          <p:nvPr/>
        </p:nvSpPr>
        <p:spPr>
          <a:xfrm>
            <a:off x="853440" y="4572000"/>
            <a:ext cx="4693920" cy="1828800"/>
          </a:xfrm>
          <a:prstGeom prst="roundRect">
            <a:avLst>
              <a:gd name="adj" fmla="val 5333"/>
            </a:avLst>
          </a:prstGeom>
          <a:solidFill>
            <a:srgbClr val="1E2761"/>
          </a:solidFill>
          <a:ln/>
        </p:spPr>
        <p:txBody>
          <a:bodyPr/>
          <a:lstStyle/>
          <a:p>
            <a:endParaRPr lang="ar-TN" sz="2400"/>
          </a:p>
        </p:txBody>
      </p:sp>
      <p:sp>
        <p:nvSpPr>
          <p:cNvPr id="14" name="Text 12"/>
          <p:cNvSpPr/>
          <p:nvPr/>
        </p:nvSpPr>
        <p:spPr>
          <a:xfrm>
            <a:off x="1097280" y="4754880"/>
            <a:ext cx="1219200" cy="609600"/>
          </a:xfrm>
          <a:prstGeom prst="rect">
            <a:avLst/>
          </a:prstGeom>
          <a:noFill/>
          <a:ln/>
        </p:spPr>
        <p:txBody>
          <a:bodyPr wrap="square" rtlCol="0" anchor="ctr"/>
          <a:lstStyle/>
          <a:p>
            <a:r>
              <a:rPr lang="en-US" sz="2933" b="1" dirty="0">
                <a:solidFill>
                  <a:srgbClr val="CADCFC"/>
                </a:solidFill>
                <a:latin typeface="Cambria" pitchFamily="34" charset="0"/>
                <a:ea typeface="Cambria" pitchFamily="34" charset="-122"/>
                <a:cs typeface="Cambria" pitchFamily="34" charset="-120"/>
              </a:rPr>
              <a:t>04</a:t>
            </a:r>
            <a:endParaRPr lang="en-US" sz="2933" dirty="0"/>
          </a:p>
        </p:txBody>
      </p:sp>
      <p:sp>
        <p:nvSpPr>
          <p:cNvPr id="15" name="Text 13"/>
          <p:cNvSpPr/>
          <p:nvPr/>
        </p:nvSpPr>
        <p:spPr>
          <a:xfrm>
            <a:off x="1097280" y="5401056"/>
            <a:ext cx="4206240" cy="914400"/>
          </a:xfrm>
          <a:prstGeom prst="rect">
            <a:avLst/>
          </a:prstGeom>
          <a:noFill/>
          <a:ln/>
        </p:spPr>
        <p:txBody>
          <a:bodyPr wrap="square" rtlCol="0" anchor="ctr"/>
          <a:lstStyle/>
          <a:p>
            <a:pPr>
              <a:lnSpc>
                <a:spcPct val="115000"/>
              </a:lnSpc>
            </a:pPr>
            <a:r>
              <a:rPr lang="en-US" b="1" dirty="0">
                <a:solidFill>
                  <a:srgbClr val="FFFFFF"/>
                </a:solidFill>
                <a:latin typeface="Calibri" pitchFamily="34" charset="0"/>
                <a:ea typeface="Calibri" pitchFamily="34" charset="-122"/>
                <a:cs typeface="Calibri" pitchFamily="34" charset="-120"/>
              </a:rPr>
              <a:t>Gestion de l'infodémie</a:t>
            </a:r>
            <a:endParaRPr lang="en-US" dirty="0"/>
          </a:p>
        </p:txBody>
      </p:sp>
      <p:sp>
        <p:nvSpPr>
          <p:cNvPr id="16" name="Shape 14"/>
          <p:cNvSpPr/>
          <p:nvPr/>
        </p:nvSpPr>
        <p:spPr>
          <a:xfrm>
            <a:off x="5852160" y="4572000"/>
            <a:ext cx="4693920" cy="1828800"/>
          </a:xfrm>
          <a:prstGeom prst="roundRect">
            <a:avLst>
              <a:gd name="adj" fmla="val 5333"/>
            </a:avLst>
          </a:prstGeom>
          <a:solidFill>
            <a:srgbClr val="F4F6FB"/>
          </a:solidFill>
          <a:ln/>
        </p:spPr>
        <p:txBody>
          <a:bodyPr/>
          <a:lstStyle/>
          <a:p>
            <a:endParaRPr lang="ar-TN" sz="2400"/>
          </a:p>
        </p:txBody>
      </p:sp>
      <p:sp>
        <p:nvSpPr>
          <p:cNvPr id="17" name="Text 15"/>
          <p:cNvSpPr/>
          <p:nvPr/>
        </p:nvSpPr>
        <p:spPr>
          <a:xfrm>
            <a:off x="6096000" y="4754880"/>
            <a:ext cx="1219200" cy="609600"/>
          </a:xfrm>
          <a:prstGeom prst="rect">
            <a:avLst/>
          </a:prstGeom>
          <a:noFill/>
          <a:ln/>
        </p:spPr>
        <p:txBody>
          <a:bodyPr wrap="square" rtlCol="0" anchor="ctr"/>
          <a:lstStyle/>
          <a:p>
            <a:r>
              <a:rPr lang="en-US" sz="2933" b="1" dirty="0">
                <a:solidFill>
                  <a:srgbClr val="1E2761"/>
                </a:solidFill>
                <a:latin typeface="Cambria" pitchFamily="34" charset="0"/>
                <a:ea typeface="Cambria" pitchFamily="34" charset="-122"/>
                <a:cs typeface="Cambria" pitchFamily="34" charset="-120"/>
              </a:rPr>
              <a:t>05</a:t>
            </a:r>
            <a:endParaRPr lang="en-US" sz="2933" dirty="0"/>
          </a:p>
        </p:txBody>
      </p:sp>
      <p:sp>
        <p:nvSpPr>
          <p:cNvPr id="18" name="Text 16"/>
          <p:cNvSpPr/>
          <p:nvPr/>
        </p:nvSpPr>
        <p:spPr>
          <a:xfrm>
            <a:off x="6096000" y="5401056"/>
            <a:ext cx="4206240" cy="914400"/>
          </a:xfrm>
          <a:prstGeom prst="rect">
            <a:avLst/>
          </a:prstGeom>
          <a:noFill/>
          <a:ln/>
        </p:spPr>
        <p:txBody>
          <a:bodyPr wrap="square" rtlCol="0" anchor="ctr"/>
          <a:lstStyle/>
          <a:p>
            <a:pPr>
              <a:lnSpc>
                <a:spcPct val="115000"/>
              </a:lnSpc>
            </a:pPr>
            <a:r>
              <a:rPr lang="en-US" dirty="0">
                <a:solidFill>
                  <a:srgbClr val="1A1A2E"/>
                </a:solidFill>
                <a:latin typeface="Calibri" pitchFamily="34" charset="0"/>
                <a:ea typeface="Calibri" pitchFamily="34" charset="-122"/>
                <a:cs typeface="Calibri" pitchFamily="34" charset="-120"/>
              </a:rPr>
              <a:t>Renforcement des capacités</a:t>
            </a:r>
            <a:endParaRPr lang="en-US" dirty="0"/>
          </a:p>
        </p:txBody>
      </p:sp>
      <p:sp>
        <p:nvSpPr>
          <p:cNvPr id="19" name="Shape 17"/>
          <p:cNvSpPr/>
          <p:nvPr/>
        </p:nvSpPr>
        <p:spPr>
          <a:xfrm>
            <a:off x="10850880" y="4572000"/>
            <a:ext cx="4693920" cy="1828800"/>
          </a:xfrm>
          <a:prstGeom prst="roundRect">
            <a:avLst>
              <a:gd name="adj" fmla="val 5333"/>
            </a:avLst>
          </a:prstGeom>
          <a:solidFill>
            <a:srgbClr val="F4F6FB"/>
          </a:solidFill>
          <a:ln/>
        </p:spPr>
        <p:txBody>
          <a:bodyPr/>
          <a:lstStyle/>
          <a:p>
            <a:endParaRPr lang="ar-TN" sz="2400"/>
          </a:p>
        </p:txBody>
      </p:sp>
      <p:sp>
        <p:nvSpPr>
          <p:cNvPr id="20" name="Text 18"/>
          <p:cNvSpPr/>
          <p:nvPr/>
        </p:nvSpPr>
        <p:spPr>
          <a:xfrm>
            <a:off x="11094720" y="4754880"/>
            <a:ext cx="1219200" cy="609600"/>
          </a:xfrm>
          <a:prstGeom prst="rect">
            <a:avLst/>
          </a:prstGeom>
          <a:noFill/>
          <a:ln/>
        </p:spPr>
        <p:txBody>
          <a:bodyPr wrap="square" rtlCol="0" anchor="ctr"/>
          <a:lstStyle/>
          <a:p>
            <a:r>
              <a:rPr lang="en-US" sz="2933" b="1" dirty="0">
                <a:solidFill>
                  <a:srgbClr val="1E2761"/>
                </a:solidFill>
                <a:latin typeface="Cambria" pitchFamily="34" charset="0"/>
                <a:ea typeface="Cambria" pitchFamily="34" charset="-122"/>
                <a:cs typeface="Cambria" pitchFamily="34" charset="-120"/>
              </a:rPr>
              <a:t>06</a:t>
            </a:r>
            <a:endParaRPr lang="en-US" sz="2933" dirty="0"/>
          </a:p>
        </p:txBody>
      </p:sp>
      <p:sp>
        <p:nvSpPr>
          <p:cNvPr id="21" name="Text 19"/>
          <p:cNvSpPr/>
          <p:nvPr/>
        </p:nvSpPr>
        <p:spPr>
          <a:xfrm>
            <a:off x="11094720" y="5401056"/>
            <a:ext cx="4206240" cy="914400"/>
          </a:xfrm>
          <a:prstGeom prst="rect">
            <a:avLst/>
          </a:prstGeom>
          <a:noFill/>
          <a:ln/>
        </p:spPr>
        <p:txBody>
          <a:bodyPr wrap="square" rtlCol="0" anchor="ctr"/>
          <a:lstStyle/>
          <a:p>
            <a:pPr>
              <a:lnSpc>
                <a:spcPct val="115000"/>
              </a:lnSpc>
            </a:pPr>
            <a:r>
              <a:rPr lang="en-US" dirty="0">
                <a:solidFill>
                  <a:srgbClr val="1A1A2E"/>
                </a:solidFill>
                <a:latin typeface="Calibri" pitchFamily="34" charset="0"/>
                <a:ea typeface="Calibri" pitchFamily="34" charset="-122"/>
                <a:cs typeface="Calibri" pitchFamily="34" charset="-120"/>
              </a:rPr>
              <a:t>Suivi, évaluation et apprentissage</a:t>
            </a:r>
            <a:endParaRPr lang="en-US" dirty="0"/>
          </a:p>
        </p:txBody>
      </p:sp>
      <p:sp>
        <p:nvSpPr>
          <p:cNvPr id="22" name="Text 20"/>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23" name="Text 21"/>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6</a:t>
            </a:r>
            <a:endParaRPr lang="en-US" sz="133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Des réalisations déjà engagées</a:t>
            </a:r>
            <a:endParaRPr lang="en-US" sz="4000" dirty="0"/>
          </a:p>
        </p:txBody>
      </p:sp>
      <p:sp>
        <p:nvSpPr>
          <p:cNvPr id="3" name="Shape 1"/>
          <p:cNvSpPr/>
          <p:nvPr/>
        </p:nvSpPr>
        <p:spPr>
          <a:xfrm>
            <a:off x="853440" y="1828800"/>
            <a:ext cx="609600" cy="609600"/>
          </a:xfrm>
          <a:prstGeom prst="ellipse">
            <a:avLst/>
          </a:prstGeom>
          <a:solidFill>
            <a:srgbClr val="1E2761"/>
          </a:solidFill>
          <a:ln/>
        </p:spPr>
        <p:txBody>
          <a:bodyPr/>
          <a:lstStyle/>
          <a:p>
            <a:endParaRPr lang="ar-TN" sz="2400"/>
          </a:p>
        </p:txBody>
      </p:sp>
      <p:pic>
        <p:nvPicPr>
          <p:cNvPr id="4" name="Image 0" descr="/home/claude/pptx_project/icons/check_white.png"/>
          <p:cNvPicPr>
            <a:picLocks noChangeAspect="1"/>
          </p:cNvPicPr>
          <p:nvPr/>
        </p:nvPicPr>
        <p:blipFill>
          <a:blip r:embed="rId3"/>
          <a:stretch>
            <a:fillRect/>
          </a:stretch>
        </p:blipFill>
        <p:spPr>
          <a:xfrm>
            <a:off x="932688" y="1908048"/>
            <a:ext cx="451104" cy="451104"/>
          </a:xfrm>
          <a:prstGeom prst="rect">
            <a:avLst/>
          </a:prstGeom>
        </p:spPr>
      </p:pic>
      <p:sp>
        <p:nvSpPr>
          <p:cNvPr id="5" name="Text 2"/>
          <p:cNvSpPr/>
          <p:nvPr/>
        </p:nvSpPr>
        <p:spPr>
          <a:xfrm>
            <a:off x="1645920" y="176784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Élaboration de la Stratégie nationale RCCE-IM</a:t>
            </a:r>
            <a:endParaRPr lang="en-US" sz="1733" dirty="0"/>
          </a:p>
        </p:txBody>
      </p:sp>
      <p:sp>
        <p:nvSpPr>
          <p:cNvPr id="6" name="Shape 3"/>
          <p:cNvSpPr/>
          <p:nvPr/>
        </p:nvSpPr>
        <p:spPr>
          <a:xfrm>
            <a:off x="853440" y="2926080"/>
            <a:ext cx="609600" cy="609600"/>
          </a:xfrm>
          <a:prstGeom prst="ellipse">
            <a:avLst/>
          </a:prstGeom>
          <a:solidFill>
            <a:srgbClr val="1E2761"/>
          </a:solidFill>
          <a:ln/>
        </p:spPr>
        <p:txBody>
          <a:bodyPr/>
          <a:lstStyle/>
          <a:p>
            <a:endParaRPr lang="ar-TN" sz="2400"/>
          </a:p>
        </p:txBody>
      </p:sp>
      <p:pic>
        <p:nvPicPr>
          <p:cNvPr id="7" name="Image 1" descr="/home/claude/pptx_project/icons/check_white.png"/>
          <p:cNvPicPr>
            <a:picLocks noChangeAspect="1"/>
          </p:cNvPicPr>
          <p:nvPr/>
        </p:nvPicPr>
        <p:blipFill>
          <a:blip r:embed="rId3"/>
          <a:stretch>
            <a:fillRect/>
          </a:stretch>
        </p:blipFill>
        <p:spPr>
          <a:xfrm>
            <a:off x="932688" y="3005328"/>
            <a:ext cx="451104" cy="451104"/>
          </a:xfrm>
          <a:prstGeom prst="rect">
            <a:avLst/>
          </a:prstGeom>
        </p:spPr>
      </p:pic>
      <p:sp>
        <p:nvSpPr>
          <p:cNvPr id="8" name="Text 4"/>
          <p:cNvSpPr/>
          <p:nvPr/>
        </p:nvSpPr>
        <p:spPr>
          <a:xfrm>
            <a:off x="1645920" y="286512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Élaboration du Plan national de gestion de l'infodémie</a:t>
            </a:r>
            <a:endParaRPr lang="en-US" sz="1733" dirty="0"/>
          </a:p>
        </p:txBody>
      </p:sp>
      <p:sp>
        <p:nvSpPr>
          <p:cNvPr id="9" name="Shape 5"/>
          <p:cNvSpPr/>
          <p:nvPr/>
        </p:nvSpPr>
        <p:spPr>
          <a:xfrm>
            <a:off x="853440" y="4023360"/>
            <a:ext cx="609600" cy="609600"/>
          </a:xfrm>
          <a:prstGeom prst="ellipse">
            <a:avLst/>
          </a:prstGeom>
          <a:solidFill>
            <a:srgbClr val="1E2761"/>
          </a:solidFill>
          <a:ln/>
        </p:spPr>
        <p:txBody>
          <a:bodyPr/>
          <a:lstStyle/>
          <a:p>
            <a:endParaRPr lang="ar-TN" sz="2400"/>
          </a:p>
        </p:txBody>
      </p:sp>
      <p:pic>
        <p:nvPicPr>
          <p:cNvPr id="10" name="Image 2" descr="/home/claude/pptx_project/icons/check_white.png"/>
          <p:cNvPicPr>
            <a:picLocks noChangeAspect="1"/>
          </p:cNvPicPr>
          <p:nvPr/>
        </p:nvPicPr>
        <p:blipFill>
          <a:blip r:embed="rId3"/>
          <a:stretch>
            <a:fillRect/>
          </a:stretch>
        </p:blipFill>
        <p:spPr>
          <a:xfrm>
            <a:off x="932688" y="4102608"/>
            <a:ext cx="451104" cy="451104"/>
          </a:xfrm>
          <a:prstGeom prst="rect">
            <a:avLst/>
          </a:prstGeom>
        </p:spPr>
      </p:pic>
      <p:sp>
        <p:nvSpPr>
          <p:cNvPr id="11" name="Text 6"/>
          <p:cNvSpPr/>
          <p:nvPr/>
        </p:nvSpPr>
        <p:spPr>
          <a:xfrm>
            <a:off x="1645920" y="396240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Développement des SOP nationales</a:t>
            </a:r>
            <a:endParaRPr lang="en-US" sz="1733" dirty="0"/>
          </a:p>
        </p:txBody>
      </p:sp>
      <p:sp>
        <p:nvSpPr>
          <p:cNvPr id="12" name="Shape 7"/>
          <p:cNvSpPr/>
          <p:nvPr/>
        </p:nvSpPr>
        <p:spPr>
          <a:xfrm>
            <a:off x="853440" y="5120640"/>
            <a:ext cx="609600" cy="609600"/>
          </a:xfrm>
          <a:prstGeom prst="ellipse">
            <a:avLst/>
          </a:prstGeom>
          <a:solidFill>
            <a:srgbClr val="1E2761"/>
          </a:solidFill>
          <a:ln/>
        </p:spPr>
        <p:txBody>
          <a:bodyPr/>
          <a:lstStyle/>
          <a:p>
            <a:endParaRPr lang="ar-TN" sz="2400"/>
          </a:p>
        </p:txBody>
      </p:sp>
      <p:pic>
        <p:nvPicPr>
          <p:cNvPr id="13" name="Image 3" descr="/home/claude/pptx_project/icons/check_white.png"/>
          <p:cNvPicPr>
            <a:picLocks noChangeAspect="1"/>
          </p:cNvPicPr>
          <p:nvPr/>
        </p:nvPicPr>
        <p:blipFill>
          <a:blip r:embed="rId3"/>
          <a:stretch>
            <a:fillRect/>
          </a:stretch>
        </p:blipFill>
        <p:spPr>
          <a:xfrm>
            <a:off x="932688" y="5199888"/>
            <a:ext cx="451104" cy="451104"/>
          </a:xfrm>
          <a:prstGeom prst="rect">
            <a:avLst/>
          </a:prstGeom>
        </p:spPr>
      </p:pic>
      <p:sp>
        <p:nvSpPr>
          <p:cNvPr id="14" name="Text 8"/>
          <p:cNvSpPr/>
          <p:nvPr/>
        </p:nvSpPr>
        <p:spPr>
          <a:xfrm>
            <a:off x="1645920" y="505968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Mise en place d'une cellule de veille médiatique</a:t>
            </a:r>
            <a:endParaRPr lang="en-US" sz="1733" dirty="0"/>
          </a:p>
        </p:txBody>
      </p:sp>
      <p:sp>
        <p:nvSpPr>
          <p:cNvPr id="15" name="Shape 9"/>
          <p:cNvSpPr/>
          <p:nvPr/>
        </p:nvSpPr>
        <p:spPr>
          <a:xfrm>
            <a:off x="8412480" y="1828800"/>
            <a:ext cx="609600" cy="609600"/>
          </a:xfrm>
          <a:prstGeom prst="ellipse">
            <a:avLst/>
          </a:prstGeom>
          <a:solidFill>
            <a:srgbClr val="1E2761"/>
          </a:solidFill>
          <a:ln/>
        </p:spPr>
        <p:txBody>
          <a:bodyPr/>
          <a:lstStyle/>
          <a:p>
            <a:endParaRPr lang="ar-TN" sz="2400"/>
          </a:p>
        </p:txBody>
      </p:sp>
      <p:pic>
        <p:nvPicPr>
          <p:cNvPr id="16" name="Image 4" descr="/home/claude/pptx_project/icons/check_white.png"/>
          <p:cNvPicPr>
            <a:picLocks noChangeAspect="1"/>
          </p:cNvPicPr>
          <p:nvPr/>
        </p:nvPicPr>
        <p:blipFill>
          <a:blip r:embed="rId3"/>
          <a:stretch>
            <a:fillRect/>
          </a:stretch>
        </p:blipFill>
        <p:spPr>
          <a:xfrm>
            <a:off x="8491728" y="1908048"/>
            <a:ext cx="451104" cy="451104"/>
          </a:xfrm>
          <a:prstGeom prst="rect">
            <a:avLst/>
          </a:prstGeom>
        </p:spPr>
      </p:pic>
      <p:sp>
        <p:nvSpPr>
          <p:cNvPr id="17" name="Text 10"/>
          <p:cNvSpPr/>
          <p:nvPr/>
        </p:nvSpPr>
        <p:spPr>
          <a:xfrm>
            <a:off x="9204960" y="176784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Développement d'un curriculum national de formation</a:t>
            </a:r>
            <a:endParaRPr lang="en-US" sz="1733" dirty="0"/>
          </a:p>
        </p:txBody>
      </p:sp>
      <p:sp>
        <p:nvSpPr>
          <p:cNvPr id="18" name="Shape 11"/>
          <p:cNvSpPr/>
          <p:nvPr/>
        </p:nvSpPr>
        <p:spPr>
          <a:xfrm>
            <a:off x="8412480" y="2926080"/>
            <a:ext cx="609600" cy="609600"/>
          </a:xfrm>
          <a:prstGeom prst="ellipse">
            <a:avLst/>
          </a:prstGeom>
          <a:solidFill>
            <a:srgbClr val="1E2761"/>
          </a:solidFill>
          <a:ln/>
        </p:spPr>
        <p:txBody>
          <a:bodyPr/>
          <a:lstStyle/>
          <a:p>
            <a:endParaRPr lang="ar-TN" sz="2400"/>
          </a:p>
        </p:txBody>
      </p:sp>
      <p:pic>
        <p:nvPicPr>
          <p:cNvPr id="19" name="Image 5" descr="/home/claude/pptx_project/icons/check_white.png"/>
          <p:cNvPicPr>
            <a:picLocks noChangeAspect="1"/>
          </p:cNvPicPr>
          <p:nvPr/>
        </p:nvPicPr>
        <p:blipFill>
          <a:blip r:embed="rId3"/>
          <a:stretch>
            <a:fillRect/>
          </a:stretch>
        </p:blipFill>
        <p:spPr>
          <a:xfrm>
            <a:off x="8491728" y="3005328"/>
            <a:ext cx="451104" cy="451104"/>
          </a:xfrm>
          <a:prstGeom prst="rect">
            <a:avLst/>
          </a:prstGeom>
        </p:spPr>
      </p:pic>
      <p:sp>
        <p:nvSpPr>
          <p:cNvPr id="20" name="Text 12"/>
          <p:cNvSpPr/>
          <p:nvPr/>
        </p:nvSpPr>
        <p:spPr>
          <a:xfrm>
            <a:off x="9204960" y="286512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Ateliers de formation pour points focaux, médias, société civile</a:t>
            </a:r>
            <a:endParaRPr lang="en-US" sz="1733" dirty="0"/>
          </a:p>
        </p:txBody>
      </p:sp>
      <p:sp>
        <p:nvSpPr>
          <p:cNvPr id="21" name="Shape 13"/>
          <p:cNvSpPr/>
          <p:nvPr/>
        </p:nvSpPr>
        <p:spPr>
          <a:xfrm>
            <a:off x="8412480" y="4023360"/>
            <a:ext cx="609600" cy="609600"/>
          </a:xfrm>
          <a:prstGeom prst="ellipse">
            <a:avLst/>
          </a:prstGeom>
          <a:solidFill>
            <a:srgbClr val="1E2761"/>
          </a:solidFill>
          <a:ln/>
        </p:spPr>
        <p:txBody>
          <a:bodyPr/>
          <a:lstStyle/>
          <a:p>
            <a:endParaRPr lang="ar-TN" sz="2400"/>
          </a:p>
        </p:txBody>
      </p:sp>
      <p:pic>
        <p:nvPicPr>
          <p:cNvPr id="22" name="Image 6" descr="/home/claude/pptx_project/icons/check_white.png"/>
          <p:cNvPicPr>
            <a:picLocks noChangeAspect="1"/>
          </p:cNvPicPr>
          <p:nvPr/>
        </p:nvPicPr>
        <p:blipFill>
          <a:blip r:embed="rId3"/>
          <a:stretch>
            <a:fillRect/>
          </a:stretch>
        </p:blipFill>
        <p:spPr>
          <a:xfrm>
            <a:off x="8491728" y="4102608"/>
            <a:ext cx="451104" cy="451104"/>
          </a:xfrm>
          <a:prstGeom prst="rect">
            <a:avLst/>
          </a:prstGeom>
        </p:spPr>
      </p:pic>
      <p:sp>
        <p:nvSpPr>
          <p:cNvPr id="23" name="Text 14"/>
          <p:cNvSpPr/>
          <p:nvPr/>
        </p:nvSpPr>
        <p:spPr>
          <a:xfrm>
            <a:off x="9204960" y="396240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Premières formations des régions à la gestion des pages institutionnelles</a:t>
            </a:r>
            <a:endParaRPr lang="en-US" sz="1733" dirty="0"/>
          </a:p>
        </p:txBody>
      </p:sp>
      <p:sp>
        <p:nvSpPr>
          <p:cNvPr id="24" name="Shape 15"/>
          <p:cNvSpPr/>
          <p:nvPr/>
        </p:nvSpPr>
        <p:spPr>
          <a:xfrm>
            <a:off x="8412480" y="5120640"/>
            <a:ext cx="609600" cy="609600"/>
          </a:xfrm>
          <a:prstGeom prst="ellipse">
            <a:avLst/>
          </a:prstGeom>
          <a:solidFill>
            <a:srgbClr val="1E2761"/>
          </a:solidFill>
          <a:ln/>
        </p:spPr>
        <p:txBody>
          <a:bodyPr/>
          <a:lstStyle/>
          <a:p>
            <a:endParaRPr lang="ar-TN" sz="2400"/>
          </a:p>
        </p:txBody>
      </p:sp>
      <p:pic>
        <p:nvPicPr>
          <p:cNvPr id="25" name="Image 7" descr="/home/claude/pptx_project/icons/check_white.png"/>
          <p:cNvPicPr>
            <a:picLocks noChangeAspect="1"/>
          </p:cNvPicPr>
          <p:nvPr/>
        </p:nvPicPr>
        <p:blipFill>
          <a:blip r:embed="rId3"/>
          <a:stretch>
            <a:fillRect/>
          </a:stretch>
        </p:blipFill>
        <p:spPr>
          <a:xfrm>
            <a:off x="8491728" y="5199888"/>
            <a:ext cx="451104" cy="451104"/>
          </a:xfrm>
          <a:prstGeom prst="rect">
            <a:avLst/>
          </a:prstGeom>
        </p:spPr>
      </p:pic>
      <p:sp>
        <p:nvSpPr>
          <p:cNvPr id="26" name="Text 16"/>
          <p:cNvSpPr/>
          <p:nvPr/>
        </p:nvSpPr>
        <p:spPr>
          <a:xfrm>
            <a:off x="9204960" y="5059680"/>
            <a:ext cx="6156960" cy="731520"/>
          </a:xfrm>
          <a:prstGeom prst="rect">
            <a:avLst/>
          </a:prstGeom>
          <a:noFill/>
          <a:ln/>
        </p:spPr>
        <p:txBody>
          <a:bodyPr wrap="square" rtlCol="0" anchor="ctr"/>
          <a:lstStyle/>
          <a:p>
            <a:pPr>
              <a:lnSpc>
                <a:spcPct val="110000"/>
              </a:lnSpc>
            </a:pPr>
            <a:r>
              <a:rPr lang="en-US" sz="1733" dirty="0">
                <a:solidFill>
                  <a:srgbClr val="1A1A2E"/>
                </a:solidFill>
                <a:latin typeface="Calibri" pitchFamily="34" charset="0"/>
                <a:ea typeface="Calibri" pitchFamily="34" charset="-122"/>
                <a:cs typeface="Calibri" pitchFamily="34" charset="-120"/>
              </a:rPr>
              <a:t>Intégration progressive du RCCE-IM dans les mécanismes nationaux</a:t>
            </a:r>
            <a:endParaRPr lang="en-US" sz="1733" dirty="0"/>
          </a:p>
        </p:txBody>
      </p:sp>
      <p:sp>
        <p:nvSpPr>
          <p:cNvPr id="27" name="Text 17"/>
          <p:cNvSpPr/>
          <p:nvPr/>
        </p:nvSpPr>
        <p:spPr>
          <a:xfrm>
            <a:off x="853440" y="6400800"/>
            <a:ext cx="14508480" cy="609600"/>
          </a:xfrm>
          <a:prstGeom prst="rect">
            <a:avLst/>
          </a:prstGeom>
          <a:noFill/>
          <a:ln/>
        </p:spPr>
        <p:txBody>
          <a:bodyPr wrap="square" rtlCol="0" anchor="ctr"/>
          <a:lstStyle/>
          <a:p>
            <a:r>
              <a:rPr lang="en-US" sz="1867" i="1" dirty="0">
                <a:solidFill>
                  <a:srgbClr val="5B6472"/>
                </a:solidFill>
                <a:latin typeface="Calibri" pitchFamily="34" charset="0"/>
                <a:ea typeface="Calibri" pitchFamily="34" charset="-122"/>
                <a:cs typeface="Calibri" pitchFamily="34" charset="-120"/>
              </a:rPr>
              <a:t>Ces acquis constituent la base sur laquelle la plateforme viendra s'appuyer.</a:t>
            </a:r>
            <a:endParaRPr lang="en-US" sz="1867" dirty="0"/>
          </a:p>
        </p:txBody>
      </p:sp>
      <p:sp>
        <p:nvSpPr>
          <p:cNvPr id="28" name="Text 18"/>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29" name="Text 19"/>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7</a:t>
            </a:r>
            <a:endParaRPr lang="en-US" sz="1333"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70560"/>
            <a:ext cx="14508480" cy="1097280"/>
          </a:xfrm>
          <a:prstGeom prst="rect">
            <a:avLst/>
          </a:prstGeom>
          <a:noFill/>
          <a:ln/>
        </p:spPr>
        <p:txBody>
          <a:bodyPr wrap="square" rtlCol="0" anchor="ctr"/>
          <a:lstStyle/>
          <a:p>
            <a:r>
              <a:rPr lang="en-US" sz="3600" b="1" dirty="0">
                <a:solidFill>
                  <a:srgbClr val="FFFFFF"/>
                </a:solidFill>
                <a:latin typeface="Cambria" pitchFamily="34" charset="0"/>
                <a:ea typeface="Cambria" pitchFamily="34" charset="-122"/>
                <a:cs typeface="Cambria" pitchFamily="34" charset="-120"/>
              </a:rPr>
              <a:t>La Plateforme Nationale Intégrée de Gestion de l'Infodémie</a:t>
            </a:r>
            <a:endParaRPr lang="en-US" sz="3600" dirty="0"/>
          </a:p>
        </p:txBody>
      </p:sp>
      <p:sp>
        <p:nvSpPr>
          <p:cNvPr id="3" name="Text 1"/>
          <p:cNvSpPr/>
          <p:nvPr/>
        </p:nvSpPr>
        <p:spPr>
          <a:xfrm>
            <a:off x="853440" y="1767840"/>
            <a:ext cx="14508480" cy="853440"/>
          </a:xfrm>
          <a:prstGeom prst="rect">
            <a:avLst/>
          </a:prstGeom>
          <a:noFill/>
          <a:ln/>
        </p:spPr>
        <p:txBody>
          <a:bodyPr wrap="square" rtlCol="0" anchor="ctr"/>
          <a:lstStyle/>
          <a:p>
            <a:pPr>
              <a:lnSpc>
                <a:spcPct val="120000"/>
              </a:lnSpc>
            </a:pPr>
            <a:r>
              <a:rPr lang="en-US" sz="1933" dirty="0">
                <a:solidFill>
                  <a:srgbClr val="CADCFC"/>
                </a:solidFill>
                <a:latin typeface="Calibri" pitchFamily="34" charset="0"/>
                <a:ea typeface="Calibri" pitchFamily="34" charset="-122"/>
                <a:cs typeface="Calibri" pitchFamily="34" charset="-120"/>
              </a:rPr>
              <a:t>Principal outil opérationnel du pilier « Gestion de l'infodémie ». Elle transformera une veille essentiellement manuelle en un système automatisé d'aide à la décision.</a:t>
            </a:r>
            <a:endParaRPr lang="en-US" sz="1933" dirty="0"/>
          </a:p>
        </p:txBody>
      </p:sp>
      <p:sp>
        <p:nvSpPr>
          <p:cNvPr id="4" name="Shape 2"/>
          <p:cNvSpPr/>
          <p:nvPr/>
        </p:nvSpPr>
        <p:spPr>
          <a:xfrm>
            <a:off x="853440" y="2865120"/>
            <a:ext cx="4693920" cy="1889760"/>
          </a:xfrm>
          <a:prstGeom prst="roundRect">
            <a:avLst>
              <a:gd name="adj" fmla="val 5161"/>
            </a:avLst>
          </a:prstGeom>
          <a:solidFill>
            <a:srgbClr val="26306E"/>
          </a:solidFill>
          <a:ln/>
        </p:spPr>
        <p:txBody>
          <a:bodyPr/>
          <a:lstStyle/>
          <a:p>
            <a:endParaRPr lang="ar-TN" sz="2400"/>
          </a:p>
        </p:txBody>
      </p:sp>
      <p:sp>
        <p:nvSpPr>
          <p:cNvPr id="5" name="Shape 3"/>
          <p:cNvSpPr/>
          <p:nvPr/>
        </p:nvSpPr>
        <p:spPr>
          <a:xfrm>
            <a:off x="1121664" y="3133344"/>
            <a:ext cx="792480" cy="792480"/>
          </a:xfrm>
          <a:prstGeom prst="ellipse">
            <a:avLst/>
          </a:prstGeom>
          <a:solidFill>
            <a:srgbClr val="CADCFC"/>
          </a:solidFill>
          <a:ln/>
        </p:spPr>
        <p:txBody>
          <a:bodyPr/>
          <a:lstStyle/>
          <a:p>
            <a:endParaRPr lang="ar-TN" sz="2400"/>
          </a:p>
        </p:txBody>
      </p:sp>
      <p:pic>
        <p:nvPicPr>
          <p:cNvPr id="6" name="Image 0" descr="/home/claude/pptx_project/icons/radar_navy.png"/>
          <p:cNvPicPr>
            <a:picLocks noChangeAspect="1"/>
          </p:cNvPicPr>
          <p:nvPr/>
        </p:nvPicPr>
        <p:blipFill>
          <a:blip r:embed="rId3"/>
          <a:stretch>
            <a:fillRect/>
          </a:stretch>
        </p:blipFill>
        <p:spPr>
          <a:xfrm>
            <a:off x="1224687" y="3236367"/>
            <a:ext cx="586435" cy="586435"/>
          </a:xfrm>
          <a:prstGeom prst="rect">
            <a:avLst/>
          </a:prstGeom>
        </p:spPr>
      </p:pic>
      <p:sp>
        <p:nvSpPr>
          <p:cNvPr id="7" name="Text 4"/>
          <p:cNvSpPr/>
          <p:nvPr/>
        </p:nvSpPr>
        <p:spPr>
          <a:xfrm>
            <a:off x="1121664" y="4023360"/>
            <a:ext cx="4157472" cy="670560"/>
          </a:xfrm>
          <a:prstGeom prst="rect">
            <a:avLst/>
          </a:prstGeom>
          <a:noFill/>
          <a:ln/>
        </p:spPr>
        <p:txBody>
          <a:bodyPr wrap="square" rtlCol="0" anchor="ctr"/>
          <a:lstStyle/>
          <a:p>
            <a:pPr>
              <a:lnSpc>
                <a:spcPct val="110000"/>
              </a:lnSpc>
            </a:pPr>
            <a:r>
              <a:rPr lang="en-US" sz="1667" dirty="0">
                <a:solidFill>
                  <a:srgbClr val="FFFFFF"/>
                </a:solidFill>
                <a:latin typeface="Calibri" pitchFamily="34" charset="0"/>
                <a:ea typeface="Calibri" pitchFamily="34" charset="-122"/>
                <a:cs typeface="Calibri" pitchFamily="34" charset="-120"/>
              </a:rPr>
              <a:t>Détecter automatiquement les rumeurs</a:t>
            </a:r>
            <a:endParaRPr lang="en-US" sz="1667" dirty="0"/>
          </a:p>
        </p:txBody>
      </p:sp>
      <p:sp>
        <p:nvSpPr>
          <p:cNvPr id="8" name="Shape 5"/>
          <p:cNvSpPr/>
          <p:nvPr/>
        </p:nvSpPr>
        <p:spPr>
          <a:xfrm>
            <a:off x="5852160" y="2865120"/>
            <a:ext cx="4693920" cy="1889760"/>
          </a:xfrm>
          <a:prstGeom prst="roundRect">
            <a:avLst>
              <a:gd name="adj" fmla="val 5161"/>
            </a:avLst>
          </a:prstGeom>
          <a:solidFill>
            <a:srgbClr val="26306E"/>
          </a:solidFill>
          <a:ln/>
        </p:spPr>
        <p:txBody>
          <a:bodyPr/>
          <a:lstStyle/>
          <a:p>
            <a:endParaRPr lang="ar-TN" sz="2400"/>
          </a:p>
        </p:txBody>
      </p:sp>
      <p:sp>
        <p:nvSpPr>
          <p:cNvPr id="9" name="Shape 6"/>
          <p:cNvSpPr/>
          <p:nvPr/>
        </p:nvSpPr>
        <p:spPr>
          <a:xfrm>
            <a:off x="6120384" y="3133344"/>
            <a:ext cx="792480" cy="792480"/>
          </a:xfrm>
          <a:prstGeom prst="ellipse">
            <a:avLst/>
          </a:prstGeom>
          <a:solidFill>
            <a:srgbClr val="CADCFC"/>
          </a:solidFill>
          <a:ln/>
        </p:spPr>
        <p:txBody>
          <a:bodyPr/>
          <a:lstStyle/>
          <a:p>
            <a:endParaRPr lang="ar-TN" sz="2400"/>
          </a:p>
        </p:txBody>
      </p:sp>
      <p:pic>
        <p:nvPicPr>
          <p:cNvPr id="10" name="Image 1" descr="/home/claude/pptx_project/icons/brain_navy.png"/>
          <p:cNvPicPr>
            <a:picLocks noChangeAspect="1"/>
          </p:cNvPicPr>
          <p:nvPr/>
        </p:nvPicPr>
        <p:blipFill>
          <a:blip r:embed="rId4"/>
          <a:stretch>
            <a:fillRect/>
          </a:stretch>
        </p:blipFill>
        <p:spPr>
          <a:xfrm>
            <a:off x="6223407" y="3236367"/>
            <a:ext cx="586435" cy="586435"/>
          </a:xfrm>
          <a:prstGeom prst="rect">
            <a:avLst/>
          </a:prstGeom>
        </p:spPr>
      </p:pic>
      <p:sp>
        <p:nvSpPr>
          <p:cNvPr id="11" name="Text 7"/>
          <p:cNvSpPr/>
          <p:nvPr/>
        </p:nvSpPr>
        <p:spPr>
          <a:xfrm>
            <a:off x="6120384" y="4023360"/>
            <a:ext cx="4157472" cy="670560"/>
          </a:xfrm>
          <a:prstGeom prst="rect">
            <a:avLst/>
          </a:prstGeom>
          <a:noFill/>
          <a:ln/>
        </p:spPr>
        <p:txBody>
          <a:bodyPr wrap="square" rtlCol="0" anchor="ctr"/>
          <a:lstStyle/>
          <a:p>
            <a:pPr>
              <a:lnSpc>
                <a:spcPct val="110000"/>
              </a:lnSpc>
            </a:pPr>
            <a:r>
              <a:rPr lang="en-US" sz="1667" dirty="0">
                <a:solidFill>
                  <a:srgbClr val="FFFFFF"/>
                </a:solidFill>
                <a:latin typeface="Calibri" pitchFamily="34" charset="0"/>
                <a:ea typeface="Calibri" pitchFamily="34" charset="-122"/>
                <a:cs typeface="Calibri" pitchFamily="34" charset="-120"/>
              </a:rPr>
              <a:t>Analyser les perceptions et préoccupations</a:t>
            </a:r>
            <a:endParaRPr lang="en-US" sz="1667" dirty="0"/>
          </a:p>
        </p:txBody>
      </p:sp>
      <p:sp>
        <p:nvSpPr>
          <p:cNvPr id="12" name="Shape 8"/>
          <p:cNvSpPr/>
          <p:nvPr/>
        </p:nvSpPr>
        <p:spPr>
          <a:xfrm>
            <a:off x="10850880" y="2865120"/>
            <a:ext cx="4693920" cy="1889760"/>
          </a:xfrm>
          <a:prstGeom prst="roundRect">
            <a:avLst>
              <a:gd name="adj" fmla="val 5161"/>
            </a:avLst>
          </a:prstGeom>
          <a:solidFill>
            <a:srgbClr val="26306E"/>
          </a:solidFill>
          <a:ln/>
        </p:spPr>
        <p:txBody>
          <a:bodyPr/>
          <a:lstStyle/>
          <a:p>
            <a:endParaRPr lang="ar-TN" sz="2400"/>
          </a:p>
        </p:txBody>
      </p:sp>
      <p:sp>
        <p:nvSpPr>
          <p:cNvPr id="13" name="Shape 9"/>
          <p:cNvSpPr/>
          <p:nvPr/>
        </p:nvSpPr>
        <p:spPr>
          <a:xfrm>
            <a:off x="11119104" y="3133344"/>
            <a:ext cx="792480" cy="792480"/>
          </a:xfrm>
          <a:prstGeom prst="ellipse">
            <a:avLst/>
          </a:prstGeom>
          <a:solidFill>
            <a:srgbClr val="CADCFC"/>
          </a:solidFill>
          <a:ln/>
        </p:spPr>
        <p:txBody>
          <a:bodyPr/>
          <a:lstStyle/>
          <a:p>
            <a:endParaRPr lang="ar-TN" sz="2400"/>
          </a:p>
        </p:txBody>
      </p:sp>
      <p:pic>
        <p:nvPicPr>
          <p:cNvPr id="14" name="Image 2" descr="/home/claude/pptx_project/icons/chart_navy.png"/>
          <p:cNvPicPr>
            <a:picLocks noChangeAspect="1"/>
          </p:cNvPicPr>
          <p:nvPr/>
        </p:nvPicPr>
        <p:blipFill>
          <a:blip r:embed="rId5"/>
          <a:stretch>
            <a:fillRect/>
          </a:stretch>
        </p:blipFill>
        <p:spPr>
          <a:xfrm>
            <a:off x="11222127" y="3236367"/>
            <a:ext cx="586435" cy="586435"/>
          </a:xfrm>
          <a:prstGeom prst="rect">
            <a:avLst/>
          </a:prstGeom>
        </p:spPr>
      </p:pic>
      <p:sp>
        <p:nvSpPr>
          <p:cNvPr id="15" name="Text 10"/>
          <p:cNvSpPr/>
          <p:nvPr/>
        </p:nvSpPr>
        <p:spPr>
          <a:xfrm>
            <a:off x="11119104" y="4023360"/>
            <a:ext cx="4157472" cy="670560"/>
          </a:xfrm>
          <a:prstGeom prst="rect">
            <a:avLst/>
          </a:prstGeom>
          <a:noFill/>
          <a:ln/>
        </p:spPr>
        <p:txBody>
          <a:bodyPr wrap="square" rtlCol="0" anchor="ctr"/>
          <a:lstStyle/>
          <a:p>
            <a:pPr>
              <a:lnSpc>
                <a:spcPct val="110000"/>
              </a:lnSpc>
            </a:pPr>
            <a:r>
              <a:rPr lang="en-US" sz="1667" dirty="0">
                <a:solidFill>
                  <a:srgbClr val="FFFFFF"/>
                </a:solidFill>
                <a:latin typeface="Calibri" pitchFamily="34" charset="0"/>
                <a:ea typeface="Calibri" pitchFamily="34" charset="-122"/>
                <a:cs typeface="Calibri" pitchFamily="34" charset="-120"/>
              </a:rPr>
              <a:t>Mesurer le niveau de confiance</a:t>
            </a:r>
            <a:endParaRPr lang="en-US" sz="1667" dirty="0"/>
          </a:p>
        </p:txBody>
      </p:sp>
      <p:sp>
        <p:nvSpPr>
          <p:cNvPr id="16" name="Shape 11"/>
          <p:cNvSpPr/>
          <p:nvPr/>
        </p:nvSpPr>
        <p:spPr>
          <a:xfrm>
            <a:off x="853440" y="5059680"/>
            <a:ext cx="4693920" cy="1889760"/>
          </a:xfrm>
          <a:prstGeom prst="roundRect">
            <a:avLst>
              <a:gd name="adj" fmla="val 5161"/>
            </a:avLst>
          </a:prstGeom>
          <a:solidFill>
            <a:srgbClr val="26306E"/>
          </a:solidFill>
          <a:ln/>
        </p:spPr>
        <p:txBody>
          <a:bodyPr/>
          <a:lstStyle/>
          <a:p>
            <a:endParaRPr lang="ar-TN" sz="2400"/>
          </a:p>
        </p:txBody>
      </p:sp>
      <p:sp>
        <p:nvSpPr>
          <p:cNvPr id="17" name="Shape 12"/>
          <p:cNvSpPr/>
          <p:nvPr/>
        </p:nvSpPr>
        <p:spPr>
          <a:xfrm>
            <a:off x="1121664" y="5327904"/>
            <a:ext cx="792480" cy="792480"/>
          </a:xfrm>
          <a:prstGeom prst="ellipse">
            <a:avLst/>
          </a:prstGeom>
          <a:solidFill>
            <a:srgbClr val="CADCFC"/>
          </a:solidFill>
          <a:ln/>
        </p:spPr>
        <p:txBody>
          <a:bodyPr/>
          <a:lstStyle/>
          <a:p>
            <a:endParaRPr lang="ar-TN" sz="2400"/>
          </a:p>
        </p:txBody>
      </p:sp>
      <p:pic>
        <p:nvPicPr>
          <p:cNvPr id="18" name="Image 3" descr="/home/claude/pptx_project/icons/users_navy.png"/>
          <p:cNvPicPr>
            <a:picLocks noChangeAspect="1"/>
          </p:cNvPicPr>
          <p:nvPr/>
        </p:nvPicPr>
        <p:blipFill>
          <a:blip r:embed="rId6"/>
          <a:stretch>
            <a:fillRect/>
          </a:stretch>
        </p:blipFill>
        <p:spPr>
          <a:xfrm>
            <a:off x="1224687" y="5430927"/>
            <a:ext cx="586435" cy="586435"/>
          </a:xfrm>
          <a:prstGeom prst="rect">
            <a:avLst/>
          </a:prstGeom>
        </p:spPr>
      </p:pic>
      <p:sp>
        <p:nvSpPr>
          <p:cNvPr id="19" name="Text 13"/>
          <p:cNvSpPr/>
          <p:nvPr/>
        </p:nvSpPr>
        <p:spPr>
          <a:xfrm>
            <a:off x="1121664" y="6217920"/>
            <a:ext cx="4157472" cy="670560"/>
          </a:xfrm>
          <a:prstGeom prst="rect">
            <a:avLst/>
          </a:prstGeom>
          <a:noFill/>
          <a:ln/>
        </p:spPr>
        <p:txBody>
          <a:bodyPr wrap="square" rtlCol="0" anchor="ctr"/>
          <a:lstStyle/>
          <a:p>
            <a:pPr>
              <a:lnSpc>
                <a:spcPct val="110000"/>
              </a:lnSpc>
            </a:pPr>
            <a:r>
              <a:rPr lang="en-US" sz="1667" dirty="0">
                <a:solidFill>
                  <a:srgbClr val="FFFFFF"/>
                </a:solidFill>
                <a:latin typeface="Calibri" pitchFamily="34" charset="0"/>
                <a:ea typeface="Calibri" pitchFamily="34" charset="-122"/>
                <a:cs typeface="Calibri" pitchFamily="34" charset="-120"/>
              </a:rPr>
              <a:t>Suivre les comportements de la population</a:t>
            </a:r>
            <a:endParaRPr lang="en-US" sz="1667" dirty="0"/>
          </a:p>
        </p:txBody>
      </p:sp>
      <p:sp>
        <p:nvSpPr>
          <p:cNvPr id="20" name="Shape 14"/>
          <p:cNvSpPr/>
          <p:nvPr/>
        </p:nvSpPr>
        <p:spPr>
          <a:xfrm>
            <a:off x="5852160" y="5059680"/>
            <a:ext cx="4693920" cy="1889760"/>
          </a:xfrm>
          <a:prstGeom prst="roundRect">
            <a:avLst>
              <a:gd name="adj" fmla="val 5161"/>
            </a:avLst>
          </a:prstGeom>
          <a:solidFill>
            <a:srgbClr val="26306E"/>
          </a:solidFill>
          <a:ln/>
        </p:spPr>
        <p:txBody>
          <a:bodyPr/>
          <a:lstStyle/>
          <a:p>
            <a:endParaRPr lang="ar-TN" sz="2400"/>
          </a:p>
        </p:txBody>
      </p:sp>
      <p:sp>
        <p:nvSpPr>
          <p:cNvPr id="21" name="Shape 15"/>
          <p:cNvSpPr/>
          <p:nvPr/>
        </p:nvSpPr>
        <p:spPr>
          <a:xfrm>
            <a:off x="6120384" y="5327904"/>
            <a:ext cx="792480" cy="792480"/>
          </a:xfrm>
          <a:prstGeom prst="ellipse">
            <a:avLst/>
          </a:prstGeom>
          <a:solidFill>
            <a:srgbClr val="CADCFC"/>
          </a:solidFill>
          <a:ln/>
        </p:spPr>
        <p:txBody>
          <a:bodyPr/>
          <a:lstStyle/>
          <a:p>
            <a:endParaRPr lang="ar-TN" sz="2400"/>
          </a:p>
        </p:txBody>
      </p:sp>
      <p:pic>
        <p:nvPicPr>
          <p:cNvPr id="22" name="Image 4" descr="/home/claude/pptx_project/icons/clipboard_navy.png"/>
          <p:cNvPicPr>
            <a:picLocks noChangeAspect="1"/>
          </p:cNvPicPr>
          <p:nvPr/>
        </p:nvPicPr>
        <p:blipFill>
          <a:blip r:embed="rId7"/>
          <a:stretch>
            <a:fillRect/>
          </a:stretch>
        </p:blipFill>
        <p:spPr>
          <a:xfrm>
            <a:off x="6223407" y="5430927"/>
            <a:ext cx="586435" cy="586435"/>
          </a:xfrm>
          <a:prstGeom prst="rect">
            <a:avLst/>
          </a:prstGeom>
        </p:spPr>
      </p:pic>
      <p:sp>
        <p:nvSpPr>
          <p:cNvPr id="23" name="Text 16"/>
          <p:cNvSpPr/>
          <p:nvPr/>
        </p:nvSpPr>
        <p:spPr>
          <a:xfrm>
            <a:off x="6120384" y="6217920"/>
            <a:ext cx="4157472" cy="670560"/>
          </a:xfrm>
          <a:prstGeom prst="rect">
            <a:avLst/>
          </a:prstGeom>
          <a:noFill/>
          <a:ln/>
        </p:spPr>
        <p:txBody>
          <a:bodyPr wrap="square" rtlCol="0" anchor="ctr"/>
          <a:lstStyle/>
          <a:p>
            <a:pPr>
              <a:lnSpc>
                <a:spcPct val="110000"/>
              </a:lnSpc>
            </a:pPr>
            <a:r>
              <a:rPr lang="en-US" sz="1667" dirty="0">
                <a:solidFill>
                  <a:srgbClr val="FFFFFF"/>
                </a:solidFill>
                <a:latin typeface="Calibri" pitchFamily="34" charset="0"/>
                <a:ea typeface="Calibri" pitchFamily="34" charset="-122"/>
                <a:cs typeface="Calibri" pitchFamily="34" charset="-120"/>
              </a:rPr>
              <a:t>Produire des tableaux de bord décisionnels</a:t>
            </a:r>
            <a:endParaRPr lang="en-US" sz="1667" dirty="0"/>
          </a:p>
        </p:txBody>
      </p:sp>
      <p:sp>
        <p:nvSpPr>
          <p:cNvPr id="24" name="Shape 17"/>
          <p:cNvSpPr/>
          <p:nvPr/>
        </p:nvSpPr>
        <p:spPr>
          <a:xfrm>
            <a:off x="10850880" y="5059680"/>
            <a:ext cx="4693920" cy="1889760"/>
          </a:xfrm>
          <a:prstGeom prst="roundRect">
            <a:avLst>
              <a:gd name="adj" fmla="val 5161"/>
            </a:avLst>
          </a:prstGeom>
          <a:solidFill>
            <a:srgbClr val="26306E"/>
          </a:solidFill>
          <a:ln/>
        </p:spPr>
        <p:txBody>
          <a:bodyPr/>
          <a:lstStyle/>
          <a:p>
            <a:endParaRPr lang="ar-TN" sz="2400"/>
          </a:p>
        </p:txBody>
      </p:sp>
      <p:sp>
        <p:nvSpPr>
          <p:cNvPr id="25" name="Shape 18"/>
          <p:cNvSpPr/>
          <p:nvPr/>
        </p:nvSpPr>
        <p:spPr>
          <a:xfrm>
            <a:off x="11119104" y="5327904"/>
            <a:ext cx="792480" cy="792480"/>
          </a:xfrm>
          <a:prstGeom prst="ellipse">
            <a:avLst/>
          </a:prstGeom>
          <a:solidFill>
            <a:srgbClr val="CADCFC"/>
          </a:solidFill>
          <a:ln/>
        </p:spPr>
        <p:txBody>
          <a:bodyPr/>
          <a:lstStyle/>
          <a:p>
            <a:endParaRPr lang="ar-TN" sz="2400"/>
          </a:p>
        </p:txBody>
      </p:sp>
      <p:pic>
        <p:nvPicPr>
          <p:cNvPr id="26" name="Image 5" descr="/home/claude/pptx_project/icons/bell_navy.png"/>
          <p:cNvPicPr>
            <a:picLocks noChangeAspect="1"/>
          </p:cNvPicPr>
          <p:nvPr/>
        </p:nvPicPr>
        <p:blipFill>
          <a:blip r:embed="rId8"/>
          <a:stretch>
            <a:fillRect/>
          </a:stretch>
        </p:blipFill>
        <p:spPr>
          <a:xfrm>
            <a:off x="11222127" y="5430927"/>
            <a:ext cx="586435" cy="586435"/>
          </a:xfrm>
          <a:prstGeom prst="rect">
            <a:avLst/>
          </a:prstGeom>
        </p:spPr>
      </p:pic>
      <p:sp>
        <p:nvSpPr>
          <p:cNvPr id="27" name="Text 19"/>
          <p:cNvSpPr/>
          <p:nvPr/>
        </p:nvSpPr>
        <p:spPr>
          <a:xfrm>
            <a:off x="11119104" y="6217920"/>
            <a:ext cx="4157472" cy="670560"/>
          </a:xfrm>
          <a:prstGeom prst="rect">
            <a:avLst/>
          </a:prstGeom>
          <a:noFill/>
          <a:ln/>
        </p:spPr>
        <p:txBody>
          <a:bodyPr wrap="square" rtlCol="0" anchor="ctr"/>
          <a:lstStyle/>
          <a:p>
            <a:pPr>
              <a:lnSpc>
                <a:spcPct val="110000"/>
              </a:lnSpc>
            </a:pPr>
            <a:r>
              <a:rPr lang="en-US" sz="1667" dirty="0">
                <a:solidFill>
                  <a:srgbClr val="FFFFFF"/>
                </a:solidFill>
                <a:latin typeface="Calibri" pitchFamily="34" charset="0"/>
                <a:ea typeface="Calibri" pitchFamily="34" charset="-122"/>
                <a:cs typeface="Calibri" pitchFamily="34" charset="-120"/>
              </a:rPr>
              <a:t>Générer des alertes précoces</a:t>
            </a:r>
            <a:endParaRPr lang="en-US" sz="1667" dirty="0"/>
          </a:p>
        </p:txBody>
      </p:sp>
      <p:sp>
        <p:nvSpPr>
          <p:cNvPr id="28" name="Text 20"/>
          <p:cNvSpPr/>
          <p:nvPr/>
        </p:nvSpPr>
        <p:spPr>
          <a:xfrm>
            <a:off x="609600" y="8631936"/>
            <a:ext cx="7315200" cy="365760"/>
          </a:xfrm>
          <a:prstGeom prst="rect">
            <a:avLst/>
          </a:prstGeom>
          <a:noFill/>
          <a:ln/>
        </p:spPr>
        <p:txBody>
          <a:bodyPr wrap="square" rtlCol="0" anchor="ctr"/>
          <a:lstStyle/>
          <a:p>
            <a:r>
              <a:rPr lang="en-US" sz="1333" dirty="0">
                <a:solidFill>
                  <a:srgbClr val="CADCFC"/>
                </a:solidFill>
                <a:latin typeface="Calibri" pitchFamily="34" charset="0"/>
                <a:ea typeface="Calibri" pitchFamily="34" charset="-122"/>
                <a:cs typeface="Calibri" pitchFamily="34" charset="-120"/>
              </a:rPr>
              <a:t>ONMNE — Ministère de la Santé</a:t>
            </a:r>
            <a:endParaRPr lang="en-US" sz="1333" dirty="0"/>
          </a:p>
        </p:txBody>
      </p:sp>
      <p:sp>
        <p:nvSpPr>
          <p:cNvPr id="29" name="Text 21"/>
          <p:cNvSpPr/>
          <p:nvPr/>
        </p:nvSpPr>
        <p:spPr>
          <a:xfrm>
            <a:off x="15036393" y="8631936"/>
            <a:ext cx="609600" cy="365760"/>
          </a:xfrm>
          <a:prstGeom prst="rect">
            <a:avLst/>
          </a:prstGeom>
          <a:noFill/>
          <a:ln/>
        </p:spPr>
        <p:txBody>
          <a:bodyPr wrap="square" rtlCol="0" anchor="ctr"/>
          <a:lstStyle/>
          <a:p>
            <a:pPr algn="r"/>
            <a:r>
              <a:rPr lang="en-US" sz="1333" dirty="0">
                <a:solidFill>
                  <a:srgbClr val="CADCFC"/>
                </a:solidFill>
                <a:latin typeface="Calibri" pitchFamily="34" charset="0"/>
                <a:ea typeface="Calibri" pitchFamily="34" charset="-122"/>
                <a:cs typeface="Calibri" pitchFamily="34" charset="-120"/>
              </a:rPr>
              <a:t>8</a:t>
            </a:r>
            <a:endParaRPr lang="en-US" sz="133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548640"/>
            <a:ext cx="14508480" cy="731520"/>
          </a:xfrm>
          <a:prstGeom prst="rect">
            <a:avLst/>
          </a:prstGeom>
          <a:noFill/>
          <a:ln/>
        </p:spPr>
        <p:txBody>
          <a:bodyPr wrap="square" rtlCol="0" anchor="ctr"/>
          <a:lstStyle/>
          <a:p>
            <a:r>
              <a:rPr lang="en-US" sz="3733" b="1" dirty="0">
                <a:solidFill>
                  <a:srgbClr val="1E2761"/>
                </a:solidFill>
                <a:latin typeface="Cambria" pitchFamily="34" charset="0"/>
                <a:ea typeface="Cambria" pitchFamily="34" charset="-122"/>
                <a:cs typeface="Cambria" pitchFamily="34" charset="-120"/>
              </a:rPr>
              <a:t>Comment fonctionne la plateforme ?</a:t>
            </a:r>
            <a:endParaRPr lang="en-US" sz="3733" dirty="0"/>
          </a:p>
        </p:txBody>
      </p:sp>
      <p:sp>
        <p:nvSpPr>
          <p:cNvPr id="3" name="Text 1"/>
          <p:cNvSpPr/>
          <p:nvPr/>
        </p:nvSpPr>
        <p:spPr>
          <a:xfrm>
            <a:off x="853440" y="1280160"/>
            <a:ext cx="14508480" cy="548640"/>
          </a:xfrm>
          <a:prstGeom prst="rect">
            <a:avLst/>
          </a:prstGeom>
          <a:noFill/>
          <a:ln/>
        </p:spPr>
        <p:txBody>
          <a:bodyPr wrap="square" rtlCol="0" anchor="ctr"/>
          <a:lstStyle/>
          <a:p>
            <a:r>
              <a:rPr lang="en-US" sz="1933" dirty="0">
                <a:solidFill>
                  <a:srgbClr val="5B6472"/>
                </a:solidFill>
                <a:latin typeface="Calibri" pitchFamily="34" charset="0"/>
                <a:ea typeface="Calibri" pitchFamily="34" charset="-122"/>
                <a:cs typeface="Calibri" pitchFamily="34" charset="-120"/>
              </a:rPr>
              <a:t>Une architecture en six couches complémentaires, comme une chaîne de traitement</a:t>
            </a:r>
            <a:endParaRPr lang="en-US" sz="1933" dirty="0"/>
          </a:p>
        </p:txBody>
      </p:sp>
      <p:sp>
        <p:nvSpPr>
          <p:cNvPr id="4" name="Shape 2"/>
          <p:cNvSpPr/>
          <p:nvPr/>
        </p:nvSpPr>
        <p:spPr>
          <a:xfrm>
            <a:off x="853440" y="2560320"/>
            <a:ext cx="2133600" cy="3535680"/>
          </a:xfrm>
          <a:prstGeom prst="roundRect">
            <a:avLst>
              <a:gd name="adj" fmla="val 4571"/>
            </a:avLst>
          </a:prstGeom>
          <a:solidFill>
            <a:srgbClr val="1E2761"/>
          </a:solidFill>
          <a:ln/>
        </p:spPr>
        <p:txBody>
          <a:bodyPr/>
          <a:lstStyle/>
          <a:p>
            <a:endParaRPr lang="ar-TN" sz="2400"/>
          </a:p>
        </p:txBody>
      </p:sp>
      <p:sp>
        <p:nvSpPr>
          <p:cNvPr id="5" name="Text 3"/>
          <p:cNvSpPr/>
          <p:nvPr/>
        </p:nvSpPr>
        <p:spPr>
          <a:xfrm>
            <a:off x="999744" y="2682240"/>
            <a:ext cx="1219200" cy="487680"/>
          </a:xfrm>
          <a:prstGeom prst="rect">
            <a:avLst/>
          </a:prstGeom>
          <a:noFill/>
          <a:ln/>
        </p:spPr>
        <p:txBody>
          <a:bodyPr wrap="square" rtlCol="0" anchor="ctr"/>
          <a:lstStyle/>
          <a:p>
            <a:r>
              <a:rPr lang="en-US" sz="2133" b="1" dirty="0">
                <a:solidFill>
                  <a:srgbClr val="CADCFC"/>
                </a:solidFill>
                <a:latin typeface="Cambria" pitchFamily="34" charset="0"/>
                <a:ea typeface="Cambria" pitchFamily="34" charset="-122"/>
                <a:cs typeface="Cambria" pitchFamily="34" charset="-120"/>
              </a:rPr>
              <a:t>1</a:t>
            </a:r>
            <a:endParaRPr lang="en-US" sz="2133" dirty="0"/>
          </a:p>
        </p:txBody>
      </p:sp>
      <p:sp>
        <p:nvSpPr>
          <p:cNvPr id="6" name="Shape 4"/>
          <p:cNvSpPr/>
          <p:nvPr/>
        </p:nvSpPr>
        <p:spPr>
          <a:xfrm>
            <a:off x="1493520" y="3230880"/>
            <a:ext cx="853440" cy="853440"/>
          </a:xfrm>
          <a:prstGeom prst="ellipse">
            <a:avLst/>
          </a:prstGeom>
          <a:solidFill>
            <a:srgbClr val="FFFFFF"/>
          </a:solidFill>
          <a:ln/>
        </p:spPr>
        <p:txBody>
          <a:bodyPr/>
          <a:lstStyle/>
          <a:p>
            <a:endParaRPr lang="ar-TN" sz="2400"/>
          </a:p>
        </p:txBody>
      </p:sp>
      <p:pic>
        <p:nvPicPr>
          <p:cNvPr id="7" name="Image 0" descr="/home/claude/pptx_project/icons/comments_navy.png"/>
          <p:cNvPicPr>
            <a:picLocks noChangeAspect="1"/>
          </p:cNvPicPr>
          <p:nvPr/>
        </p:nvPicPr>
        <p:blipFill>
          <a:blip r:embed="rId3"/>
          <a:stretch>
            <a:fillRect/>
          </a:stretch>
        </p:blipFill>
        <p:spPr>
          <a:xfrm>
            <a:off x="1604468" y="3341828"/>
            <a:ext cx="631545" cy="631545"/>
          </a:xfrm>
          <a:prstGeom prst="rect">
            <a:avLst/>
          </a:prstGeom>
        </p:spPr>
      </p:pic>
      <p:sp>
        <p:nvSpPr>
          <p:cNvPr id="8" name="Text 5"/>
          <p:cNvSpPr/>
          <p:nvPr/>
        </p:nvSpPr>
        <p:spPr>
          <a:xfrm>
            <a:off x="950976" y="4267200"/>
            <a:ext cx="1938528" cy="548640"/>
          </a:xfrm>
          <a:prstGeom prst="rect">
            <a:avLst/>
          </a:prstGeom>
          <a:noFill/>
          <a:ln/>
        </p:spPr>
        <p:txBody>
          <a:bodyPr wrap="square" rtlCol="0" anchor="ctr"/>
          <a:lstStyle/>
          <a:p>
            <a:pPr algn="ctr"/>
            <a:r>
              <a:rPr lang="en-US" sz="1867" b="1" dirty="0">
                <a:solidFill>
                  <a:srgbClr val="FFFFFF"/>
                </a:solidFill>
                <a:latin typeface="Cambria" pitchFamily="34" charset="0"/>
                <a:ea typeface="Cambria" pitchFamily="34" charset="-122"/>
                <a:cs typeface="Cambria" pitchFamily="34" charset="-120"/>
              </a:rPr>
              <a:t>Collecte</a:t>
            </a:r>
            <a:endParaRPr lang="en-US" sz="1867" dirty="0"/>
          </a:p>
        </p:txBody>
      </p:sp>
      <p:sp>
        <p:nvSpPr>
          <p:cNvPr id="9" name="Text 6"/>
          <p:cNvSpPr/>
          <p:nvPr/>
        </p:nvSpPr>
        <p:spPr>
          <a:xfrm>
            <a:off x="950976" y="4876800"/>
            <a:ext cx="1938528" cy="1097280"/>
          </a:xfrm>
          <a:prstGeom prst="rect">
            <a:avLst/>
          </a:prstGeom>
          <a:noFill/>
          <a:ln/>
        </p:spPr>
        <p:txBody>
          <a:bodyPr wrap="square" rtlCol="0" anchor="ctr"/>
          <a:lstStyle/>
          <a:p>
            <a:pPr algn="ctr">
              <a:lnSpc>
                <a:spcPct val="115000"/>
              </a:lnSpc>
            </a:pPr>
            <a:r>
              <a:rPr lang="en-US" sz="1400" dirty="0">
                <a:solidFill>
                  <a:srgbClr val="CADCFC"/>
                </a:solidFill>
                <a:latin typeface="Calibri" pitchFamily="34" charset="0"/>
                <a:ea typeface="Calibri" pitchFamily="34" charset="-122"/>
                <a:cs typeface="Calibri" pitchFamily="34" charset="-120"/>
              </a:rPr>
              <a:t>Conversations publiques en ligne</a:t>
            </a:r>
            <a:endParaRPr lang="en-US" sz="1400" dirty="0"/>
          </a:p>
        </p:txBody>
      </p:sp>
      <p:sp>
        <p:nvSpPr>
          <p:cNvPr id="10" name="Text 7"/>
          <p:cNvSpPr/>
          <p:nvPr/>
        </p:nvSpPr>
        <p:spPr>
          <a:xfrm>
            <a:off x="2987040" y="3962400"/>
            <a:ext cx="341376"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11" name="Shape 8"/>
          <p:cNvSpPr/>
          <p:nvPr/>
        </p:nvSpPr>
        <p:spPr>
          <a:xfrm>
            <a:off x="3328416" y="2560320"/>
            <a:ext cx="2133600" cy="3535680"/>
          </a:xfrm>
          <a:prstGeom prst="roundRect">
            <a:avLst>
              <a:gd name="adj" fmla="val 4571"/>
            </a:avLst>
          </a:prstGeom>
          <a:solidFill>
            <a:srgbClr val="3A468C"/>
          </a:solidFill>
          <a:ln/>
        </p:spPr>
        <p:txBody>
          <a:bodyPr/>
          <a:lstStyle/>
          <a:p>
            <a:endParaRPr lang="ar-TN" sz="2400"/>
          </a:p>
        </p:txBody>
      </p:sp>
      <p:sp>
        <p:nvSpPr>
          <p:cNvPr id="12" name="Text 9"/>
          <p:cNvSpPr/>
          <p:nvPr/>
        </p:nvSpPr>
        <p:spPr>
          <a:xfrm>
            <a:off x="3474720" y="2682240"/>
            <a:ext cx="1219200" cy="487680"/>
          </a:xfrm>
          <a:prstGeom prst="rect">
            <a:avLst/>
          </a:prstGeom>
          <a:noFill/>
          <a:ln/>
        </p:spPr>
        <p:txBody>
          <a:bodyPr wrap="square" rtlCol="0" anchor="ctr"/>
          <a:lstStyle/>
          <a:p>
            <a:r>
              <a:rPr lang="en-US" sz="2133" b="1" dirty="0">
                <a:solidFill>
                  <a:srgbClr val="CADCFC"/>
                </a:solidFill>
                <a:latin typeface="Cambria" pitchFamily="34" charset="0"/>
                <a:ea typeface="Cambria" pitchFamily="34" charset="-122"/>
                <a:cs typeface="Cambria" pitchFamily="34" charset="-120"/>
              </a:rPr>
              <a:t>2</a:t>
            </a:r>
            <a:endParaRPr lang="en-US" sz="2133" dirty="0"/>
          </a:p>
        </p:txBody>
      </p:sp>
      <p:sp>
        <p:nvSpPr>
          <p:cNvPr id="13" name="Shape 10"/>
          <p:cNvSpPr/>
          <p:nvPr/>
        </p:nvSpPr>
        <p:spPr>
          <a:xfrm>
            <a:off x="3968496" y="3230880"/>
            <a:ext cx="853440" cy="853440"/>
          </a:xfrm>
          <a:prstGeom prst="ellipse">
            <a:avLst/>
          </a:prstGeom>
          <a:solidFill>
            <a:srgbClr val="FFFFFF"/>
          </a:solidFill>
          <a:ln/>
        </p:spPr>
        <p:txBody>
          <a:bodyPr/>
          <a:lstStyle/>
          <a:p>
            <a:endParaRPr lang="ar-TN" sz="2400"/>
          </a:p>
        </p:txBody>
      </p:sp>
      <p:pic>
        <p:nvPicPr>
          <p:cNvPr id="14" name="Image 1" descr="/home/claude/pptx_project/icons/language_navy.png"/>
          <p:cNvPicPr>
            <a:picLocks noChangeAspect="1"/>
          </p:cNvPicPr>
          <p:nvPr/>
        </p:nvPicPr>
        <p:blipFill>
          <a:blip r:embed="rId4"/>
          <a:stretch>
            <a:fillRect/>
          </a:stretch>
        </p:blipFill>
        <p:spPr>
          <a:xfrm>
            <a:off x="4079444" y="3341828"/>
            <a:ext cx="631545" cy="631545"/>
          </a:xfrm>
          <a:prstGeom prst="rect">
            <a:avLst/>
          </a:prstGeom>
        </p:spPr>
      </p:pic>
      <p:sp>
        <p:nvSpPr>
          <p:cNvPr id="15" name="Text 11"/>
          <p:cNvSpPr/>
          <p:nvPr/>
        </p:nvSpPr>
        <p:spPr>
          <a:xfrm>
            <a:off x="3425952" y="4267200"/>
            <a:ext cx="1938528" cy="548640"/>
          </a:xfrm>
          <a:prstGeom prst="rect">
            <a:avLst/>
          </a:prstGeom>
          <a:noFill/>
          <a:ln/>
        </p:spPr>
        <p:txBody>
          <a:bodyPr wrap="square" rtlCol="0" anchor="ctr"/>
          <a:lstStyle/>
          <a:p>
            <a:pPr algn="ctr"/>
            <a:r>
              <a:rPr lang="en-US" sz="1867" b="1" dirty="0">
                <a:solidFill>
                  <a:srgbClr val="FFFFFF"/>
                </a:solidFill>
                <a:latin typeface="Cambria" pitchFamily="34" charset="0"/>
                <a:ea typeface="Cambria" pitchFamily="34" charset="-122"/>
                <a:cs typeface="Cambria" pitchFamily="34" charset="-120"/>
              </a:rPr>
              <a:t>Normalisation</a:t>
            </a:r>
            <a:endParaRPr lang="en-US" sz="1867" dirty="0"/>
          </a:p>
        </p:txBody>
      </p:sp>
      <p:sp>
        <p:nvSpPr>
          <p:cNvPr id="16" name="Text 12"/>
          <p:cNvSpPr/>
          <p:nvPr/>
        </p:nvSpPr>
        <p:spPr>
          <a:xfrm>
            <a:off x="3425952" y="4876800"/>
            <a:ext cx="1938528" cy="1097280"/>
          </a:xfrm>
          <a:prstGeom prst="rect">
            <a:avLst/>
          </a:prstGeom>
          <a:noFill/>
          <a:ln/>
        </p:spPr>
        <p:txBody>
          <a:bodyPr wrap="square" rtlCol="0" anchor="ctr"/>
          <a:lstStyle/>
          <a:p>
            <a:pPr algn="ctr">
              <a:lnSpc>
                <a:spcPct val="115000"/>
              </a:lnSpc>
            </a:pPr>
            <a:r>
              <a:rPr lang="en-US" sz="1400" dirty="0">
                <a:solidFill>
                  <a:srgbClr val="CADCFC"/>
                </a:solidFill>
                <a:latin typeface="Calibri" pitchFamily="34" charset="0"/>
                <a:ea typeface="Calibri" pitchFamily="34" charset="-122"/>
                <a:cs typeface="Calibri" pitchFamily="34" charset="-120"/>
              </a:rPr>
              <a:t>Langue, dialecte, transcription</a:t>
            </a:r>
            <a:endParaRPr lang="en-US" sz="1400" dirty="0"/>
          </a:p>
        </p:txBody>
      </p:sp>
      <p:sp>
        <p:nvSpPr>
          <p:cNvPr id="17" name="Text 13"/>
          <p:cNvSpPr/>
          <p:nvPr/>
        </p:nvSpPr>
        <p:spPr>
          <a:xfrm>
            <a:off x="5462016" y="3962400"/>
            <a:ext cx="341376"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18" name="Shape 14"/>
          <p:cNvSpPr/>
          <p:nvPr/>
        </p:nvSpPr>
        <p:spPr>
          <a:xfrm>
            <a:off x="5803392" y="2560320"/>
            <a:ext cx="2133600" cy="3535680"/>
          </a:xfrm>
          <a:prstGeom prst="roundRect">
            <a:avLst>
              <a:gd name="adj" fmla="val 4571"/>
            </a:avLst>
          </a:prstGeom>
          <a:solidFill>
            <a:srgbClr val="1E2761"/>
          </a:solidFill>
          <a:ln/>
        </p:spPr>
        <p:txBody>
          <a:bodyPr/>
          <a:lstStyle/>
          <a:p>
            <a:endParaRPr lang="ar-TN" sz="2400"/>
          </a:p>
        </p:txBody>
      </p:sp>
      <p:sp>
        <p:nvSpPr>
          <p:cNvPr id="19" name="Text 15"/>
          <p:cNvSpPr/>
          <p:nvPr/>
        </p:nvSpPr>
        <p:spPr>
          <a:xfrm>
            <a:off x="5949696" y="2682240"/>
            <a:ext cx="1219200" cy="487680"/>
          </a:xfrm>
          <a:prstGeom prst="rect">
            <a:avLst/>
          </a:prstGeom>
          <a:noFill/>
          <a:ln/>
        </p:spPr>
        <p:txBody>
          <a:bodyPr wrap="square" rtlCol="0" anchor="ctr"/>
          <a:lstStyle/>
          <a:p>
            <a:r>
              <a:rPr lang="en-US" sz="2133" b="1" dirty="0">
                <a:solidFill>
                  <a:srgbClr val="CADCFC"/>
                </a:solidFill>
                <a:latin typeface="Cambria" pitchFamily="34" charset="0"/>
                <a:ea typeface="Cambria" pitchFamily="34" charset="-122"/>
                <a:cs typeface="Cambria" pitchFamily="34" charset="-120"/>
              </a:rPr>
              <a:t>3</a:t>
            </a:r>
            <a:endParaRPr lang="en-US" sz="2133" dirty="0"/>
          </a:p>
        </p:txBody>
      </p:sp>
      <p:sp>
        <p:nvSpPr>
          <p:cNvPr id="20" name="Shape 16"/>
          <p:cNvSpPr/>
          <p:nvPr/>
        </p:nvSpPr>
        <p:spPr>
          <a:xfrm>
            <a:off x="6443472" y="3230880"/>
            <a:ext cx="853440" cy="853440"/>
          </a:xfrm>
          <a:prstGeom prst="ellipse">
            <a:avLst/>
          </a:prstGeom>
          <a:solidFill>
            <a:srgbClr val="FFFFFF"/>
          </a:solidFill>
          <a:ln/>
        </p:spPr>
        <p:txBody>
          <a:bodyPr/>
          <a:lstStyle/>
          <a:p>
            <a:endParaRPr lang="ar-TN" sz="2400"/>
          </a:p>
        </p:txBody>
      </p:sp>
      <p:pic>
        <p:nvPicPr>
          <p:cNvPr id="21" name="Image 2" descr="/home/claude/pptx_project/icons/brain_navy.png"/>
          <p:cNvPicPr>
            <a:picLocks noChangeAspect="1"/>
          </p:cNvPicPr>
          <p:nvPr/>
        </p:nvPicPr>
        <p:blipFill>
          <a:blip r:embed="rId5"/>
          <a:stretch>
            <a:fillRect/>
          </a:stretch>
        </p:blipFill>
        <p:spPr>
          <a:xfrm>
            <a:off x="6554420" y="3341828"/>
            <a:ext cx="631545" cy="631545"/>
          </a:xfrm>
          <a:prstGeom prst="rect">
            <a:avLst/>
          </a:prstGeom>
        </p:spPr>
      </p:pic>
      <p:sp>
        <p:nvSpPr>
          <p:cNvPr id="22" name="Text 17"/>
          <p:cNvSpPr/>
          <p:nvPr/>
        </p:nvSpPr>
        <p:spPr>
          <a:xfrm>
            <a:off x="5900928" y="4267200"/>
            <a:ext cx="1938528" cy="548640"/>
          </a:xfrm>
          <a:prstGeom prst="rect">
            <a:avLst/>
          </a:prstGeom>
          <a:noFill/>
          <a:ln/>
        </p:spPr>
        <p:txBody>
          <a:bodyPr wrap="square" rtlCol="0" anchor="ctr"/>
          <a:lstStyle/>
          <a:p>
            <a:pPr algn="ctr"/>
            <a:r>
              <a:rPr lang="en-US" sz="1867" b="1" dirty="0">
                <a:solidFill>
                  <a:srgbClr val="FFFFFF"/>
                </a:solidFill>
                <a:latin typeface="Cambria" pitchFamily="34" charset="0"/>
                <a:ea typeface="Cambria" pitchFamily="34" charset="-122"/>
                <a:cs typeface="Cambria" pitchFamily="34" charset="-120"/>
              </a:rPr>
              <a:t>Analyse IA</a:t>
            </a:r>
            <a:endParaRPr lang="en-US" sz="1867" dirty="0"/>
          </a:p>
        </p:txBody>
      </p:sp>
      <p:sp>
        <p:nvSpPr>
          <p:cNvPr id="23" name="Text 18"/>
          <p:cNvSpPr/>
          <p:nvPr/>
        </p:nvSpPr>
        <p:spPr>
          <a:xfrm>
            <a:off x="5900928" y="4876800"/>
            <a:ext cx="1938528" cy="1097280"/>
          </a:xfrm>
          <a:prstGeom prst="rect">
            <a:avLst/>
          </a:prstGeom>
          <a:noFill/>
          <a:ln/>
        </p:spPr>
        <p:txBody>
          <a:bodyPr wrap="square" rtlCol="0" anchor="ctr"/>
          <a:lstStyle/>
          <a:p>
            <a:pPr algn="ctr">
              <a:lnSpc>
                <a:spcPct val="115000"/>
              </a:lnSpc>
            </a:pPr>
            <a:r>
              <a:rPr lang="en-US" sz="1400" dirty="0">
                <a:solidFill>
                  <a:srgbClr val="CADCFC"/>
                </a:solidFill>
                <a:latin typeface="Calibri" pitchFamily="34" charset="0"/>
                <a:ea typeface="Calibri" pitchFamily="34" charset="-122"/>
                <a:cs typeface="Calibri" pitchFamily="34" charset="-120"/>
              </a:rPr>
              <a:t>Risques, émotions, narratifs</a:t>
            </a:r>
            <a:endParaRPr lang="en-US" sz="1400" dirty="0"/>
          </a:p>
        </p:txBody>
      </p:sp>
      <p:sp>
        <p:nvSpPr>
          <p:cNvPr id="24" name="Text 19"/>
          <p:cNvSpPr/>
          <p:nvPr/>
        </p:nvSpPr>
        <p:spPr>
          <a:xfrm>
            <a:off x="7936992" y="3962400"/>
            <a:ext cx="341376"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25" name="Shape 20"/>
          <p:cNvSpPr/>
          <p:nvPr/>
        </p:nvSpPr>
        <p:spPr>
          <a:xfrm>
            <a:off x="8278368" y="2560320"/>
            <a:ext cx="2133600" cy="3535680"/>
          </a:xfrm>
          <a:prstGeom prst="roundRect">
            <a:avLst>
              <a:gd name="adj" fmla="val 4571"/>
            </a:avLst>
          </a:prstGeom>
          <a:solidFill>
            <a:srgbClr val="3A468C"/>
          </a:solidFill>
          <a:ln/>
        </p:spPr>
        <p:txBody>
          <a:bodyPr/>
          <a:lstStyle/>
          <a:p>
            <a:endParaRPr lang="ar-TN" sz="2400"/>
          </a:p>
        </p:txBody>
      </p:sp>
      <p:sp>
        <p:nvSpPr>
          <p:cNvPr id="26" name="Text 21"/>
          <p:cNvSpPr/>
          <p:nvPr/>
        </p:nvSpPr>
        <p:spPr>
          <a:xfrm>
            <a:off x="8424672" y="2682240"/>
            <a:ext cx="1219200" cy="487680"/>
          </a:xfrm>
          <a:prstGeom prst="rect">
            <a:avLst/>
          </a:prstGeom>
          <a:noFill/>
          <a:ln/>
        </p:spPr>
        <p:txBody>
          <a:bodyPr wrap="square" rtlCol="0" anchor="ctr"/>
          <a:lstStyle/>
          <a:p>
            <a:r>
              <a:rPr lang="en-US" sz="2133" b="1" dirty="0">
                <a:solidFill>
                  <a:srgbClr val="CADCFC"/>
                </a:solidFill>
                <a:latin typeface="Cambria" pitchFamily="34" charset="0"/>
                <a:ea typeface="Cambria" pitchFamily="34" charset="-122"/>
                <a:cs typeface="Cambria" pitchFamily="34" charset="-120"/>
              </a:rPr>
              <a:t>4</a:t>
            </a:r>
            <a:endParaRPr lang="en-US" sz="2133" dirty="0"/>
          </a:p>
        </p:txBody>
      </p:sp>
      <p:sp>
        <p:nvSpPr>
          <p:cNvPr id="27" name="Shape 22"/>
          <p:cNvSpPr/>
          <p:nvPr/>
        </p:nvSpPr>
        <p:spPr>
          <a:xfrm>
            <a:off x="8918448" y="3230880"/>
            <a:ext cx="853440" cy="853440"/>
          </a:xfrm>
          <a:prstGeom prst="ellipse">
            <a:avLst/>
          </a:prstGeom>
          <a:solidFill>
            <a:srgbClr val="FFFFFF"/>
          </a:solidFill>
          <a:ln/>
        </p:spPr>
        <p:txBody>
          <a:bodyPr/>
          <a:lstStyle/>
          <a:p>
            <a:endParaRPr lang="ar-TN" sz="2400"/>
          </a:p>
        </p:txBody>
      </p:sp>
      <p:pic>
        <p:nvPicPr>
          <p:cNvPr id="28" name="Image 3" descr="/home/claude/pptx_project/icons/chart_navy.png"/>
          <p:cNvPicPr>
            <a:picLocks noChangeAspect="1"/>
          </p:cNvPicPr>
          <p:nvPr/>
        </p:nvPicPr>
        <p:blipFill>
          <a:blip r:embed="rId6"/>
          <a:stretch>
            <a:fillRect/>
          </a:stretch>
        </p:blipFill>
        <p:spPr>
          <a:xfrm>
            <a:off x="9029396" y="3341828"/>
            <a:ext cx="631545" cy="631545"/>
          </a:xfrm>
          <a:prstGeom prst="rect">
            <a:avLst/>
          </a:prstGeom>
        </p:spPr>
      </p:pic>
      <p:sp>
        <p:nvSpPr>
          <p:cNvPr id="29" name="Text 23"/>
          <p:cNvSpPr/>
          <p:nvPr/>
        </p:nvSpPr>
        <p:spPr>
          <a:xfrm>
            <a:off x="8375904" y="4267200"/>
            <a:ext cx="1938528" cy="548640"/>
          </a:xfrm>
          <a:prstGeom prst="rect">
            <a:avLst/>
          </a:prstGeom>
          <a:noFill/>
          <a:ln/>
        </p:spPr>
        <p:txBody>
          <a:bodyPr wrap="square" rtlCol="0" anchor="ctr"/>
          <a:lstStyle/>
          <a:p>
            <a:pPr algn="ctr"/>
            <a:r>
              <a:rPr lang="en-US" sz="1867" b="1" dirty="0">
                <a:solidFill>
                  <a:srgbClr val="FFFFFF"/>
                </a:solidFill>
                <a:latin typeface="Cambria" pitchFamily="34" charset="0"/>
                <a:ea typeface="Cambria" pitchFamily="34" charset="-122"/>
                <a:cs typeface="Cambria" pitchFamily="34" charset="-120"/>
              </a:rPr>
              <a:t>Indicateurs</a:t>
            </a:r>
            <a:endParaRPr lang="en-US" sz="1867" dirty="0"/>
          </a:p>
        </p:txBody>
      </p:sp>
      <p:sp>
        <p:nvSpPr>
          <p:cNvPr id="30" name="Text 24"/>
          <p:cNvSpPr/>
          <p:nvPr/>
        </p:nvSpPr>
        <p:spPr>
          <a:xfrm>
            <a:off x="8375904" y="4876800"/>
            <a:ext cx="1938528" cy="1097280"/>
          </a:xfrm>
          <a:prstGeom prst="rect">
            <a:avLst/>
          </a:prstGeom>
          <a:noFill/>
          <a:ln/>
        </p:spPr>
        <p:txBody>
          <a:bodyPr wrap="square" rtlCol="0" anchor="ctr"/>
          <a:lstStyle/>
          <a:p>
            <a:pPr algn="ctr">
              <a:lnSpc>
                <a:spcPct val="115000"/>
              </a:lnSpc>
            </a:pPr>
            <a:r>
              <a:rPr lang="en-US" sz="1400" dirty="0">
                <a:solidFill>
                  <a:srgbClr val="CADCFC"/>
                </a:solidFill>
                <a:latin typeface="Calibri" pitchFamily="34" charset="0"/>
                <a:ea typeface="Calibri" pitchFamily="34" charset="-122"/>
                <a:cs typeface="Calibri" pitchFamily="34" charset="-120"/>
              </a:rPr>
              <a:t>Tableaux de bord décisionnels</a:t>
            </a:r>
            <a:endParaRPr lang="en-US" sz="1400" dirty="0"/>
          </a:p>
        </p:txBody>
      </p:sp>
      <p:sp>
        <p:nvSpPr>
          <p:cNvPr id="31" name="Text 25"/>
          <p:cNvSpPr/>
          <p:nvPr/>
        </p:nvSpPr>
        <p:spPr>
          <a:xfrm>
            <a:off x="10411968" y="3962400"/>
            <a:ext cx="341376"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32" name="Shape 26"/>
          <p:cNvSpPr/>
          <p:nvPr/>
        </p:nvSpPr>
        <p:spPr>
          <a:xfrm>
            <a:off x="10753344" y="2560320"/>
            <a:ext cx="2133600" cy="3535680"/>
          </a:xfrm>
          <a:prstGeom prst="roundRect">
            <a:avLst>
              <a:gd name="adj" fmla="val 4571"/>
            </a:avLst>
          </a:prstGeom>
          <a:solidFill>
            <a:srgbClr val="1E2761"/>
          </a:solidFill>
          <a:ln/>
        </p:spPr>
        <p:txBody>
          <a:bodyPr/>
          <a:lstStyle/>
          <a:p>
            <a:endParaRPr lang="ar-TN" sz="2400"/>
          </a:p>
        </p:txBody>
      </p:sp>
      <p:sp>
        <p:nvSpPr>
          <p:cNvPr id="33" name="Text 27"/>
          <p:cNvSpPr/>
          <p:nvPr/>
        </p:nvSpPr>
        <p:spPr>
          <a:xfrm>
            <a:off x="10899648" y="2682240"/>
            <a:ext cx="1219200" cy="487680"/>
          </a:xfrm>
          <a:prstGeom prst="rect">
            <a:avLst/>
          </a:prstGeom>
          <a:noFill/>
          <a:ln/>
        </p:spPr>
        <p:txBody>
          <a:bodyPr wrap="square" rtlCol="0" anchor="ctr"/>
          <a:lstStyle/>
          <a:p>
            <a:r>
              <a:rPr lang="en-US" sz="2133" b="1" dirty="0">
                <a:solidFill>
                  <a:srgbClr val="CADCFC"/>
                </a:solidFill>
                <a:latin typeface="Cambria" pitchFamily="34" charset="0"/>
                <a:ea typeface="Cambria" pitchFamily="34" charset="-122"/>
                <a:cs typeface="Cambria" pitchFamily="34" charset="-120"/>
              </a:rPr>
              <a:t>5</a:t>
            </a:r>
            <a:endParaRPr lang="en-US" sz="2133" dirty="0"/>
          </a:p>
        </p:txBody>
      </p:sp>
      <p:sp>
        <p:nvSpPr>
          <p:cNvPr id="34" name="Shape 28"/>
          <p:cNvSpPr/>
          <p:nvPr/>
        </p:nvSpPr>
        <p:spPr>
          <a:xfrm>
            <a:off x="11393424" y="3230880"/>
            <a:ext cx="853440" cy="853440"/>
          </a:xfrm>
          <a:prstGeom prst="ellipse">
            <a:avLst/>
          </a:prstGeom>
          <a:solidFill>
            <a:srgbClr val="FFFFFF"/>
          </a:solidFill>
          <a:ln/>
        </p:spPr>
        <p:txBody>
          <a:bodyPr/>
          <a:lstStyle/>
          <a:p>
            <a:endParaRPr lang="ar-TN" sz="2400"/>
          </a:p>
        </p:txBody>
      </p:sp>
      <p:pic>
        <p:nvPicPr>
          <p:cNvPr id="35" name="Image 4" descr="/home/claude/pptx_project/icons/bell_navy.png"/>
          <p:cNvPicPr>
            <a:picLocks noChangeAspect="1"/>
          </p:cNvPicPr>
          <p:nvPr/>
        </p:nvPicPr>
        <p:blipFill>
          <a:blip r:embed="rId7"/>
          <a:stretch>
            <a:fillRect/>
          </a:stretch>
        </p:blipFill>
        <p:spPr>
          <a:xfrm>
            <a:off x="11504372" y="3341828"/>
            <a:ext cx="631545" cy="631545"/>
          </a:xfrm>
          <a:prstGeom prst="rect">
            <a:avLst/>
          </a:prstGeom>
        </p:spPr>
      </p:pic>
      <p:sp>
        <p:nvSpPr>
          <p:cNvPr id="36" name="Text 29"/>
          <p:cNvSpPr/>
          <p:nvPr/>
        </p:nvSpPr>
        <p:spPr>
          <a:xfrm>
            <a:off x="10850880" y="4267200"/>
            <a:ext cx="1938528" cy="548640"/>
          </a:xfrm>
          <a:prstGeom prst="rect">
            <a:avLst/>
          </a:prstGeom>
          <a:noFill/>
          <a:ln/>
        </p:spPr>
        <p:txBody>
          <a:bodyPr wrap="square" rtlCol="0" anchor="ctr"/>
          <a:lstStyle/>
          <a:p>
            <a:pPr algn="ctr"/>
            <a:r>
              <a:rPr lang="en-US" sz="1867" b="1" dirty="0">
                <a:solidFill>
                  <a:srgbClr val="FFFFFF"/>
                </a:solidFill>
                <a:latin typeface="Cambria" pitchFamily="34" charset="0"/>
                <a:ea typeface="Cambria" pitchFamily="34" charset="-122"/>
                <a:cs typeface="Cambria" pitchFamily="34" charset="-120"/>
              </a:rPr>
              <a:t>Alerte</a:t>
            </a:r>
            <a:endParaRPr lang="en-US" sz="1867" dirty="0"/>
          </a:p>
        </p:txBody>
      </p:sp>
      <p:sp>
        <p:nvSpPr>
          <p:cNvPr id="37" name="Text 30"/>
          <p:cNvSpPr/>
          <p:nvPr/>
        </p:nvSpPr>
        <p:spPr>
          <a:xfrm>
            <a:off x="10850880" y="4876800"/>
            <a:ext cx="1938528" cy="1097280"/>
          </a:xfrm>
          <a:prstGeom prst="rect">
            <a:avLst/>
          </a:prstGeom>
          <a:noFill/>
          <a:ln/>
        </p:spPr>
        <p:txBody>
          <a:bodyPr wrap="square" rtlCol="0" anchor="ctr"/>
          <a:lstStyle/>
          <a:p>
            <a:pPr algn="ctr">
              <a:lnSpc>
                <a:spcPct val="115000"/>
              </a:lnSpc>
            </a:pPr>
            <a:r>
              <a:rPr lang="en-US" sz="1400" dirty="0">
                <a:solidFill>
                  <a:srgbClr val="CADCFC"/>
                </a:solidFill>
                <a:latin typeface="Calibri" pitchFamily="34" charset="0"/>
                <a:ea typeface="Calibri" pitchFamily="34" charset="-122"/>
                <a:cs typeface="Calibri" pitchFamily="34" charset="-120"/>
              </a:rPr>
              <a:t>Aide à la décision</a:t>
            </a:r>
            <a:endParaRPr lang="en-US" sz="1400" dirty="0"/>
          </a:p>
        </p:txBody>
      </p:sp>
      <p:sp>
        <p:nvSpPr>
          <p:cNvPr id="38" name="Text 31"/>
          <p:cNvSpPr/>
          <p:nvPr/>
        </p:nvSpPr>
        <p:spPr>
          <a:xfrm>
            <a:off x="12886944" y="3962400"/>
            <a:ext cx="341376"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39" name="Shape 32"/>
          <p:cNvSpPr/>
          <p:nvPr/>
        </p:nvSpPr>
        <p:spPr>
          <a:xfrm>
            <a:off x="13228320" y="2560320"/>
            <a:ext cx="2133600" cy="3535680"/>
          </a:xfrm>
          <a:prstGeom prst="roundRect">
            <a:avLst>
              <a:gd name="adj" fmla="val 4571"/>
            </a:avLst>
          </a:prstGeom>
          <a:solidFill>
            <a:srgbClr val="3A468C"/>
          </a:solidFill>
          <a:ln/>
        </p:spPr>
        <p:txBody>
          <a:bodyPr/>
          <a:lstStyle/>
          <a:p>
            <a:endParaRPr lang="ar-TN" sz="2400"/>
          </a:p>
        </p:txBody>
      </p:sp>
      <p:sp>
        <p:nvSpPr>
          <p:cNvPr id="40" name="Text 33"/>
          <p:cNvSpPr/>
          <p:nvPr/>
        </p:nvSpPr>
        <p:spPr>
          <a:xfrm>
            <a:off x="13374624" y="2682240"/>
            <a:ext cx="1219200" cy="487680"/>
          </a:xfrm>
          <a:prstGeom prst="rect">
            <a:avLst/>
          </a:prstGeom>
          <a:noFill/>
          <a:ln/>
        </p:spPr>
        <p:txBody>
          <a:bodyPr wrap="square" rtlCol="0" anchor="ctr"/>
          <a:lstStyle/>
          <a:p>
            <a:r>
              <a:rPr lang="en-US" sz="2133" b="1" dirty="0">
                <a:solidFill>
                  <a:srgbClr val="CADCFC"/>
                </a:solidFill>
                <a:latin typeface="Cambria" pitchFamily="34" charset="0"/>
                <a:ea typeface="Cambria" pitchFamily="34" charset="-122"/>
                <a:cs typeface="Cambria" pitchFamily="34" charset="-120"/>
              </a:rPr>
              <a:t>6</a:t>
            </a:r>
            <a:endParaRPr lang="en-US" sz="2133" dirty="0"/>
          </a:p>
        </p:txBody>
      </p:sp>
      <p:sp>
        <p:nvSpPr>
          <p:cNvPr id="41" name="Shape 34"/>
          <p:cNvSpPr/>
          <p:nvPr/>
        </p:nvSpPr>
        <p:spPr>
          <a:xfrm>
            <a:off x="13868400" y="3230880"/>
            <a:ext cx="853440" cy="853440"/>
          </a:xfrm>
          <a:prstGeom prst="ellipse">
            <a:avLst/>
          </a:prstGeom>
          <a:solidFill>
            <a:srgbClr val="FFFFFF"/>
          </a:solidFill>
          <a:ln/>
        </p:spPr>
        <p:txBody>
          <a:bodyPr/>
          <a:lstStyle/>
          <a:p>
            <a:endParaRPr lang="ar-TN" sz="2400"/>
          </a:p>
        </p:txBody>
      </p:sp>
      <p:pic>
        <p:nvPicPr>
          <p:cNvPr id="42" name="Image 5" descr="/home/claude/pptx_project/icons/clipboard_navy.png"/>
          <p:cNvPicPr>
            <a:picLocks noChangeAspect="1"/>
          </p:cNvPicPr>
          <p:nvPr/>
        </p:nvPicPr>
        <p:blipFill>
          <a:blip r:embed="rId8"/>
          <a:stretch>
            <a:fillRect/>
          </a:stretch>
        </p:blipFill>
        <p:spPr>
          <a:xfrm>
            <a:off x="13979348" y="3341828"/>
            <a:ext cx="631545" cy="631545"/>
          </a:xfrm>
          <a:prstGeom prst="rect">
            <a:avLst/>
          </a:prstGeom>
        </p:spPr>
      </p:pic>
      <p:sp>
        <p:nvSpPr>
          <p:cNvPr id="43" name="Text 35"/>
          <p:cNvSpPr/>
          <p:nvPr/>
        </p:nvSpPr>
        <p:spPr>
          <a:xfrm>
            <a:off x="13325856" y="4267200"/>
            <a:ext cx="1938528" cy="548640"/>
          </a:xfrm>
          <a:prstGeom prst="rect">
            <a:avLst/>
          </a:prstGeom>
          <a:noFill/>
          <a:ln/>
        </p:spPr>
        <p:txBody>
          <a:bodyPr wrap="square" rtlCol="0" anchor="ctr"/>
          <a:lstStyle/>
          <a:p>
            <a:pPr algn="ctr"/>
            <a:r>
              <a:rPr lang="en-US" sz="1867" b="1" dirty="0">
                <a:solidFill>
                  <a:srgbClr val="FFFFFF"/>
                </a:solidFill>
                <a:latin typeface="Cambria" pitchFamily="34" charset="0"/>
                <a:ea typeface="Cambria" pitchFamily="34" charset="-122"/>
                <a:cs typeface="Cambria" pitchFamily="34" charset="-120"/>
              </a:rPr>
              <a:t>Journal</a:t>
            </a:r>
            <a:endParaRPr lang="en-US" sz="1867" dirty="0"/>
          </a:p>
        </p:txBody>
      </p:sp>
      <p:sp>
        <p:nvSpPr>
          <p:cNvPr id="44" name="Text 36"/>
          <p:cNvSpPr/>
          <p:nvPr/>
        </p:nvSpPr>
        <p:spPr>
          <a:xfrm>
            <a:off x="13325856" y="4876800"/>
            <a:ext cx="1938528" cy="1097280"/>
          </a:xfrm>
          <a:prstGeom prst="rect">
            <a:avLst/>
          </a:prstGeom>
          <a:noFill/>
          <a:ln/>
        </p:spPr>
        <p:txBody>
          <a:bodyPr wrap="square" rtlCol="0" anchor="ctr"/>
          <a:lstStyle/>
          <a:p>
            <a:pPr algn="ctr">
              <a:lnSpc>
                <a:spcPct val="115000"/>
              </a:lnSpc>
            </a:pPr>
            <a:r>
              <a:rPr lang="en-US" sz="1400" dirty="0">
                <a:solidFill>
                  <a:srgbClr val="CADCFC"/>
                </a:solidFill>
                <a:latin typeface="Calibri" pitchFamily="34" charset="0"/>
                <a:ea typeface="Calibri" pitchFamily="34" charset="-122"/>
                <a:cs typeface="Calibri" pitchFamily="34" charset="-120"/>
              </a:rPr>
              <a:t>Actions et évaluation d'impact</a:t>
            </a:r>
            <a:endParaRPr lang="en-US" sz="1400" dirty="0"/>
          </a:p>
        </p:txBody>
      </p:sp>
      <p:sp>
        <p:nvSpPr>
          <p:cNvPr id="45" name="Text 37"/>
          <p:cNvSpPr/>
          <p:nvPr/>
        </p:nvSpPr>
        <p:spPr>
          <a:xfrm>
            <a:off x="853440" y="6522720"/>
            <a:ext cx="14508480" cy="609600"/>
          </a:xfrm>
          <a:prstGeom prst="rect">
            <a:avLst/>
          </a:prstGeom>
          <a:noFill/>
          <a:ln/>
        </p:spPr>
        <p:txBody>
          <a:bodyPr wrap="square" rtlCol="0" anchor="ctr"/>
          <a:lstStyle/>
          <a:p>
            <a:pPr algn="ctr"/>
            <a:r>
              <a:rPr lang="en-US" sz="1733" i="1" dirty="0">
                <a:solidFill>
                  <a:srgbClr val="1E2761"/>
                </a:solidFill>
                <a:latin typeface="Calibri" pitchFamily="34" charset="0"/>
                <a:ea typeface="Calibri" pitchFamily="34" charset="-122"/>
                <a:cs typeface="Calibri" pitchFamily="34" charset="-120"/>
              </a:rPr>
              <a:t>Cycle complet : Détection → Analyse → Recommandation → Action → Évaluation → Ajustement</a:t>
            </a:r>
            <a:endParaRPr lang="en-US" sz="1733" dirty="0"/>
          </a:p>
        </p:txBody>
      </p:sp>
      <p:sp>
        <p:nvSpPr>
          <p:cNvPr id="46" name="Text 38"/>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47" name="Text 39"/>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9</a:t>
            </a:r>
            <a:endParaRPr lang="en-US" sz="1333"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3600" b="1" dirty="0">
                <a:solidFill>
                  <a:srgbClr val="1E2761"/>
                </a:solidFill>
                <a:latin typeface="Cambria" pitchFamily="34" charset="0"/>
                <a:ea typeface="Cambria" pitchFamily="34" charset="-122"/>
                <a:cs typeface="Cambria" pitchFamily="34" charset="-120"/>
              </a:rPr>
              <a:t>Des sources et des langues au plus près des Tunisiens</a:t>
            </a:r>
            <a:endParaRPr lang="en-US" sz="3600" dirty="0"/>
          </a:p>
        </p:txBody>
      </p:sp>
      <p:sp>
        <p:nvSpPr>
          <p:cNvPr id="3" name="Shape 1"/>
          <p:cNvSpPr/>
          <p:nvPr/>
        </p:nvSpPr>
        <p:spPr>
          <a:xfrm>
            <a:off x="853440" y="1706880"/>
            <a:ext cx="8656320" cy="6278880"/>
          </a:xfrm>
          <a:prstGeom prst="roundRect">
            <a:avLst>
              <a:gd name="adj" fmla="val 1553"/>
            </a:avLst>
          </a:prstGeom>
          <a:solidFill>
            <a:srgbClr val="F4F6FB"/>
          </a:solidFill>
          <a:ln/>
        </p:spPr>
        <p:txBody>
          <a:bodyPr/>
          <a:lstStyle/>
          <a:p>
            <a:endParaRPr lang="ar-TN" sz="2400"/>
          </a:p>
        </p:txBody>
      </p:sp>
      <p:sp>
        <p:nvSpPr>
          <p:cNvPr id="4" name="Shape 2"/>
          <p:cNvSpPr/>
          <p:nvPr/>
        </p:nvSpPr>
        <p:spPr>
          <a:xfrm>
            <a:off x="1219200" y="2072640"/>
            <a:ext cx="853440" cy="853440"/>
          </a:xfrm>
          <a:prstGeom prst="ellipse">
            <a:avLst/>
          </a:prstGeom>
          <a:solidFill>
            <a:srgbClr val="1E2761"/>
          </a:solidFill>
          <a:ln/>
        </p:spPr>
        <p:txBody>
          <a:bodyPr/>
          <a:lstStyle/>
          <a:p>
            <a:endParaRPr lang="ar-TN" sz="2400"/>
          </a:p>
        </p:txBody>
      </p:sp>
      <p:pic>
        <p:nvPicPr>
          <p:cNvPr id="5" name="Image 0" descr="/home/claude/pptx_project/icons/globe_white.png"/>
          <p:cNvPicPr>
            <a:picLocks noChangeAspect="1"/>
          </p:cNvPicPr>
          <p:nvPr/>
        </p:nvPicPr>
        <p:blipFill>
          <a:blip r:embed="rId3"/>
          <a:stretch>
            <a:fillRect/>
          </a:stretch>
        </p:blipFill>
        <p:spPr>
          <a:xfrm>
            <a:off x="1330148" y="2183588"/>
            <a:ext cx="631545" cy="631545"/>
          </a:xfrm>
          <a:prstGeom prst="rect">
            <a:avLst/>
          </a:prstGeom>
        </p:spPr>
      </p:pic>
      <p:sp>
        <p:nvSpPr>
          <p:cNvPr id="6" name="Text 3"/>
          <p:cNvSpPr/>
          <p:nvPr/>
        </p:nvSpPr>
        <p:spPr>
          <a:xfrm>
            <a:off x="2255520" y="2170176"/>
            <a:ext cx="6949440" cy="609600"/>
          </a:xfrm>
          <a:prstGeom prst="rect">
            <a:avLst/>
          </a:prstGeom>
          <a:noFill/>
          <a:ln/>
        </p:spPr>
        <p:txBody>
          <a:bodyPr wrap="square" rtlCol="0" anchor="ctr"/>
          <a:lstStyle/>
          <a:p>
            <a:r>
              <a:rPr lang="en-US" sz="2267" b="1" dirty="0">
                <a:solidFill>
                  <a:srgbClr val="1E2761"/>
                </a:solidFill>
                <a:latin typeface="Cambria" pitchFamily="34" charset="0"/>
                <a:ea typeface="Cambria" pitchFamily="34" charset="-122"/>
                <a:cs typeface="Cambria" pitchFamily="34" charset="-120"/>
              </a:rPr>
              <a:t>Sources surveillées en continu</a:t>
            </a:r>
            <a:endParaRPr lang="en-US" sz="2267" dirty="0"/>
          </a:p>
        </p:txBody>
      </p:sp>
      <p:sp>
        <p:nvSpPr>
          <p:cNvPr id="7" name="Shape 4"/>
          <p:cNvSpPr/>
          <p:nvPr/>
        </p:nvSpPr>
        <p:spPr>
          <a:xfrm>
            <a:off x="1219200" y="3206496"/>
            <a:ext cx="146304" cy="146304"/>
          </a:xfrm>
          <a:prstGeom prst="ellipse">
            <a:avLst/>
          </a:prstGeom>
          <a:solidFill>
            <a:srgbClr val="1E2761"/>
          </a:solidFill>
          <a:ln/>
        </p:spPr>
        <p:txBody>
          <a:bodyPr/>
          <a:lstStyle/>
          <a:p>
            <a:endParaRPr lang="ar-TN" sz="2400"/>
          </a:p>
        </p:txBody>
      </p:sp>
      <p:sp>
        <p:nvSpPr>
          <p:cNvPr id="8" name="Text 5"/>
          <p:cNvSpPr/>
          <p:nvPr/>
        </p:nvSpPr>
        <p:spPr>
          <a:xfrm>
            <a:off x="1524000" y="30114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Facebook (pages, groupes, commentaires)</a:t>
            </a:r>
            <a:endParaRPr lang="en-US" dirty="0"/>
          </a:p>
        </p:txBody>
      </p:sp>
      <p:sp>
        <p:nvSpPr>
          <p:cNvPr id="9" name="Shape 6"/>
          <p:cNvSpPr/>
          <p:nvPr/>
        </p:nvSpPr>
        <p:spPr>
          <a:xfrm>
            <a:off x="1219200" y="3816096"/>
            <a:ext cx="146304" cy="146304"/>
          </a:xfrm>
          <a:prstGeom prst="ellipse">
            <a:avLst/>
          </a:prstGeom>
          <a:solidFill>
            <a:srgbClr val="1E2761"/>
          </a:solidFill>
          <a:ln/>
        </p:spPr>
        <p:txBody>
          <a:bodyPr/>
          <a:lstStyle/>
          <a:p>
            <a:endParaRPr lang="ar-TN" sz="2400"/>
          </a:p>
        </p:txBody>
      </p:sp>
      <p:sp>
        <p:nvSpPr>
          <p:cNvPr id="10" name="Text 7"/>
          <p:cNvSpPr/>
          <p:nvPr/>
        </p:nvSpPr>
        <p:spPr>
          <a:xfrm>
            <a:off x="1524000" y="36210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TikTok — vidéos et commentaires</a:t>
            </a:r>
            <a:endParaRPr lang="en-US" dirty="0"/>
          </a:p>
        </p:txBody>
      </p:sp>
      <p:sp>
        <p:nvSpPr>
          <p:cNvPr id="11" name="Shape 8"/>
          <p:cNvSpPr/>
          <p:nvPr/>
        </p:nvSpPr>
        <p:spPr>
          <a:xfrm>
            <a:off x="1219200" y="4425696"/>
            <a:ext cx="146304" cy="146304"/>
          </a:xfrm>
          <a:prstGeom prst="ellipse">
            <a:avLst/>
          </a:prstGeom>
          <a:solidFill>
            <a:srgbClr val="1E2761"/>
          </a:solidFill>
          <a:ln/>
        </p:spPr>
        <p:txBody>
          <a:bodyPr/>
          <a:lstStyle/>
          <a:p>
            <a:endParaRPr lang="ar-TN" sz="2400"/>
          </a:p>
        </p:txBody>
      </p:sp>
      <p:sp>
        <p:nvSpPr>
          <p:cNvPr id="12" name="Text 9"/>
          <p:cNvSpPr/>
          <p:nvPr/>
        </p:nvSpPr>
        <p:spPr>
          <a:xfrm>
            <a:off x="1524000" y="42306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Instagram — publications et commentaires</a:t>
            </a:r>
            <a:endParaRPr lang="en-US" dirty="0"/>
          </a:p>
        </p:txBody>
      </p:sp>
      <p:sp>
        <p:nvSpPr>
          <p:cNvPr id="13" name="Shape 10"/>
          <p:cNvSpPr/>
          <p:nvPr/>
        </p:nvSpPr>
        <p:spPr>
          <a:xfrm>
            <a:off x="1219200" y="5035296"/>
            <a:ext cx="146304" cy="146304"/>
          </a:xfrm>
          <a:prstGeom prst="ellipse">
            <a:avLst/>
          </a:prstGeom>
          <a:solidFill>
            <a:srgbClr val="1E2761"/>
          </a:solidFill>
          <a:ln/>
        </p:spPr>
        <p:txBody>
          <a:bodyPr/>
          <a:lstStyle/>
          <a:p>
            <a:endParaRPr lang="ar-TN" sz="2400"/>
          </a:p>
        </p:txBody>
      </p:sp>
      <p:sp>
        <p:nvSpPr>
          <p:cNvPr id="14" name="Text 11"/>
          <p:cNvSpPr/>
          <p:nvPr/>
        </p:nvSpPr>
        <p:spPr>
          <a:xfrm>
            <a:off x="1524000" y="48402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X / Twitter — fils de discussion</a:t>
            </a:r>
            <a:endParaRPr lang="en-US" dirty="0"/>
          </a:p>
        </p:txBody>
      </p:sp>
      <p:sp>
        <p:nvSpPr>
          <p:cNvPr id="15" name="Shape 12"/>
          <p:cNvSpPr/>
          <p:nvPr/>
        </p:nvSpPr>
        <p:spPr>
          <a:xfrm>
            <a:off x="1219200" y="5644896"/>
            <a:ext cx="146304" cy="146304"/>
          </a:xfrm>
          <a:prstGeom prst="ellipse">
            <a:avLst/>
          </a:prstGeom>
          <a:solidFill>
            <a:srgbClr val="1E2761"/>
          </a:solidFill>
          <a:ln/>
        </p:spPr>
        <p:txBody>
          <a:bodyPr/>
          <a:lstStyle/>
          <a:p>
            <a:endParaRPr lang="ar-TN" sz="2400"/>
          </a:p>
        </p:txBody>
      </p:sp>
      <p:sp>
        <p:nvSpPr>
          <p:cNvPr id="16" name="Text 13"/>
          <p:cNvSpPr/>
          <p:nvPr/>
        </p:nvSpPr>
        <p:spPr>
          <a:xfrm>
            <a:off x="1524000" y="54498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YouTube — vidéos et lives</a:t>
            </a:r>
            <a:endParaRPr lang="en-US" dirty="0"/>
          </a:p>
        </p:txBody>
      </p:sp>
      <p:sp>
        <p:nvSpPr>
          <p:cNvPr id="17" name="Shape 14"/>
          <p:cNvSpPr/>
          <p:nvPr/>
        </p:nvSpPr>
        <p:spPr>
          <a:xfrm>
            <a:off x="1219200" y="6254496"/>
            <a:ext cx="146304" cy="146304"/>
          </a:xfrm>
          <a:prstGeom prst="ellipse">
            <a:avLst/>
          </a:prstGeom>
          <a:solidFill>
            <a:srgbClr val="1E2761"/>
          </a:solidFill>
          <a:ln/>
        </p:spPr>
        <p:txBody>
          <a:bodyPr/>
          <a:lstStyle/>
          <a:p>
            <a:endParaRPr lang="ar-TN" sz="2400"/>
          </a:p>
        </p:txBody>
      </p:sp>
      <p:sp>
        <p:nvSpPr>
          <p:cNvPr id="18" name="Text 15"/>
          <p:cNvSpPr/>
          <p:nvPr/>
        </p:nvSpPr>
        <p:spPr>
          <a:xfrm>
            <a:off x="1524000" y="60594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Sites de médias tunisiens</a:t>
            </a:r>
            <a:endParaRPr lang="en-US" dirty="0"/>
          </a:p>
        </p:txBody>
      </p:sp>
      <p:sp>
        <p:nvSpPr>
          <p:cNvPr id="19" name="Shape 16"/>
          <p:cNvSpPr/>
          <p:nvPr/>
        </p:nvSpPr>
        <p:spPr>
          <a:xfrm>
            <a:off x="1219200" y="6864096"/>
            <a:ext cx="146304" cy="146304"/>
          </a:xfrm>
          <a:prstGeom prst="ellipse">
            <a:avLst/>
          </a:prstGeom>
          <a:solidFill>
            <a:srgbClr val="1E2761"/>
          </a:solidFill>
          <a:ln/>
        </p:spPr>
        <p:txBody>
          <a:bodyPr/>
          <a:lstStyle/>
          <a:p>
            <a:endParaRPr lang="ar-TN" sz="2400"/>
          </a:p>
        </p:txBody>
      </p:sp>
      <p:sp>
        <p:nvSpPr>
          <p:cNvPr id="20" name="Text 17"/>
          <p:cNvSpPr/>
          <p:nvPr/>
        </p:nvSpPr>
        <p:spPr>
          <a:xfrm>
            <a:off x="1524000" y="6669024"/>
            <a:ext cx="7680960" cy="512064"/>
          </a:xfrm>
          <a:prstGeom prst="rect">
            <a:avLst/>
          </a:prstGeom>
          <a:noFill/>
          <a:ln/>
        </p:spPr>
        <p:txBody>
          <a:bodyPr wrap="square" rtlCol="0" anchor="ctr"/>
          <a:lstStyle/>
          <a:p>
            <a:r>
              <a:rPr lang="en-US" dirty="0">
                <a:solidFill>
                  <a:srgbClr val="1A1A2E"/>
                </a:solidFill>
                <a:latin typeface="Calibri" pitchFamily="34" charset="0"/>
                <a:ea typeface="Calibri" pitchFamily="34" charset="-122"/>
                <a:cs typeface="Calibri" pitchFamily="34" charset="-120"/>
              </a:rPr>
              <a:t>Blogs, forums, Telegram public</a:t>
            </a:r>
            <a:endParaRPr lang="en-US" dirty="0"/>
          </a:p>
        </p:txBody>
      </p:sp>
      <p:sp>
        <p:nvSpPr>
          <p:cNvPr id="21" name="Shape 18"/>
          <p:cNvSpPr/>
          <p:nvPr/>
        </p:nvSpPr>
        <p:spPr>
          <a:xfrm>
            <a:off x="9814560" y="1706880"/>
            <a:ext cx="5547360" cy="6278880"/>
          </a:xfrm>
          <a:prstGeom prst="roundRect">
            <a:avLst>
              <a:gd name="adj" fmla="val 1758"/>
            </a:avLst>
          </a:prstGeom>
          <a:solidFill>
            <a:srgbClr val="1E2761"/>
          </a:solidFill>
          <a:ln/>
        </p:spPr>
        <p:txBody>
          <a:bodyPr/>
          <a:lstStyle/>
          <a:p>
            <a:endParaRPr lang="ar-TN" sz="2400"/>
          </a:p>
        </p:txBody>
      </p:sp>
      <p:sp>
        <p:nvSpPr>
          <p:cNvPr id="22" name="Shape 19"/>
          <p:cNvSpPr/>
          <p:nvPr/>
        </p:nvSpPr>
        <p:spPr>
          <a:xfrm>
            <a:off x="10180320" y="2072640"/>
            <a:ext cx="853440" cy="853440"/>
          </a:xfrm>
          <a:prstGeom prst="ellipse">
            <a:avLst/>
          </a:prstGeom>
          <a:solidFill>
            <a:srgbClr val="CADCFC"/>
          </a:solidFill>
          <a:ln/>
        </p:spPr>
        <p:txBody>
          <a:bodyPr/>
          <a:lstStyle/>
          <a:p>
            <a:endParaRPr lang="ar-TN" sz="2400"/>
          </a:p>
        </p:txBody>
      </p:sp>
      <p:pic>
        <p:nvPicPr>
          <p:cNvPr id="23" name="Image 1" descr="/home/claude/pptx_project/icons/language_navy.png"/>
          <p:cNvPicPr>
            <a:picLocks noChangeAspect="1"/>
          </p:cNvPicPr>
          <p:nvPr/>
        </p:nvPicPr>
        <p:blipFill>
          <a:blip r:embed="rId4"/>
          <a:stretch>
            <a:fillRect/>
          </a:stretch>
        </p:blipFill>
        <p:spPr>
          <a:xfrm>
            <a:off x="10291268" y="2183588"/>
            <a:ext cx="631545" cy="631545"/>
          </a:xfrm>
          <a:prstGeom prst="rect">
            <a:avLst/>
          </a:prstGeom>
        </p:spPr>
      </p:pic>
      <p:sp>
        <p:nvSpPr>
          <p:cNvPr id="24" name="Text 20"/>
          <p:cNvSpPr/>
          <p:nvPr/>
        </p:nvSpPr>
        <p:spPr>
          <a:xfrm>
            <a:off x="10180320" y="3108960"/>
            <a:ext cx="4876800" cy="548640"/>
          </a:xfrm>
          <a:prstGeom prst="rect">
            <a:avLst/>
          </a:prstGeom>
          <a:noFill/>
          <a:ln/>
        </p:spPr>
        <p:txBody>
          <a:bodyPr wrap="square" rtlCol="0" anchor="ctr"/>
          <a:lstStyle/>
          <a:p>
            <a:r>
              <a:rPr lang="en-US" sz="2267" b="1" dirty="0">
                <a:solidFill>
                  <a:srgbClr val="FFFFFF"/>
                </a:solidFill>
                <a:latin typeface="Cambria" pitchFamily="34" charset="0"/>
                <a:ea typeface="Cambria" pitchFamily="34" charset="-122"/>
                <a:cs typeface="Cambria" pitchFamily="34" charset="-120"/>
              </a:rPr>
              <a:t>Langues analysées</a:t>
            </a:r>
            <a:endParaRPr lang="en-US" sz="2267" dirty="0"/>
          </a:p>
        </p:txBody>
      </p:sp>
      <p:sp>
        <p:nvSpPr>
          <p:cNvPr id="25" name="Shape 21"/>
          <p:cNvSpPr/>
          <p:nvPr/>
        </p:nvSpPr>
        <p:spPr>
          <a:xfrm>
            <a:off x="10180320" y="3901440"/>
            <a:ext cx="4815840" cy="670560"/>
          </a:xfrm>
          <a:prstGeom prst="roundRect">
            <a:avLst>
              <a:gd name="adj" fmla="val 9091"/>
            </a:avLst>
          </a:prstGeom>
          <a:solidFill>
            <a:srgbClr val="26306E"/>
          </a:solidFill>
          <a:ln/>
        </p:spPr>
        <p:txBody>
          <a:bodyPr/>
          <a:lstStyle/>
          <a:p>
            <a:endParaRPr lang="ar-TN" sz="2400"/>
          </a:p>
        </p:txBody>
      </p:sp>
      <p:sp>
        <p:nvSpPr>
          <p:cNvPr id="26" name="Text 22"/>
          <p:cNvSpPr/>
          <p:nvPr/>
        </p:nvSpPr>
        <p:spPr>
          <a:xfrm>
            <a:off x="10424160" y="3901440"/>
            <a:ext cx="4389120" cy="67056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Arabe dialectal tunisien</a:t>
            </a:r>
            <a:endParaRPr lang="en-US" dirty="0"/>
          </a:p>
        </p:txBody>
      </p:sp>
      <p:sp>
        <p:nvSpPr>
          <p:cNvPr id="27" name="Shape 23"/>
          <p:cNvSpPr/>
          <p:nvPr/>
        </p:nvSpPr>
        <p:spPr>
          <a:xfrm>
            <a:off x="10180320" y="4730496"/>
            <a:ext cx="4815840" cy="670560"/>
          </a:xfrm>
          <a:prstGeom prst="roundRect">
            <a:avLst>
              <a:gd name="adj" fmla="val 9091"/>
            </a:avLst>
          </a:prstGeom>
          <a:solidFill>
            <a:srgbClr val="26306E"/>
          </a:solidFill>
          <a:ln/>
        </p:spPr>
        <p:txBody>
          <a:bodyPr/>
          <a:lstStyle/>
          <a:p>
            <a:endParaRPr lang="ar-TN" sz="2400"/>
          </a:p>
        </p:txBody>
      </p:sp>
      <p:sp>
        <p:nvSpPr>
          <p:cNvPr id="28" name="Text 24"/>
          <p:cNvSpPr/>
          <p:nvPr/>
        </p:nvSpPr>
        <p:spPr>
          <a:xfrm>
            <a:off x="10424160" y="4730496"/>
            <a:ext cx="4389120" cy="67056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Arabe standard</a:t>
            </a:r>
            <a:endParaRPr lang="en-US" dirty="0"/>
          </a:p>
        </p:txBody>
      </p:sp>
      <p:sp>
        <p:nvSpPr>
          <p:cNvPr id="29" name="Shape 25"/>
          <p:cNvSpPr/>
          <p:nvPr/>
        </p:nvSpPr>
        <p:spPr>
          <a:xfrm>
            <a:off x="10180320" y="5559552"/>
            <a:ext cx="4815840" cy="670560"/>
          </a:xfrm>
          <a:prstGeom prst="roundRect">
            <a:avLst>
              <a:gd name="adj" fmla="val 9091"/>
            </a:avLst>
          </a:prstGeom>
          <a:solidFill>
            <a:srgbClr val="26306E"/>
          </a:solidFill>
          <a:ln/>
        </p:spPr>
        <p:txBody>
          <a:bodyPr/>
          <a:lstStyle/>
          <a:p>
            <a:endParaRPr lang="ar-TN" sz="2400"/>
          </a:p>
        </p:txBody>
      </p:sp>
      <p:sp>
        <p:nvSpPr>
          <p:cNvPr id="30" name="Text 26"/>
          <p:cNvSpPr/>
          <p:nvPr/>
        </p:nvSpPr>
        <p:spPr>
          <a:xfrm>
            <a:off x="10424160" y="5559552"/>
            <a:ext cx="4389120" cy="67056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Français</a:t>
            </a:r>
            <a:endParaRPr lang="en-US" dirty="0"/>
          </a:p>
        </p:txBody>
      </p:sp>
      <p:sp>
        <p:nvSpPr>
          <p:cNvPr id="31" name="Shape 27"/>
          <p:cNvSpPr/>
          <p:nvPr/>
        </p:nvSpPr>
        <p:spPr>
          <a:xfrm>
            <a:off x="10180320" y="6388608"/>
            <a:ext cx="4815840" cy="670560"/>
          </a:xfrm>
          <a:prstGeom prst="roundRect">
            <a:avLst>
              <a:gd name="adj" fmla="val 9091"/>
            </a:avLst>
          </a:prstGeom>
          <a:solidFill>
            <a:srgbClr val="26306E"/>
          </a:solidFill>
          <a:ln/>
        </p:spPr>
        <p:txBody>
          <a:bodyPr/>
          <a:lstStyle/>
          <a:p>
            <a:endParaRPr lang="ar-TN" sz="2400"/>
          </a:p>
        </p:txBody>
      </p:sp>
      <p:sp>
        <p:nvSpPr>
          <p:cNvPr id="32" name="Text 28"/>
          <p:cNvSpPr/>
          <p:nvPr/>
        </p:nvSpPr>
        <p:spPr>
          <a:xfrm>
            <a:off x="10424160" y="6388608"/>
            <a:ext cx="4389120" cy="670560"/>
          </a:xfrm>
          <a:prstGeom prst="rect">
            <a:avLst/>
          </a:prstGeom>
          <a:noFill/>
          <a:ln/>
        </p:spPr>
        <p:txBody>
          <a:bodyPr wrap="square" rtlCol="0" anchor="ctr"/>
          <a:lstStyle/>
          <a:p>
            <a:r>
              <a:rPr lang="en-US" dirty="0">
                <a:solidFill>
                  <a:srgbClr val="FFFFFF"/>
                </a:solidFill>
                <a:latin typeface="Calibri" pitchFamily="34" charset="0"/>
                <a:ea typeface="Calibri" pitchFamily="34" charset="-122"/>
                <a:cs typeface="Calibri" pitchFamily="34" charset="-120"/>
              </a:rPr>
              <a:t>Anglais et italien (diaspora)</a:t>
            </a:r>
            <a:endParaRPr lang="en-US" dirty="0"/>
          </a:p>
        </p:txBody>
      </p:sp>
      <p:sp>
        <p:nvSpPr>
          <p:cNvPr id="33" name="Text 29"/>
          <p:cNvSpPr/>
          <p:nvPr/>
        </p:nvSpPr>
        <p:spPr>
          <a:xfrm>
            <a:off x="10180320" y="7400544"/>
            <a:ext cx="4815840" cy="1219200"/>
          </a:xfrm>
          <a:prstGeom prst="rect">
            <a:avLst/>
          </a:prstGeom>
          <a:noFill/>
          <a:ln/>
        </p:spPr>
        <p:txBody>
          <a:bodyPr wrap="square" rtlCol="0" anchor="ctr"/>
          <a:lstStyle/>
          <a:p>
            <a:pPr>
              <a:lnSpc>
                <a:spcPct val="120000"/>
              </a:lnSpc>
            </a:pPr>
            <a:r>
              <a:rPr lang="en-US" sz="1533" i="1" dirty="0">
                <a:solidFill>
                  <a:srgbClr val="CADCFC"/>
                </a:solidFill>
                <a:latin typeface="Calibri" pitchFamily="34" charset="0"/>
                <a:ea typeface="Calibri" pitchFamily="34" charset="-122"/>
                <a:cs typeface="Calibri" pitchFamily="34" charset="-120"/>
              </a:rPr>
              <a:t>Toutes les données sont anonymisées dès la collecte : aucun nom de compte ni information personnelle n'est conservé.</a:t>
            </a:r>
            <a:endParaRPr lang="en-US" sz="1533" dirty="0"/>
          </a:p>
        </p:txBody>
      </p:sp>
      <p:sp>
        <p:nvSpPr>
          <p:cNvPr id="34" name="Text 30"/>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35" name="Text 31"/>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10</a:t>
            </a:r>
            <a:endParaRPr lang="en-US" sz="1333"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Le moteur d'intelligence artificielle</a:t>
            </a:r>
            <a:endParaRPr lang="en-US" sz="4000" dirty="0"/>
          </a:p>
        </p:txBody>
      </p:sp>
      <p:sp>
        <p:nvSpPr>
          <p:cNvPr id="3" name="Text 1"/>
          <p:cNvSpPr/>
          <p:nvPr/>
        </p:nvSpPr>
        <p:spPr>
          <a:xfrm>
            <a:off x="853440" y="1524000"/>
            <a:ext cx="14508480" cy="731520"/>
          </a:xfrm>
          <a:prstGeom prst="rect">
            <a:avLst/>
          </a:prstGeom>
          <a:noFill/>
          <a:ln/>
        </p:spPr>
        <p:txBody>
          <a:bodyPr wrap="square" rtlCol="0" anchor="ctr"/>
          <a:lstStyle/>
          <a:p>
            <a:pPr>
              <a:lnSpc>
                <a:spcPct val="120000"/>
              </a:lnSpc>
            </a:pPr>
            <a:r>
              <a:rPr lang="en-US" sz="1867" dirty="0">
                <a:solidFill>
                  <a:srgbClr val="5B6472"/>
                </a:solidFill>
                <a:latin typeface="Calibri" pitchFamily="34" charset="0"/>
                <a:ea typeface="Calibri" pitchFamily="34" charset="-122"/>
                <a:cs typeface="Calibri" pitchFamily="34" charset="-120"/>
              </a:rPr>
              <a:t>Des modèles entraînés sur des données tunisiennes, qui transforment un flux massif de contenus en diagnostics infodémiques structurés.</a:t>
            </a:r>
            <a:endParaRPr lang="en-US" sz="1867" dirty="0"/>
          </a:p>
        </p:txBody>
      </p:sp>
      <p:sp>
        <p:nvSpPr>
          <p:cNvPr id="4" name="Shape 2"/>
          <p:cNvSpPr/>
          <p:nvPr/>
        </p:nvSpPr>
        <p:spPr>
          <a:xfrm>
            <a:off x="853440" y="2621280"/>
            <a:ext cx="7010400" cy="2438400"/>
          </a:xfrm>
          <a:prstGeom prst="roundRect">
            <a:avLst>
              <a:gd name="adj" fmla="val 4000"/>
            </a:avLst>
          </a:prstGeom>
          <a:solidFill>
            <a:srgbClr val="F4F6FB"/>
          </a:solidFill>
          <a:ln/>
        </p:spPr>
        <p:txBody>
          <a:bodyPr/>
          <a:lstStyle/>
          <a:p>
            <a:endParaRPr lang="ar-TN" sz="2400"/>
          </a:p>
        </p:txBody>
      </p:sp>
      <p:sp>
        <p:nvSpPr>
          <p:cNvPr id="5" name="Shape 3"/>
          <p:cNvSpPr/>
          <p:nvPr/>
        </p:nvSpPr>
        <p:spPr>
          <a:xfrm>
            <a:off x="1194816" y="2962656"/>
            <a:ext cx="914400" cy="914400"/>
          </a:xfrm>
          <a:prstGeom prst="ellipse">
            <a:avLst/>
          </a:prstGeom>
          <a:solidFill>
            <a:srgbClr val="1E2761"/>
          </a:solidFill>
          <a:ln/>
        </p:spPr>
        <p:txBody>
          <a:bodyPr/>
          <a:lstStyle/>
          <a:p>
            <a:endParaRPr lang="ar-TN" sz="2400"/>
          </a:p>
        </p:txBody>
      </p:sp>
      <p:pic>
        <p:nvPicPr>
          <p:cNvPr id="6" name="Image 0" descr="/home/claude/pptx_project/icons/shield_white.png"/>
          <p:cNvPicPr>
            <a:picLocks noChangeAspect="1"/>
          </p:cNvPicPr>
          <p:nvPr/>
        </p:nvPicPr>
        <p:blipFill>
          <a:blip r:embed="rId3"/>
          <a:stretch>
            <a:fillRect/>
          </a:stretch>
        </p:blipFill>
        <p:spPr>
          <a:xfrm>
            <a:off x="1313688" y="3081528"/>
            <a:ext cx="676656" cy="676656"/>
          </a:xfrm>
          <a:prstGeom prst="rect">
            <a:avLst/>
          </a:prstGeom>
        </p:spPr>
      </p:pic>
      <p:sp>
        <p:nvSpPr>
          <p:cNvPr id="7" name="Text 4"/>
          <p:cNvSpPr/>
          <p:nvPr/>
        </p:nvSpPr>
        <p:spPr>
          <a:xfrm>
            <a:off x="2316480" y="2926080"/>
            <a:ext cx="5303520" cy="548640"/>
          </a:xfrm>
          <a:prstGeom prst="rect">
            <a:avLst/>
          </a:prstGeom>
          <a:noFill/>
          <a:ln/>
        </p:spPr>
        <p:txBody>
          <a:bodyPr wrap="square" rtlCol="0" anchor="ctr"/>
          <a:lstStyle/>
          <a:p>
            <a:r>
              <a:rPr lang="en-US" sz="2000" b="1" dirty="0">
                <a:solidFill>
                  <a:srgbClr val="1E2761"/>
                </a:solidFill>
                <a:latin typeface="Cambria" pitchFamily="34" charset="0"/>
                <a:ea typeface="Cambria" pitchFamily="34" charset="-122"/>
                <a:cs typeface="Cambria" pitchFamily="34" charset="-120"/>
              </a:rPr>
              <a:t>Détection des risques</a:t>
            </a:r>
            <a:endParaRPr lang="en-US" sz="2000" dirty="0"/>
          </a:p>
        </p:txBody>
      </p:sp>
      <p:sp>
        <p:nvSpPr>
          <p:cNvPr id="8" name="Text 5"/>
          <p:cNvSpPr/>
          <p:nvPr/>
        </p:nvSpPr>
        <p:spPr>
          <a:xfrm>
            <a:off x="1194816" y="3901440"/>
            <a:ext cx="6327648" cy="1036320"/>
          </a:xfrm>
          <a:prstGeom prst="rect">
            <a:avLst/>
          </a:prstGeom>
          <a:noFill/>
          <a:ln/>
        </p:spPr>
        <p:txBody>
          <a:bodyPr wrap="square" rtlCol="0" anchor="ctr"/>
          <a:lstStyle/>
          <a:p>
            <a:pPr>
              <a:lnSpc>
                <a:spcPct val="120000"/>
              </a:lnSpc>
            </a:pPr>
            <a:r>
              <a:rPr lang="en-US" sz="1533" dirty="0">
                <a:solidFill>
                  <a:srgbClr val="1A1A2E"/>
                </a:solidFill>
                <a:latin typeface="Calibri" pitchFamily="34" charset="0"/>
                <a:ea typeface="Calibri" pitchFamily="34" charset="-122"/>
                <a:cs typeface="Calibri" pitchFamily="34" charset="-120"/>
              </a:rPr>
              <a:t>Fake news, rumeurs virales, discours complotistes, faux remèdes, discours antivaccin, attaques contre les institutions</a:t>
            </a:r>
            <a:endParaRPr lang="en-US" sz="1533" dirty="0"/>
          </a:p>
        </p:txBody>
      </p:sp>
      <p:sp>
        <p:nvSpPr>
          <p:cNvPr id="9" name="Shape 6"/>
          <p:cNvSpPr/>
          <p:nvPr/>
        </p:nvSpPr>
        <p:spPr>
          <a:xfrm>
            <a:off x="8351520" y="2621280"/>
            <a:ext cx="7010400" cy="2438400"/>
          </a:xfrm>
          <a:prstGeom prst="roundRect">
            <a:avLst>
              <a:gd name="adj" fmla="val 4000"/>
            </a:avLst>
          </a:prstGeom>
          <a:solidFill>
            <a:srgbClr val="F4F6FB"/>
          </a:solidFill>
          <a:ln/>
        </p:spPr>
        <p:txBody>
          <a:bodyPr/>
          <a:lstStyle/>
          <a:p>
            <a:endParaRPr lang="ar-TN" sz="2400"/>
          </a:p>
        </p:txBody>
      </p:sp>
      <p:sp>
        <p:nvSpPr>
          <p:cNvPr id="10" name="Shape 7"/>
          <p:cNvSpPr/>
          <p:nvPr/>
        </p:nvSpPr>
        <p:spPr>
          <a:xfrm>
            <a:off x="8692896" y="2962656"/>
            <a:ext cx="914400" cy="914400"/>
          </a:xfrm>
          <a:prstGeom prst="ellipse">
            <a:avLst/>
          </a:prstGeom>
          <a:solidFill>
            <a:srgbClr val="1E2761"/>
          </a:solidFill>
          <a:ln/>
        </p:spPr>
        <p:txBody>
          <a:bodyPr/>
          <a:lstStyle/>
          <a:p>
            <a:endParaRPr lang="ar-TN" sz="2400"/>
          </a:p>
        </p:txBody>
      </p:sp>
      <p:pic>
        <p:nvPicPr>
          <p:cNvPr id="11" name="Image 1" descr="/home/claude/pptx_project/icons/comments_white.png"/>
          <p:cNvPicPr>
            <a:picLocks noChangeAspect="1"/>
          </p:cNvPicPr>
          <p:nvPr/>
        </p:nvPicPr>
        <p:blipFill>
          <a:blip r:embed="rId4"/>
          <a:stretch>
            <a:fillRect/>
          </a:stretch>
        </p:blipFill>
        <p:spPr>
          <a:xfrm>
            <a:off x="8811768" y="3081528"/>
            <a:ext cx="676656" cy="676656"/>
          </a:xfrm>
          <a:prstGeom prst="rect">
            <a:avLst/>
          </a:prstGeom>
        </p:spPr>
      </p:pic>
      <p:sp>
        <p:nvSpPr>
          <p:cNvPr id="12" name="Text 8"/>
          <p:cNvSpPr/>
          <p:nvPr/>
        </p:nvSpPr>
        <p:spPr>
          <a:xfrm>
            <a:off x="9814560" y="2926080"/>
            <a:ext cx="5303520" cy="548640"/>
          </a:xfrm>
          <a:prstGeom prst="rect">
            <a:avLst/>
          </a:prstGeom>
          <a:noFill/>
          <a:ln/>
        </p:spPr>
        <p:txBody>
          <a:bodyPr wrap="square" rtlCol="0" anchor="ctr"/>
          <a:lstStyle/>
          <a:p>
            <a:r>
              <a:rPr lang="en-US" sz="2000" b="1" dirty="0">
                <a:solidFill>
                  <a:srgbClr val="1E2761"/>
                </a:solidFill>
                <a:latin typeface="Cambria" pitchFamily="34" charset="0"/>
                <a:ea typeface="Cambria" pitchFamily="34" charset="-122"/>
                <a:cs typeface="Cambria" pitchFamily="34" charset="-120"/>
              </a:rPr>
              <a:t>Analyse des émotions</a:t>
            </a:r>
            <a:endParaRPr lang="en-US" sz="2000" dirty="0"/>
          </a:p>
        </p:txBody>
      </p:sp>
      <p:sp>
        <p:nvSpPr>
          <p:cNvPr id="13" name="Text 9"/>
          <p:cNvSpPr/>
          <p:nvPr/>
        </p:nvSpPr>
        <p:spPr>
          <a:xfrm>
            <a:off x="8692896" y="3901440"/>
            <a:ext cx="6327648" cy="1036320"/>
          </a:xfrm>
          <a:prstGeom prst="rect">
            <a:avLst/>
          </a:prstGeom>
          <a:noFill/>
          <a:ln/>
        </p:spPr>
        <p:txBody>
          <a:bodyPr wrap="square" rtlCol="0" anchor="ctr"/>
          <a:lstStyle/>
          <a:p>
            <a:pPr>
              <a:lnSpc>
                <a:spcPct val="120000"/>
              </a:lnSpc>
            </a:pPr>
            <a:r>
              <a:rPr lang="en-US" sz="1533" dirty="0">
                <a:solidFill>
                  <a:srgbClr val="1A1A2E"/>
                </a:solidFill>
                <a:latin typeface="Calibri" pitchFamily="34" charset="0"/>
                <a:ea typeface="Calibri" pitchFamily="34" charset="-122"/>
                <a:cs typeface="Calibri" pitchFamily="34" charset="-120"/>
              </a:rPr>
              <a:t>Peur, colère, confusion, suspicion, confiance — pour chaque message</a:t>
            </a:r>
            <a:endParaRPr lang="en-US" sz="1533" dirty="0"/>
          </a:p>
        </p:txBody>
      </p:sp>
      <p:sp>
        <p:nvSpPr>
          <p:cNvPr id="14" name="Shape 10"/>
          <p:cNvSpPr/>
          <p:nvPr/>
        </p:nvSpPr>
        <p:spPr>
          <a:xfrm>
            <a:off x="853440" y="5303520"/>
            <a:ext cx="7010400" cy="2438400"/>
          </a:xfrm>
          <a:prstGeom prst="roundRect">
            <a:avLst>
              <a:gd name="adj" fmla="val 4000"/>
            </a:avLst>
          </a:prstGeom>
          <a:solidFill>
            <a:srgbClr val="F4F6FB"/>
          </a:solidFill>
          <a:ln/>
        </p:spPr>
        <p:txBody>
          <a:bodyPr/>
          <a:lstStyle/>
          <a:p>
            <a:endParaRPr lang="ar-TN" sz="2400"/>
          </a:p>
        </p:txBody>
      </p:sp>
      <p:sp>
        <p:nvSpPr>
          <p:cNvPr id="15" name="Shape 11"/>
          <p:cNvSpPr/>
          <p:nvPr/>
        </p:nvSpPr>
        <p:spPr>
          <a:xfrm>
            <a:off x="1194816" y="5644896"/>
            <a:ext cx="914400" cy="914400"/>
          </a:xfrm>
          <a:prstGeom prst="ellipse">
            <a:avLst/>
          </a:prstGeom>
          <a:solidFill>
            <a:srgbClr val="1E2761"/>
          </a:solidFill>
          <a:ln/>
        </p:spPr>
        <p:txBody>
          <a:bodyPr/>
          <a:lstStyle/>
          <a:p>
            <a:endParaRPr lang="ar-TN" sz="2400"/>
          </a:p>
        </p:txBody>
      </p:sp>
      <p:pic>
        <p:nvPicPr>
          <p:cNvPr id="16" name="Image 2" descr="/home/claude/pptx_project/icons/network_white.png"/>
          <p:cNvPicPr>
            <a:picLocks noChangeAspect="1"/>
          </p:cNvPicPr>
          <p:nvPr/>
        </p:nvPicPr>
        <p:blipFill>
          <a:blip r:embed="rId5"/>
          <a:stretch>
            <a:fillRect/>
          </a:stretch>
        </p:blipFill>
        <p:spPr>
          <a:xfrm>
            <a:off x="1313688" y="5763768"/>
            <a:ext cx="676656" cy="676656"/>
          </a:xfrm>
          <a:prstGeom prst="rect">
            <a:avLst/>
          </a:prstGeom>
        </p:spPr>
      </p:pic>
      <p:sp>
        <p:nvSpPr>
          <p:cNvPr id="17" name="Text 12"/>
          <p:cNvSpPr/>
          <p:nvPr/>
        </p:nvSpPr>
        <p:spPr>
          <a:xfrm>
            <a:off x="2316480" y="5608320"/>
            <a:ext cx="5303520" cy="548640"/>
          </a:xfrm>
          <a:prstGeom prst="rect">
            <a:avLst/>
          </a:prstGeom>
          <a:noFill/>
          <a:ln/>
        </p:spPr>
        <p:txBody>
          <a:bodyPr wrap="square" rtlCol="0" anchor="ctr"/>
          <a:lstStyle/>
          <a:p>
            <a:r>
              <a:rPr lang="en-US" sz="2000" b="1" dirty="0">
                <a:solidFill>
                  <a:srgbClr val="1E2761"/>
                </a:solidFill>
                <a:latin typeface="Cambria" pitchFamily="34" charset="0"/>
                <a:ea typeface="Cambria" pitchFamily="34" charset="-122"/>
                <a:cs typeface="Cambria" pitchFamily="34" charset="-120"/>
              </a:rPr>
              <a:t>Analyse des narratifs</a:t>
            </a:r>
            <a:endParaRPr lang="en-US" sz="2000" dirty="0"/>
          </a:p>
        </p:txBody>
      </p:sp>
      <p:sp>
        <p:nvSpPr>
          <p:cNvPr id="18" name="Text 13"/>
          <p:cNvSpPr/>
          <p:nvPr/>
        </p:nvSpPr>
        <p:spPr>
          <a:xfrm>
            <a:off x="1194816" y="6583680"/>
            <a:ext cx="6327648" cy="1036320"/>
          </a:xfrm>
          <a:prstGeom prst="rect">
            <a:avLst/>
          </a:prstGeom>
          <a:noFill/>
          <a:ln/>
        </p:spPr>
        <p:txBody>
          <a:bodyPr wrap="square" rtlCol="0" anchor="ctr"/>
          <a:lstStyle/>
          <a:p>
            <a:pPr>
              <a:lnSpc>
                <a:spcPct val="120000"/>
              </a:lnSpc>
            </a:pPr>
            <a:r>
              <a:rPr lang="en-US" sz="1533" dirty="0">
                <a:solidFill>
                  <a:srgbClr val="1A1A2E"/>
                </a:solidFill>
                <a:latin typeface="Calibri" pitchFamily="34" charset="0"/>
                <a:ea typeface="Calibri" pitchFamily="34" charset="-122"/>
                <a:cs typeface="Calibri" pitchFamily="34" charset="-120"/>
              </a:rPr>
              <a:t>Regroupement des messages en grands récits ; distinction des signaux faibles émergents</a:t>
            </a:r>
            <a:endParaRPr lang="en-US" sz="1533" dirty="0"/>
          </a:p>
        </p:txBody>
      </p:sp>
      <p:sp>
        <p:nvSpPr>
          <p:cNvPr id="19" name="Shape 14"/>
          <p:cNvSpPr/>
          <p:nvPr/>
        </p:nvSpPr>
        <p:spPr>
          <a:xfrm>
            <a:off x="8351520" y="5303520"/>
            <a:ext cx="7010400" cy="2438400"/>
          </a:xfrm>
          <a:prstGeom prst="roundRect">
            <a:avLst>
              <a:gd name="adj" fmla="val 4000"/>
            </a:avLst>
          </a:prstGeom>
          <a:solidFill>
            <a:srgbClr val="F4F6FB"/>
          </a:solidFill>
          <a:ln/>
        </p:spPr>
        <p:txBody>
          <a:bodyPr/>
          <a:lstStyle/>
          <a:p>
            <a:endParaRPr lang="ar-TN" sz="2400"/>
          </a:p>
        </p:txBody>
      </p:sp>
      <p:sp>
        <p:nvSpPr>
          <p:cNvPr id="20" name="Shape 15"/>
          <p:cNvSpPr/>
          <p:nvPr/>
        </p:nvSpPr>
        <p:spPr>
          <a:xfrm>
            <a:off x="8692896" y="5644896"/>
            <a:ext cx="914400" cy="914400"/>
          </a:xfrm>
          <a:prstGeom prst="ellipse">
            <a:avLst/>
          </a:prstGeom>
          <a:solidFill>
            <a:srgbClr val="1E2761"/>
          </a:solidFill>
          <a:ln/>
        </p:spPr>
        <p:txBody>
          <a:bodyPr/>
          <a:lstStyle/>
          <a:p>
            <a:endParaRPr lang="ar-TN" sz="2400"/>
          </a:p>
        </p:txBody>
      </p:sp>
      <p:pic>
        <p:nvPicPr>
          <p:cNvPr id="21" name="Image 3" descr="/home/claude/pptx_project/icons/users_white.png"/>
          <p:cNvPicPr>
            <a:picLocks noChangeAspect="1"/>
          </p:cNvPicPr>
          <p:nvPr/>
        </p:nvPicPr>
        <p:blipFill>
          <a:blip r:embed="rId6"/>
          <a:stretch>
            <a:fillRect/>
          </a:stretch>
        </p:blipFill>
        <p:spPr>
          <a:xfrm>
            <a:off x="8811768" y="5763768"/>
            <a:ext cx="676656" cy="676656"/>
          </a:xfrm>
          <a:prstGeom prst="rect">
            <a:avLst/>
          </a:prstGeom>
        </p:spPr>
      </p:pic>
      <p:sp>
        <p:nvSpPr>
          <p:cNvPr id="22" name="Text 16"/>
          <p:cNvSpPr/>
          <p:nvPr/>
        </p:nvSpPr>
        <p:spPr>
          <a:xfrm>
            <a:off x="9814560" y="5608320"/>
            <a:ext cx="5303520" cy="548640"/>
          </a:xfrm>
          <a:prstGeom prst="rect">
            <a:avLst/>
          </a:prstGeom>
          <a:noFill/>
          <a:ln/>
        </p:spPr>
        <p:txBody>
          <a:bodyPr wrap="square" rtlCol="0" anchor="ctr"/>
          <a:lstStyle/>
          <a:p>
            <a:r>
              <a:rPr lang="en-US" sz="2000" b="1" dirty="0">
                <a:solidFill>
                  <a:srgbClr val="1E2761"/>
                </a:solidFill>
                <a:latin typeface="Cambria" pitchFamily="34" charset="0"/>
                <a:ea typeface="Cambria" pitchFamily="34" charset="-122"/>
                <a:cs typeface="Cambria" pitchFamily="34" charset="-120"/>
              </a:rPr>
              <a:t>Cartographie des acteurs</a:t>
            </a:r>
            <a:endParaRPr lang="en-US" sz="2000" dirty="0"/>
          </a:p>
        </p:txBody>
      </p:sp>
      <p:sp>
        <p:nvSpPr>
          <p:cNvPr id="23" name="Text 17"/>
          <p:cNvSpPr/>
          <p:nvPr/>
        </p:nvSpPr>
        <p:spPr>
          <a:xfrm>
            <a:off x="8692896" y="6583680"/>
            <a:ext cx="6327648" cy="1036320"/>
          </a:xfrm>
          <a:prstGeom prst="rect">
            <a:avLst/>
          </a:prstGeom>
          <a:noFill/>
          <a:ln/>
        </p:spPr>
        <p:txBody>
          <a:bodyPr wrap="square" rtlCol="0" anchor="ctr"/>
          <a:lstStyle/>
          <a:p>
            <a:pPr>
              <a:lnSpc>
                <a:spcPct val="120000"/>
              </a:lnSpc>
            </a:pPr>
            <a:r>
              <a:rPr lang="en-US" sz="1533" dirty="0">
                <a:solidFill>
                  <a:srgbClr val="1A1A2E"/>
                </a:solidFill>
                <a:latin typeface="Calibri" pitchFamily="34" charset="0"/>
                <a:ea typeface="Calibri" pitchFamily="34" charset="-122"/>
                <a:cs typeface="Calibri" pitchFamily="34" charset="-120"/>
              </a:rPr>
              <a:t>Pages, comptes, influenceurs les plus impliqués dans chaque narratif</a:t>
            </a:r>
            <a:endParaRPr lang="en-US" sz="1533" dirty="0"/>
          </a:p>
        </p:txBody>
      </p:sp>
      <p:sp>
        <p:nvSpPr>
          <p:cNvPr id="24" name="Text 18"/>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25" name="Text 19"/>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11</a:t>
            </a:r>
            <a:endParaRPr lang="en-US" sz="1333"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70560"/>
            <a:ext cx="14508480" cy="975360"/>
          </a:xfrm>
          <a:prstGeom prst="rect">
            <a:avLst/>
          </a:prstGeom>
          <a:noFill/>
          <a:ln/>
        </p:spPr>
        <p:txBody>
          <a:bodyPr wrap="square" rtlCol="0" anchor="ctr"/>
          <a:lstStyle/>
          <a:p>
            <a:r>
              <a:rPr lang="en-US" sz="3733" b="1" dirty="0">
                <a:solidFill>
                  <a:srgbClr val="FFFFFF"/>
                </a:solidFill>
                <a:latin typeface="Cambria" pitchFamily="34" charset="0"/>
                <a:ea typeface="Cambria" pitchFamily="34" charset="-122"/>
                <a:cs typeface="Cambria" pitchFamily="34" charset="-120"/>
              </a:rPr>
              <a:t>Des indicateurs simples pour la décision</a:t>
            </a:r>
            <a:endParaRPr lang="en-US" sz="3733" dirty="0"/>
          </a:p>
        </p:txBody>
      </p:sp>
      <p:sp>
        <p:nvSpPr>
          <p:cNvPr id="3" name="Shape 1"/>
          <p:cNvSpPr/>
          <p:nvPr/>
        </p:nvSpPr>
        <p:spPr>
          <a:xfrm>
            <a:off x="853440" y="1950720"/>
            <a:ext cx="6339840" cy="4754880"/>
          </a:xfrm>
          <a:prstGeom prst="roundRect">
            <a:avLst>
              <a:gd name="adj" fmla="val 2564"/>
            </a:avLst>
          </a:prstGeom>
          <a:solidFill>
            <a:srgbClr val="26306E"/>
          </a:solidFill>
          <a:ln/>
        </p:spPr>
        <p:txBody>
          <a:bodyPr/>
          <a:lstStyle/>
          <a:p>
            <a:endParaRPr lang="ar-TN" sz="2400"/>
          </a:p>
        </p:txBody>
      </p:sp>
      <p:sp>
        <p:nvSpPr>
          <p:cNvPr id="4" name="Shape 2"/>
          <p:cNvSpPr/>
          <p:nvPr/>
        </p:nvSpPr>
        <p:spPr>
          <a:xfrm>
            <a:off x="1219200" y="2377440"/>
            <a:ext cx="975360" cy="975360"/>
          </a:xfrm>
          <a:prstGeom prst="ellipse">
            <a:avLst/>
          </a:prstGeom>
          <a:solidFill>
            <a:srgbClr val="CADCFC"/>
          </a:solidFill>
          <a:ln/>
        </p:spPr>
        <p:txBody>
          <a:bodyPr/>
          <a:lstStyle/>
          <a:p>
            <a:endParaRPr lang="ar-TN" sz="2400"/>
          </a:p>
        </p:txBody>
      </p:sp>
      <p:pic>
        <p:nvPicPr>
          <p:cNvPr id="5" name="Image 0" descr="/home/claude/pptx_project/icons/chart_navy.png"/>
          <p:cNvPicPr>
            <a:picLocks noChangeAspect="1"/>
          </p:cNvPicPr>
          <p:nvPr/>
        </p:nvPicPr>
        <p:blipFill>
          <a:blip r:embed="rId3"/>
          <a:stretch>
            <a:fillRect/>
          </a:stretch>
        </p:blipFill>
        <p:spPr>
          <a:xfrm>
            <a:off x="1345998" y="2504238"/>
            <a:ext cx="721767" cy="721767"/>
          </a:xfrm>
          <a:prstGeom prst="rect">
            <a:avLst/>
          </a:prstGeom>
        </p:spPr>
      </p:pic>
      <p:sp>
        <p:nvSpPr>
          <p:cNvPr id="6" name="Text 3"/>
          <p:cNvSpPr/>
          <p:nvPr/>
        </p:nvSpPr>
        <p:spPr>
          <a:xfrm>
            <a:off x="1219200" y="3535680"/>
            <a:ext cx="5608320" cy="1097280"/>
          </a:xfrm>
          <a:prstGeom prst="rect">
            <a:avLst/>
          </a:prstGeom>
          <a:noFill/>
          <a:ln/>
        </p:spPr>
        <p:txBody>
          <a:bodyPr wrap="square" rtlCol="0" anchor="ctr"/>
          <a:lstStyle/>
          <a:p>
            <a:pPr>
              <a:lnSpc>
                <a:spcPct val="115000"/>
              </a:lnSpc>
            </a:pPr>
            <a:r>
              <a:rPr lang="en-US" sz="2400" b="1" dirty="0">
                <a:solidFill>
                  <a:srgbClr val="FFFFFF"/>
                </a:solidFill>
                <a:latin typeface="Cambria" pitchFamily="34" charset="0"/>
                <a:ea typeface="Cambria" pitchFamily="34" charset="-122"/>
                <a:cs typeface="Cambria" pitchFamily="34" charset="-120"/>
              </a:rPr>
              <a:t>Indice de température infodémique</a:t>
            </a:r>
            <a:endParaRPr lang="en-US" sz="2400" dirty="0"/>
          </a:p>
        </p:txBody>
      </p:sp>
      <p:sp>
        <p:nvSpPr>
          <p:cNvPr id="7" name="Text 4"/>
          <p:cNvSpPr/>
          <p:nvPr/>
        </p:nvSpPr>
        <p:spPr>
          <a:xfrm>
            <a:off x="1219200" y="4693920"/>
            <a:ext cx="5608320" cy="1828800"/>
          </a:xfrm>
          <a:prstGeom prst="rect">
            <a:avLst/>
          </a:prstGeom>
          <a:noFill/>
          <a:ln/>
        </p:spPr>
        <p:txBody>
          <a:bodyPr wrap="square" rtlCol="0" anchor="ctr"/>
          <a:lstStyle/>
          <a:p>
            <a:pPr>
              <a:lnSpc>
                <a:spcPct val="125000"/>
              </a:lnSpc>
            </a:pPr>
            <a:r>
              <a:rPr lang="en-US" sz="1733" dirty="0">
                <a:solidFill>
                  <a:srgbClr val="CADCFC"/>
                </a:solidFill>
                <a:latin typeface="Calibri" pitchFamily="34" charset="0"/>
                <a:ea typeface="Calibri" pitchFamily="34" charset="-122"/>
                <a:cs typeface="Calibri" pitchFamily="34" charset="-120"/>
              </a:rPr>
              <a:t>Condense en un coup d'œil le volume de rumeurs, l'intensité émotionnelle et la vitesse de propagation d'un sujet — décliné par thème, région et période.</a:t>
            </a:r>
            <a:endParaRPr lang="en-US" sz="1733" dirty="0"/>
          </a:p>
        </p:txBody>
      </p:sp>
      <p:sp>
        <p:nvSpPr>
          <p:cNvPr id="8" name="Shape 5"/>
          <p:cNvSpPr/>
          <p:nvPr/>
        </p:nvSpPr>
        <p:spPr>
          <a:xfrm>
            <a:off x="7620000" y="1950720"/>
            <a:ext cx="7802880" cy="1389888"/>
          </a:xfrm>
          <a:prstGeom prst="roundRect">
            <a:avLst>
              <a:gd name="adj" fmla="val 6140"/>
            </a:avLst>
          </a:prstGeom>
          <a:solidFill>
            <a:srgbClr val="141B4D"/>
          </a:solidFill>
          <a:ln/>
        </p:spPr>
        <p:txBody>
          <a:bodyPr/>
          <a:lstStyle/>
          <a:p>
            <a:endParaRPr lang="ar-TN" sz="2400"/>
          </a:p>
        </p:txBody>
      </p:sp>
      <p:sp>
        <p:nvSpPr>
          <p:cNvPr id="9" name="Text 6"/>
          <p:cNvSpPr/>
          <p:nvPr/>
        </p:nvSpPr>
        <p:spPr>
          <a:xfrm>
            <a:off x="7924800" y="2072640"/>
            <a:ext cx="7315200" cy="487680"/>
          </a:xfrm>
          <a:prstGeom prst="rect">
            <a:avLst/>
          </a:prstGeom>
          <a:noFill/>
          <a:ln/>
        </p:spPr>
        <p:txBody>
          <a:bodyPr wrap="square" rtlCol="0" anchor="ctr"/>
          <a:lstStyle/>
          <a:p>
            <a:r>
              <a:rPr lang="en-US" sz="1867" b="1" dirty="0">
                <a:solidFill>
                  <a:srgbClr val="CADCFC"/>
                </a:solidFill>
                <a:latin typeface="Cambria" pitchFamily="34" charset="0"/>
                <a:ea typeface="Cambria" pitchFamily="34" charset="-122"/>
                <a:cs typeface="Cambria" pitchFamily="34" charset="-120"/>
              </a:rPr>
              <a:t>Indicateurs comportementaux</a:t>
            </a:r>
            <a:endParaRPr lang="en-US" sz="1867" dirty="0"/>
          </a:p>
        </p:txBody>
      </p:sp>
      <p:sp>
        <p:nvSpPr>
          <p:cNvPr id="10" name="Text 7"/>
          <p:cNvSpPr/>
          <p:nvPr/>
        </p:nvSpPr>
        <p:spPr>
          <a:xfrm>
            <a:off x="7924800" y="2560320"/>
            <a:ext cx="7315200" cy="731520"/>
          </a:xfrm>
          <a:prstGeom prst="rect">
            <a:avLst/>
          </a:prstGeom>
          <a:noFill/>
          <a:ln/>
        </p:spPr>
        <p:txBody>
          <a:bodyPr wrap="square" rtlCol="0" anchor="ctr"/>
          <a:lstStyle/>
          <a:p>
            <a:pPr>
              <a:lnSpc>
                <a:spcPct val="115000"/>
              </a:lnSpc>
            </a:pPr>
            <a:r>
              <a:rPr lang="en-US" sz="1600" dirty="0">
                <a:solidFill>
                  <a:srgbClr val="FFFFFF"/>
                </a:solidFill>
                <a:latin typeface="Calibri" pitchFamily="34" charset="0"/>
                <a:ea typeface="Calibri" pitchFamily="34" charset="-122"/>
                <a:cs typeface="Calibri" pitchFamily="34" charset="-120"/>
              </a:rPr>
              <a:t>Confiance envers les institutions, intentions de vaccination, retard de consultation</a:t>
            </a:r>
            <a:endParaRPr lang="en-US" sz="1600" dirty="0"/>
          </a:p>
        </p:txBody>
      </p:sp>
      <p:sp>
        <p:nvSpPr>
          <p:cNvPr id="11" name="Shape 8"/>
          <p:cNvSpPr/>
          <p:nvPr/>
        </p:nvSpPr>
        <p:spPr>
          <a:xfrm>
            <a:off x="7620000" y="3499104"/>
            <a:ext cx="7802880" cy="1389888"/>
          </a:xfrm>
          <a:prstGeom prst="roundRect">
            <a:avLst>
              <a:gd name="adj" fmla="val 6140"/>
            </a:avLst>
          </a:prstGeom>
          <a:solidFill>
            <a:srgbClr val="141B4D"/>
          </a:solidFill>
          <a:ln/>
        </p:spPr>
        <p:txBody>
          <a:bodyPr/>
          <a:lstStyle/>
          <a:p>
            <a:endParaRPr lang="ar-TN" sz="2400"/>
          </a:p>
        </p:txBody>
      </p:sp>
      <p:sp>
        <p:nvSpPr>
          <p:cNvPr id="12" name="Text 9"/>
          <p:cNvSpPr/>
          <p:nvPr/>
        </p:nvSpPr>
        <p:spPr>
          <a:xfrm>
            <a:off x="7924800" y="3621024"/>
            <a:ext cx="7315200" cy="487680"/>
          </a:xfrm>
          <a:prstGeom prst="rect">
            <a:avLst/>
          </a:prstGeom>
          <a:noFill/>
          <a:ln/>
        </p:spPr>
        <p:txBody>
          <a:bodyPr wrap="square" rtlCol="0" anchor="ctr"/>
          <a:lstStyle/>
          <a:p>
            <a:r>
              <a:rPr lang="en-US" sz="1867" b="1" dirty="0">
                <a:solidFill>
                  <a:srgbClr val="CADCFC"/>
                </a:solidFill>
                <a:latin typeface="Cambria" pitchFamily="34" charset="0"/>
                <a:ea typeface="Cambria" pitchFamily="34" charset="-122"/>
                <a:cs typeface="Cambria" pitchFamily="34" charset="-120"/>
              </a:rPr>
              <a:t>Mesure d'impact des campagnes</a:t>
            </a:r>
            <a:endParaRPr lang="en-US" sz="1867" dirty="0"/>
          </a:p>
        </p:txBody>
      </p:sp>
      <p:sp>
        <p:nvSpPr>
          <p:cNvPr id="13" name="Text 10"/>
          <p:cNvSpPr/>
          <p:nvPr/>
        </p:nvSpPr>
        <p:spPr>
          <a:xfrm>
            <a:off x="7924800" y="4108704"/>
            <a:ext cx="7315200" cy="731520"/>
          </a:xfrm>
          <a:prstGeom prst="rect">
            <a:avLst/>
          </a:prstGeom>
          <a:noFill/>
          <a:ln/>
        </p:spPr>
        <p:txBody>
          <a:bodyPr wrap="square" rtlCol="0" anchor="ctr"/>
          <a:lstStyle/>
          <a:p>
            <a:pPr>
              <a:lnSpc>
                <a:spcPct val="115000"/>
              </a:lnSpc>
            </a:pPr>
            <a:r>
              <a:rPr lang="en-US" sz="1600" dirty="0">
                <a:solidFill>
                  <a:srgbClr val="FFFFFF"/>
                </a:solidFill>
                <a:latin typeface="Calibri" pitchFamily="34" charset="0"/>
                <a:ea typeface="Calibri" pitchFamily="34" charset="-122"/>
                <a:cs typeface="Calibri" pitchFamily="34" charset="-120"/>
              </a:rPr>
              <a:t>Comparaison avant / après chaque intervention institutionnelle</a:t>
            </a:r>
            <a:endParaRPr lang="en-US" sz="1600" dirty="0"/>
          </a:p>
        </p:txBody>
      </p:sp>
      <p:sp>
        <p:nvSpPr>
          <p:cNvPr id="14" name="Shape 11"/>
          <p:cNvSpPr/>
          <p:nvPr/>
        </p:nvSpPr>
        <p:spPr>
          <a:xfrm>
            <a:off x="7620000" y="5047488"/>
            <a:ext cx="7802880" cy="1389888"/>
          </a:xfrm>
          <a:prstGeom prst="roundRect">
            <a:avLst>
              <a:gd name="adj" fmla="val 6140"/>
            </a:avLst>
          </a:prstGeom>
          <a:solidFill>
            <a:srgbClr val="141B4D"/>
          </a:solidFill>
          <a:ln/>
        </p:spPr>
        <p:txBody>
          <a:bodyPr/>
          <a:lstStyle/>
          <a:p>
            <a:endParaRPr lang="ar-TN" sz="2400"/>
          </a:p>
        </p:txBody>
      </p:sp>
      <p:sp>
        <p:nvSpPr>
          <p:cNvPr id="15" name="Text 12"/>
          <p:cNvSpPr/>
          <p:nvPr/>
        </p:nvSpPr>
        <p:spPr>
          <a:xfrm>
            <a:off x="7924800" y="5169408"/>
            <a:ext cx="7315200" cy="487680"/>
          </a:xfrm>
          <a:prstGeom prst="rect">
            <a:avLst/>
          </a:prstGeom>
          <a:noFill/>
          <a:ln/>
        </p:spPr>
        <p:txBody>
          <a:bodyPr wrap="square" rtlCol="0" anchor="ctr"/>
          <a:lstStyle/>
          <a:p>
            <a:r>
              <a:rPr lang="en-US" sz="1867" b="1" dirty="0">
                <a:solidFill>
                  <a:srgbClr val="CADCFC"/>
                </a:solidFill>
                <a:latin typeface="Cambria" pitchFamily="34" charset="0"/>
                <a:ea typeface="Cambria" pitchFamily="34" charset="-122"/>
                <a:cs typeface="Cambria" pitchFamily="34" charset="-120"/>
              </a:rPr>
              <a:t>Rapports automatiques</a:t>
            </a:r>
            <a:endParaRPr lang="en-US" sz="1867" dirty="0"/>
          </a:p>
        </p:txBody>
      </p:sp>
      <p:sp>
        <p:nvSpPr>
          <p:cNvPr id="16" name="Text 13"/>
          <p:cNvSpPr/>
          <p:nvPr/>
        </p:nvSpPr>
        <p:spPr>
          <a:xfrm>
            <a:off x="7924800" y="5657088"/>
            <a:ext cx="7315200" cy="731520"/>
          </a:xfrm>
          <a:prstGeom prst="rect">
            <a:avLst/>
          </a:prstGeom>
          <a:noFill/>
          <a:ln/>
        </p:spPr>
        <p:txBody>
          <a:bodyPr wrap="square" rtlCol="0" anchor="ctr"/>
          <a:lstStyle/>
          <a:p>
            <a:pPr>
              <a:lnSpc>
                <a:spcPct val="115000"/>
              </a:lnSpc>
            </a:pPr>
            <a:r>
              <a:rPr lang="en-US" sz="1600" dirty="0">
                <a:solidFill>
                  <a:srgbClr val="FFFFFF"/>
                </a:solidFill>
                <a:latin typeface="Calibri" pitchFamily="34" charset="0"/>
                <a:ea typeface="Calibri" pitchFamily="34" charset="-122"/>
                <a:cs typeface="Calibri" pitchFamily="34" charset="-120"/>
              </a:rPr>
              <a:t>Quotidiens en crise, hebdomadaires et mensuels pour le pilotage</a:t>
            </a:r>
            <a:endParaRPr lang="en-US" sz="1600" dirty="0"/>
          </a:p>
        </p:txBody>
      </p:sp>
      <p:sp>
        <p:nvSpPr>
          <p:cNvPr id="17" name="Text 14"/>
          <p:cNvSpPr/>
          <p:nvPr/>
        </p:nvSpPr>
        <p:spPr>
          <a:xfrm>
            <a:off x="609600" y="8631936"/>
            <a:ext cx="7315200" cy="365760"/>
          </a:xfrm>
          <a:prstGeom prst="rect">
            <a:avLst/>
          </a:prstGeom>
          <a:noFill/>
          <a:ln/>
        </p:spPr>
        <p:txBody>
          <a:bodyPr wrap="square" rtlCol="0" anchor="ctr"/>
          <a:lstStyle/>
          <a:p>
            <a:r>
              <a:rPr lang="en-US" sz="1333" dirty="0">
                <a:solidFill>
                  <a:srgbClr val="CADCFC"/>
                </a:solidFill>
                <a:latin typeface="Calibri" pitchFamily="34" charset="0"/>
                <a:ea typeface="Calibri" pitchFamily="34" charset="-122"/>
                <a:cs typeface="Calibri" pitchFamily="34" charset="-120"/>
              </a:rPr>
              <a:t>ONMNE — Ministère de la Santé</a:t>
            </a:r>
            <a:endParaRPr lang="en-US" sz="1333" dirty="0"/>
          </a:p>
        </p:txBody>
      </p:sp>
      <p:sp>
        <p:nvSpPr>
          <p:cNvPr id="18" name="Text 15"/>
          <p:cNvSpPr/>
          <p:nvPr/>
        </p:nvSpPr>
        <p:spPr>
          <a:xfrm>
            <a:off x="15036393" y="8631936"/>
            <a:ext cx="609600" cy="365760"/>
          </a:xfrm>
          <a:prstGeom prst="rect">
            <a:avLst/>
          </a:prstGeom>
          <a:noFill/>
          <a:ln/>
        </p:spPr>
        <p:txBody>
          <a:bodyPr wrap="square" rtlCol="0" anchor="ctr"/>
          <a:lstStyle/>
          <a:p>
            <a:pPr algn="r"/>
            <a:r>
              <a:rPr lang="en-US" sz="1333" dirty="0">
                <a:solidFill>
                  <a:srgbClr val="CADCFC"/>
                </a:solidFill>
                <a:latin typeface="Calibri" pitchFamily="34" charset="0"/>
                <a:ea typeface="Calibri" pitchFamily="34" charset="-122"/>
                <a:cs typeface="Calibri" pitchFamily="34" charset="-120"/>
              </a:rPr>
              <a:t>12</a:t>
            </a:r>
            <a:endParaRPr lang="en-US" sz="1333"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Alerte précoce et aide à la décision</a:t>
            </a:r>
            <a:endParaRPr lang="en-US" sz="4000" dirty="0"/>
          </a:p>
        </p:txBody>
      </p:sp>
      <p:sp>
        <p:nvSpPr>
          <p:cNvPr id="3" name="Text 1"/>
          <p:cNvSpPr/>
          <p:nvPr/>
        </p:nvSpPr>
        <p:spPr>
          <a:xfrm>
            <a:off x="853440" y="1524000"/>
            <a:ext cx="14508480" cy="609600"/>
          </a:xfrm>
          <a:prstGeom prst="rect">
            <a:avLst/>
          </a:prstGeom>
          <a:noFill/>
          <a:ln/>
        </p:spPr>
        <p:txBody>
          <a:bodyPr wrap="square" rtlCol="0" anchor="ctr"/>
          <a:lstStyle/>
          <a:p>
            <a:r>
              <a:rPr lang="en-US" sz="1933" dirty="0">
                <a:solidFill>
                  <a:srgbClr val="5B6472"/>
                </a:solidFill>
                <a:latin typeface="Calibri" pitchFamily="34" charset="0"/>
                <a:ea typeface="Calibri" pitchFamily="34" charset="-122"/>
                <a:cs typeface="Calibri" pitchFamily="34" charset="-120"/>
              </a:rPr>
              <a:t>Un système d'alerte configurable se déclenche dès qu'un narratif dangereux prend de l'ampleur.</a:t>
            </a:r>
            <a:endParaRPr lang="en-US" sz="1933" dirty="0"/>
          </a:p>
        </p:txBody>
      </p:sp>
      <p:sp>
        <p:nvSpPr>
          <p:cNvPr id="4" name="Shape 2"/>
          <p:cNvSpPr/>
          <p:nvPr/>
        </p:nvSpPr>
        <p:spPr>
          <a:xfrm>
            <a:off x="853440" y="2621280"/>
            <a:ext cx="4693920" cy="5242560"/>
          </a:xfrm>
          <a:prstGeom prst="roundRect">
            <a:avLst>
              <a:gd name="adj" fmla="val 2078"/>
            </a:avLst>
          </a:prstGeom>
          <a:solidFill>
            <a:srgbClr val="F4F6FB"/>
          </a:solidFill>
          <a:ln/>
        </p:spPr>
        <p:txBody>
          <a:bodyPr/>
          <a:lstStyle/>
          <a:p>
            <a:endParaRPr lang="ar-TN" sz="2400"/>
          </a:p>
        </p:txBody>
      </p:sp>
      <p:sp>
        <p:nvSpPr>
          <p:cNvPr id="5" name="Shape 3"/>
          <p:cNvSpPr/>
          <p:nvPr/>
        </p:nvSpPr>
        <p:spPr>
          <a:xfrm>
            <a:off x="2712720" y="3048000"/>
            <a:ext cx="975360" cy="975360"/>
          </a:xfrm>
          <a:prstGeom prst="ellipse">
            <a:avLst/>
          </a:prstGeom>
          <a:solidFill>
            <a:srgbClr val="1E2761"/>
          </a:solidFill>
          <a:ln/>
        </p:spPr>
        <p:txBody>
          <a:bodyPr/>
          <a:lstStyle/>
          <a:p>
            <a:endParaRPr lang="ar-TN" sz="2400"/>
          </a:p>
        </p:txBody>
      </p:sp>
      <p:pic>
        <p:nvPicPr>
          <p:cNvPr id="6" name="Image 0" descr="/home/claude/pptx_project/icons/bell_white.png"/>
          <p:cNvPicPr>
            <a:picLocks noChangeAspect="1"/>
          </p:cNvPicPr>
          <p:nvPr/>
        </p:nvPicPr>
        <p:blipFill>
          <a:blip r:embed="rId3"/>
          <a:stretch>
            <a:fillRect/>
          </a:stretch>
        </p:blipFill>
        <p:spPr>
          <a:xfrm>
            <a:off x="2839518" y="3174798"/>
            <a:ext cx="721767" cy="721767"/>
          </a:xfrm>
          <a:prstGeom prst="rect">
            <a:avLst/>
          </a:prstGeom>
        </p:spPr>
      </p:pic>
      <p:sp>
        <p:nvSpPr>
          <p:cNvPr id="7" name="Text 4"/>
          <p:cNvSpPr/>
          <p:nvPr/>
        </p:nvSpPr>
        <p:spPr>
          <a:xfrm>
            <a:off x="1097280" y="4267200"/>
            <a:ext cx="4206240" cy="609600"/>
          </a:xfrm>
          <a:prstGeom prst="rect">
            <a:avLst/>
          </a:prstGeom>
          <a:noFill/>
          <a:ln/>
        </p:spPr>
        <p:txBody>
          <a:bodyPr wrap="square" rtlCol="0" anchor="ctr"/>
          <a:lstStyle/>
          <a:p>
            <a:pPr algn="ctr"/>
            <a:r>
              <a:rPr lang="en-US" sz="2000" b="1" dirty="0">
                <a:solidFill>
                  <a:srgbClr val="1E2761"/>
                </a:solidFill>
                <a:latin typeface="Cambria" pitchFamily="34" charset="0"/>
                <a:ea typeface="Cambria" pitchFamily="34" charset="-122"/>
                <a:cs typeface="Cambria" pitchFamily="34" charset="-120"/>
              </a:rPr>
              <a:t>Déclenchement</a:t>
            </a:r>
            <a:endParaRPr lang="en-US" sz="2000" dirty="0"/>
          </a:p>
        </p:txBody>
      </p:sp>
      <p:sp>
        <p:nvSpPr>
          <p:cNvPr id="8" name="Text 5"/>
          <p:cNvSpPr/>
          <p:nvPr/>
        </p:nvSpPr>
        <p:spPr>
          <a:xfrm>
            <a:off x="1219200" y="4998720"/>
            <a:ext cx="3962400" cy="2560320"/>
          </a:xfrm>
          <a:prstGeom prst="rect">
            <a:avLst/>
          </a:prstGeom>
          <a:noFill/>
          <a:ln/>
        </p:spPr>
        <p:txBody>
          <a:bodyPr wrap="square" rtlCol="0" anchor="ctr"/>
          <a:lstStyle/>
          <a:p>
            <a:pPr algn="ctr">
              <a:lnSpc>
                <a:spcPct val="125000"/>
              </a:lnSpc>
            </a:pPr>
            <a:r>
              <a:rPr lang="en-US" sz="1667" dirty="0">
                <a:solidFill>
                  <a:srgbClr val="1A1A2E"/>
                </a:solidFill>
                <a:latin typeface="Calibri" pitchFamily="34" charset="0"/>
                <a:ea typeface="Calibri" pitchFamily="34" charset="-122"/>
                <a:cs typeface="Calibri" pitchFamily="34" charset="-120"/>
              </a:rPr>
              <a:t>Narratif viral, faux remède, attaques répétées, rumeurs antivaccin</a:t>
            </a:r>
            <a:endParaRPr lang="en-US" sz="1667" dirty="0"/>
          </a:p>
        </p:txBody>
      </p:sp>
      <p:sp>
        <p:nvSpPr>
          <p:cNvPr id="9" name="Text 6"/>
          <p:cNvSpPr/>
          <p:nvPr/>
        </p:nvSpPr>
        <p:spPr>
          <a:xfrm>
            <a:off x="5547360" y="4876800"/>
            <a:ext cx="304800"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10" name="Shape 7"/>
          <p:cNvSpPr/>
          <p:nvPr/>
        </p:nvSpPr>
        <p:spPr>
          <a:xfrm>
            <a:off x="5852160" y="2621280"/>
            <a:ext cx="4693920" cy="5242560"/>
          </a:xfrm>
          <a:prstGeom prst="roundRect">
            <a:avLst>
              <a:gd name="adj" fmla="val 2078"/>
            </a:avLst>
          </a:prstGeom>
          <a:solidFill>
            <a:srgbClr val="1E2761"/>
          </a:solidFill>
          <a:ln/>
        </p:spPr>
        <p:txBody>
          <a:bodyPr/>
          <a:lstStyle/>
          <a:p>
            <a:endParaRPr lang="ar-TN" sz="2400"/>
          </a:p>
        </p:txBody>
      </p:sp>
      <p:sp>
        <p:nvSpPr>
          <p:cNvPr id="11" name="Shape 8"/>
          <p:cNvSpPr/>
          <p:nvPr/>
        </p:nvSpPr>
        <p:spPr>
          <a:xfrm>
            <a:off x="7711440" y="3048000"/>
            <a:ext cx="975360" cy="975360"/>
          </a:xfrm>
          <a:prstGeom prst="ellipse">
            <a:avLst/>
          </a:prstGeom>
          <a:solidFill>
            <a:srgbClr val="CADCFC"/>
          </a:solidFill>
          <a:ln/>
        </p:spPr>
        <p:txBody>
          <a:bodyPr/>
          <a:lstStyle/>
          <a:p>
            <a:endParaRPr lang="ar-TN" sz="2400"/>
          </a:p>
        </p:txBody>
      </p:sp>
      <p:pic>
        <p:nvPicPr>
          <p:cNvPr id="12" name="Image 1" descr="/home/claude/pptx_project/icons/clipboard_navy.png"/>
          <p:cNvPicPr>
            <a:picLocks noChangeAspect="1"/>
          </p:cNvPicPr>
          <p:nvPr/>
        </p:nvPicPr>
        <p:blipFill>
          <a:blip r:embed="rId4"/>
          <a:stretch>
            <a:fillRect/>
          </a:stretch>
        </p:blipFill>
        <p:spPr>
          <a:xfrm>
            <a:off x="7838238" y="3174798"/>
            <a:ext cx="721767" cy="721767"/>
          </a:xfrm>
          <a:prstGeom prst="rect">
            <a:avLst/>
          </a:prstGeom>
        </p:spPr>
      </p:pic>
      <p:sp>
        <p:nvSpPr>
          <p:cNvPr id="13" name="Text 9"/>
          <p:cNvSpPr/>
          <p:nvPr/>
        </p:nvSpPr>
        <p:spPr>
          <a:xfrm>
            <a:off x="6096000" y="4267200"/>
            <a:ext cx="4206240" cy="609600"/>
          </a:xfrm>
          <a:prstGeom prst="rect">
            <a:avLst/>
          </a:prstGeom>
          <a:noFill/>
          <a:ln/>
        </p:spPr>
        <p:txBody>
          <a:bodyPr wrap="square" rtlCol="0" anchor="ctr"/>
          <a:lstStyle/>
          <a:p>
            <a:pPr algn="ctr"/>
            <a:r>
              <a:rPr lang="en-US" sz="2000" b="1" dirty="0">
                <a:solidFill>
                  <a:srgbClr val="FFFFFF"/>
                </a:solidFill>
                <a:latin typeface="Cambria" pitchFamily="34" charset="0"/>
                <a:ea typeface="Cambria" pitchFamily="34" charset="-122"/>
                <a:cs typeface="Cambria" pitchFamily="34" charset="-120"/>
              </a:rPr>
              <a:t>Contenu de l'alerte</a:t>
            </a:r>
            <a:endParaRPr lang="en-US" sz="2000" dirty="0"/>
          </a:p>
        </p:txBody>
      </p:sp>
      <p:sp>
        <p:nvSpPr>
          <p:cNvPr id="14" name="Text 10"/>
          <p:cNvSpPr/>
          <p:nvPr/>
        </p:nvSpPr>
        <p:spPr>
          <a:xfrm>
            <a:off x="6217920" y="4998720"/>
            <a:ext cx="3962400" cy="2560320"/>
          </a:xfrm>
          <a:prstGeom prst="rect">
            <a:avLst/>
          </a:prstGeom>
          <a:noFill/>
          <a:ln/>
        </p:spPr>
        <p:txBody>
          <a:bodyPr wrap="square" rtlCol="0" anchor="ctr"/>
          <a:lstStyle/>
          <a:p>
            <a:pPr algn="ctr">
              <a:lnSpc>
                <a:spcPct val="125000"/>
              </a:lnSpc>
            </a:pPr>
            <a:r>
              <a:rPr lang="en-US" sz="1667" dirty="0">
                <a:solidFill>
                  <a:srgbClr val="CADCFC"/>
                </a:solidFill>
                <a:latin typeface="Calibri" pitchFamily="34" charset="0"/>
                <a:ea typeface="Calibri" pitchFamily="34" charset="-122"/>
                <a:cs typeface="Calibri" pitchFamily="34" charset="-120"/>
              </a:rPr>
              <a:t>Résumé, émotions dominantes, estimation des risques, options d'action</a:t>
            </a:r>
            <a:endParaRPr lang="en-US" sz="1667" dirty="0"/>
          </a:p>
        </p:txBody>
      </p:sp>
      <p:sp>
        <p:nvSpPr>
          <p:cNvPr id="15" name="Text 11"/>
          <p:cNvSpPr/>
          <p:nvPr/>
        </p:nvSpPr>
        <p:spPr>
          <a:xfrm>
            <a:off x="10546080" y="4876800"/>
            <a:ext cx="304800" cy="731520"/>
          </a:xfrm>
          <a:prstGeom prst="rect">
            <a:avLst/>
          </a:prstGeom>
          <a:noFill/>
          <a:ln/>
        </p:spPr>
        <p:txBody>
          <a:bodyPr wrap="square" rtlCol="0" anchor="ctr"/>
          <a:lstStyle/>
          <a:p>
            <a:pPr algn="ctr"/>
            <a:r>
              <a:rPr lang="en-US" sz="2667" b="1" dirty="0">
                <a:solidFill>
                  <a:srgbClr val="1E2761"/>
                </a:solidFill>
                <a:latin typeface="Calibri" pitchFamily="34" charset="0"/>
                <a:ea typeface="Calibri" pitchFamily="34" charset="-122"/>
                <a:cs typeface="Calibri" pitchFamily="34" charset="-120"/>
              </a:rPr>
              <a:t>→</a:t>
            </a:r>
            <a:endParaRPr lang="en-US" sz="2667" dirty="0"/>
          </a:p>
        </p:txBody>
      </p:sp>
      <p:sp>
        <p:nvSpPr>
          <p:cNvPr id="16" name="Shape 12"/>
          <p:cNvSpPr/>
          <p:nvPr/>
        </p:nvSpPr>
        <p:spPr>
          <a:xfrm>
            <a:off x="10850880" y="2621280"/>
            <a:ext cx="4693920" cy="5242560"/>
          </a:xfrm>
          <a:prstGeom prst="roundRect">
            <a:avLst>
              <a:gd name="adj" fmla="val 2078"/>
            </a:avLst>
          </a:prstGeom>
          <a:solidFill>
            <a:srgbClr val="F4F6FB"/>
          </a:solidFill>
          <a:ln/>
        </p:spPr>
        <p:txBody>
          <a:bodyPr/>
          <a:lstStyle/>
          <a:p>
            <a:endParaRPr lang="ar-TN" sz="2400"/>
          </a:p>
        </p:txBody>
      </p:sp>
      <p:sp>
        <p:nvSpPr>
          <p:cNvPr id="17" name="Shape 13"/>
          <p:cNvSpPr/>
          <p:nvPr/>
        </p:nvSpPr>
        <p:spPr>
          <a:xfrm>
            <a:off x="12710160" y="3048000"/>
            <a:ext cx="975360" cy="975360"/>
          </a:xfrm>
          <a:prstGeom prst="ellipse">
            <a:avLst/>
          </a:prstGeom>
          <a:solidFill>
            <a:srgbClr val="1E2761"/>
          </a:solidFill>
          <a:ln/>
        </p:spPr>
        <p:txBody>
          <a:bodyPr/>
          <a:lstStyle/>
          <a:p>
            <a:endParaRPr lang="ar-TN" sz="2400"/>
          </a:p>
        </p:txBody>
      </p:sp>
      <p:pic>
        <p:nvPicPr>
          <p:cNvPr id="18" name="Image 2" descr="/home/claude/pptx_project/icons/bullhorn_white.png"/>
          <p:cNvPicPr>
            <a:picLocks noChangeAspect="1"/>
          </p:cNvPicPr>
          <p:nvPr/>
        </p:nvPicPr>
        <p:blipFill>
          <a:blip r:embed="rId5"/>
          <a:stretch>
            <a:fillRect/>
          </a:stretch>
        </p:blipFill>
        <p:spPr>
          <a:xfrm>
            <a:off x="12836958" y="3174798"/>
            <a:ext cx="721767" cy="721767"/>
          </a:xfrm>
          <a:prstGeom prst="rect">
            <a:avLst/>
          </a:prstGeom>
        </p:spPr>
      </p:pic>
      <p:sp>
        <p:nvSpPr>
          <p:cNvPr id="19" name="Text 14"/>
          <p:cNvSpPr/>
          <p:nvPr/>
        </p:nvSpPr>
        <p:spPr>
          <a:xfrm>
            <a:off x="11094720" y="4267200"/>
            <a:ext cx="4206240" cy="609600"/>
          </a:xfrm>
          <a:prstGeom prst="rect">
            <a:avLst/>
          </a:prstGeom>
          <a:noFill/>
          <a:ln/>
        </p:spPr>
        <p:txBody>
          <a:bodyPr wrap="square" rtlCol="0" anchor="ctr"/>
          <a:lstStyle/>
          <a:p>
            <a:pPr algn="ctr"/>
            <a:r>
              <a:rPr lang="en-US" sz="2000" b="1" dirty="0">
                <a:solidFill>
                  <a:srgbClr val="1E2761"/>
                </a:solidFill>
                <a:latin typeface="Cambria" pitchFamily="34" charset="0"/>
                <a:ea typeface="Cambria" pitchFamily="34" charset="-122"/>
                <a:cs typeface="Cambria" pitchFamily="34" charset="-120"/>
              </a:rPr>
              <a:t>Éléments de réponse</a:t>
            </a:r>
            <a:endParaRPr lang="en-US" sz="2000" dirty="0"/>
          </a:p>
        </p:txBody>
      </p:sp>
      <p:sp>
        <p:nvSpPr>
          <p:cNvPr id="20" name="Text 15"/>
          <p:cNvSpPr/>
          <p:nvPr/>
        </p:nvSpPr>
        <p:spPr>
          <a:xfrm>
            <a:off x="11216640" y="4998720"/>
            <a:ext cx="3962400" cy="2560320"/>
          </a:xfrm>
          <a:prstGeom prst="rect">
            <a:avLst/>
          </a:prstGeom>
          <a:noFill/>
          <a:ln/>
        </p:spPr>
        <p:txBody>
          <a:bodyPr wrap="square" rtlCol="0" anchor="ctr"/>
          <a:lstStyle/>
          <a:p>
            <a:pPr algn="ctr">
              <a:lnSpc>
                <a:spcPct val="125000"/>
              </a:lnSpc>
            </a:pPr>
            <a:r>
              <a:rPr lang="en-US" sz="1667" dirty="0">
                <a:solidFill>
                  <a:srgbClr val="1A1A2E"/>
                </a:solidFill>
                <a:latin typeface="Calibri" pitchFamily="34" charset="0"/>
                <a:ea typeface="Calibri" pitchFamily="34" charset="-122"/>
                <a:cs typeface="Calibri" pitchFamily="34" charset="-120"/>
              </a:rPr>
              <a:t>Brouillons de posts, éléments de langage, FAQ — validés par les experts</a:t>
            </a:r>
            <a:endParaRPr lang="en-US" sz="1667" dirty="0"/>
          </a:p>
        </p:txBody>
      </p:sp>
      <p:sp>
        <p:nvSpPr>
          <p:cNvPr id="21" name="Text 16"/>
          <p:cNvSpPr/>
          <p:nvPr/>
        </p:nvSpPr>
        <p:spPr>
          <a:xfrm>
            <a:off x="853440" y="8046720"/>
            <a:ext cx="14508480" cy="487680"/>
          </a:xfrm>
          <a:prstGeom prst="rect">
            <a:avLst/>
          </a:prstGeom>
          <a:noFill/>
          <a:ln/>
        </p:spPr>
        <p:txBody>
          <a:bodyPr wrap="square" rtlCol="0" anchor="ctr"/>
          <a:lstStyle/>
          <a:p>
            <a:pPr algn="ctr"/>
            <a:r>
              <a:rPr lang="en-US" sz="1667" i="1" dirty="0">
                <a:solidFill>
                  <a:srgbClr val="5B6472"/>
                </a:solidFill>
                <a:latin typeface="Calibri" pitchFamily="34" charset="0"/>
                <a:ea typeface="Calibri" pitchFamily="34" charset="-122"/>
                <a:cs typeface="Calibri" pitchFamily="34" charset="-120"/>
              </a:rPr>
              <a:t>Toutes les propositions sont toujours revues et validées par l'ONMNE et le Ministère avant toute diffusion.</a:t>
            </a:r>
            <a:endParaRPr lang="en-US" sz="1667" dirty="0"/>
          </a:p>
        </p:txBody>
      </p:sp>
      <p:sp>
        <p:nvSpPr>
          <p:cNvPr id="22" name="Text 17"/>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23" name="Text 18"/>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13</a:t>
            </a:r>
            <a:endParaRPr lang="en-US" sz="133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3733" b="1" dirty="0">
                <a:solidFill>
                  <a:srgbClr val="1E2761"/>
                </a:solidFill>
                <a:latin typeface="Cambria" pitchFamily="34" charset="0"/>
                <a:ea typeface="Cambria" pitchFamily="34" charset="-122"/>
                <a:cs typeface="Cambria" pitchFamily="34" charset="-120"/>
              </a:rPr>
              <a:t>Gouvernance et protection des données</a:t>
            </a:r>
            <a:endParaRPr lang="en-US" sz="3733" dirty="0"/>
          </a:p>
        </p:txBody>
      </p:sp>
      <p:sp>
        <p:nvSpPr>
          <p:cNvPr id="3" name="Shape 1"/>
          <p:cNvSpPr/>
          <p:nvPr/>
        </p:nvSpPr>
        <p:spPr>
          <a:xfrm>
            <a:off x="853440" y="1706880"/>
            <a:ext cx="7010400" cy="6278880"/>
          </a:xfrm>
          <a:prstGeom prst="roundRect">
            <a:avLst>
              <a:gd name="adj" fmla="val 1553"/>
            </a:avLst>
          </a:prstGeom>
          <a:solidFill>
            <a:srgbClr val="F4F6FB"/>
          </a:solidFill>
          <a:ln/>
        </p:spPr>
        <p:txBody>
          <a:bodyPr/>
          <a:lstStyle/>
          <a:p>
            <a:endParaRPr lang="ar-TN" sz="2400"/>
          </a:p>
        </p:txBody>
      </p:sp>
      <p:sp>
        <p:nvSpPr>
          <p:cNvPr id="4" name="Shape 2"/>
          <p:cNvSpPr/>
          <p:nvPr/>
        </p:nvSpPr>
        <p:spPr>
          <a:xfrm>
            <a:off x="1219200" y="2072640"/>
            <a:ext cx="914400" cy="914400"/>
          </a:xfrm>
          <a:prstGeom prst="ellipse">
            <a:avLst/>
          </a:prstGeom>
          <a:solidFill>
            <a:srgbClr val="1E2761"/>
          </a:solidFill>
          <a:ln/>
        </p:spPr>
        <p:txBody>
          <a:bodyPr/>
          <a:lstStyle/>
          <a:p>
            <a:endParaRPr lang="ar-TN" sz="2400"/>
          </a:p>
        </p:txBody>
      </p:sp>
      <p:pic>
        <p:nvPicPr>
          <p:cNvPr id="5" name="Image 0" descr="/home/claude/pptx_project/icons/users_white.png"/>
          <p:cNvPicPr>
            <a:picLocks noChangeAspect="1"/>
          </p:cNvPicPr>
          <p:nvPr/>
        </p:nvPicPr>
        <p:blipFill>
          <a:blip r:embed="rId3"/>
          <a:stretch>
            <a:fillRect/>
          </a:stretch>
        </p:blipFill>
        <p:spPr>
          <a:xfrm>
            <a:off x="1338072" y="2191512"/>
            <a:ext cx="676656" cy="676656"/>
          </a:xfrm>
          <a:prstGeom prst="rect">
            <a:avLst/>
          </a:prstGeom>
        </p:spPr>
      </p:pic>
      <p:sp>
        <p:nvSpPr>
          <p:cNvPr id="6" name="Text 3"/>
          <p:cNvSpPr/>
          <p:nvPr/>
        </p:nvSpPr>
        <p:spPr>
          <a:xfrm>
            <a:off x="2316480" y="2255520"/>
            <a:ext cx="5242560" cy="609600"/>
          </a:xfrm>
          <a:prstGeom prst="rect">
            <a:avLst/>
          </a:prstGeom>
          <a:noFill/>
          <a:ln/>
        </p:spPr>
        <p:txBody>
          <a:bodyPr wrap="square" rtlCol="0" anchor="ctr"/>
          <a:lstStyle/>
          <a:p>
            <a:r>
              <a:rPr lang="en-US" sz="2267" b="1" dirty="0">
                <a:solidFill>
                  <a:srgbClr val="1E2761"/>
                </a:solidFill>
                <a:latin typeface="Cambria" pitchFamily="34" charset="0"/>
                <a:ea typeface="Cambria" pitchFamily="34" charset="-122"/>
                <a:cs typeface="Cambria" pitchFamily="34" charset="-120"/>
              </a:rPr>
              <a:t>Accès multi-institutions</a:t>
            </a:r>
            <a:endParaRPr lang="en-US" sz="2267" dirty="0"/>
          </a:p>
        </p:txBody>
      </p:sp>
      <p:sp>
        <p:nvSpPr>
          <p:cNvPr id="7" name="Text 4"/>
          <p:cNvSpPr/>
          <p:nvPr/>
        </p:nvSpPr>
        <p:spPr>
          <a:xfrm>
            <a:off x="1219200" y="3169920"/>
            <a:ext cx="62788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PHEOC/ONMNE</a:t>
            </a:r>
            <a:endParaRPr lang="en-US" sz="1867" dirty="0"/>
          </a:p>
        </p:txBody>
      </p:sp>
      <p:sp>
        <p:nvSpPr>
          <p:cNvPr id="8" name="Text 5"/>
          <p:cNvSpPr/>
          <p:nvPr/>
        </p:nvSpPr>
        <p:spPr>
          <a:xfrm>
            <a:off x="1219200" y="3596640"/>
            <a:ext cx="6278880" cy="609600"/>
          </a:xfrm>
          <a:prstGeom prst="rect">
            <a:avLst/>
          </a:prstGeom>
          <a:noFill/>
          <a:ln/>
        </p:spPr>
        <p:txBody>
          <a:bodyPr wrap="square" rtlCol="0" anchor="ctr"/>
          <a:lstStyle/>
          <a:p>
            <a:r>
              <a:rPr lang="en-US" sz="1667" dirty="0">
                <a:solidFill>
                  <a:srgbClr val="1A1A2E"/>
                </a:solidFill>
                <a:latin typeface="Calibri" pitchFamily="34" charset="0"/>
                <a:ea typeface="Calibri" pitchFamily="34" charset="-122"/>
                <a:cs typeface="Calibri" pitchFamily="34" charset="-120"/>
              </a:rPr>
              <a:t>Accès complet et administration</a:t>
            </a:r>
            <a:endParaRPr lang="en-US" sz="1667" dirty="0"/>
          </a:p>
        </p:txBody>
      </p:sp>
      <p:sp>
        <p:nvSpPr>
          <p:cNvPr id="9" name="Text 6"/>
          <p:cNvSpPr/>
          <p:nvPr/>
        </p:nvSpPr>
        <p:spPr>
          <a:xfrm>
            <a:off x="1219200" y="4364736"/>
            <a:ext cx="62788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Ministère de la Santé</a:t>
            </a:r>
            <a:endParaRPr lang="en-US" sz="1867" dirty="0"/>
          </a:p>
        </p:txBody>
      </p:sp>
      <p:sp>
        <p:nvSpPr>
          <p:cNvPr id="10" name="Text 7"/>
          <p:cNvSpPr/>
          <p:nvPr/>
        </p:nvSpPr>
        <p:spPr>
          <a:xfrm>
            <a:off x="1219200" y="4791456"/>
            <a:ext cx="6278880" cy="609600"/>
          </a:xfrm>
          <a:prstGeom prst="rect">
            <a:avLst/>
          </a:prstGeom>
          <a:noFill/>
          <a:ln/>
        </p:spPr>
        <p:txBody>
          <a:bodyPr wrap="square" rtlCol="0" anchor="ctr"/>
          <a:lstStyle/>
          <a:p>
            <a:r>
              <a:rPr lang="en-US" sz="1667" dirty="0">
                <a:solidFill>
                  <a:srgbClr val="1A1A2E"/>
                </a:solidFill>
                <a:latin typeface="Calibri" pitchFamily="34" charset="0"/>
                <a:ea typeface="Calibri" pitchFamily="34" charset="-122"/>
                <a:cs typeface="Calibri" pitchFamily="34" charset="-120"/>
              </a:rPr>
              <a:t>Vue décisionnelle et analyses détaillées</a:t>
            </a:r>
            <a:endParaRPr lang="en-US" sz="1667" dirty="0"/>
          </a:p>
        </p:txBody>
      </p:sp>
      <p:sp>
        <p:nvSpPr>
          <p:cNvPr id="11" name="Text 8"/>
          <p:cNvSpPr/>
          <p:nvPr/>
        </p:nvSpPr>
        <p:spPr>
          <a:xfrm>
            <a:off x="1219200" y="5559552"/>
            <a:ext cx="62788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Autres partenaires</a:t>
            </a:r>
            <a:endParaRPr lang="en-US" sz="1867" dirty="0"/>
          </a:p>
        </p:txBody>
      </p:sp>
      <p:sp>
        <p:nvSpPr>
          <p:cNvPr id="12" name="Text 9"/>
          <p:cNvSpPr/>
          <p:nvPr/>
        </p:nvSpPr>
        <p:spPr>
          <a:xfrm>
            <a:off x="1219200" y="5986272"/>
            <a:ext cx="6278880" cy="609600"/>
          </a:xfrm>
          <a:prstGeom prst="rect">
            <a:avLst/>
          </a:prstGeom>
          <a:noFill/>
          <a:ln/>
        </p:spPr>
        <p:txBody>
          <a:bodyPr wrap="square" rtlCol="0" anchor="ctr"/>
          <a:lstStyle/>
          <a:p>
            <a:r>
              <a:rPr lang="en-US" sz="1667" dirty="0">
                <a:solidFill>
                  <a:srgbClr val="1A1A2E"/>
                </a:solidFill>
                <a:latin typeface="Calibri" pitchFamily="34" charset="0"/>
                <a:ea typeface="Calibri" pitchFamily="34" charset="-122"/>
                <a:cs typeface="Calibri" pitchFamily="34" charset="-120"/>
              </a:rPr>
              <a:t>Vues thématiques ou territoriales selon mandat</a:t>
            </a:r>
            <a:endParaRPr lang="en-US" sz="1667" dirty="0"/>
          </a:p>
        </p:txBody>
      </p:sp>
      <p:sp>
        <p:nvSpPr>
          <p:cNvPr id="13" name="Shape 10"/>
          <p:cNvSpPr/>
          <p:nvPr/>
        </p:nvSpPr>
        <p:spPr>
          <a:xfrm>
            <a:off x="8351520" y="1706880"/>
            <a:ext cx="7010400" cy="6278880"/>
          </a:xfrm>
          <a:prstGeom prst="roundRect">
            <a:avLst>
              <a:gd name="adj" fmla="val 1553"/>
            </a:avLst>
          </a:prstGeom>
          <a:solidFill>
            <a:srgbClr val="1E2761"/>
          </a:solidFill>
          <a:ln/>
        </p:spPr>
        <p:txBody>
          <a:bodyPr/>
          <a:lstStyle/>
          <a:p>
            <a:endParaRPr lang="ar-TN" sz="2400"/>
          </a:p>
        </p:txBody>
      </p:sp>
      <p:sp>
        <p:nvSpPr>
          <p:cNvPr id="14" name="Shape 11"/>
          <p:cNvSpPr/>
          <p:nvPr/>
        </p:nvSpPr>
        <p:spPr>
          <a:xfrm>
            <a:off x="8717280" y="2072640"/>
            <a:ext cx="914400" cy="914400"/>
          </a:xfrm>
          <a:prstGeom prst="ellipse">
            <a:avLst/>
          </a:prstGeom>
          <a:solidFill>
            <a:srgbClr val="CADCFC"/>
          </a:solidFill>
          <a:ln/>
        </p:spPr>
        <p:txBody>
          <a:bodyPr/>
          <a:lstStyle/>
          <a:p>
            <a:endParaRPr lang="ar-TN" sz="2400"/>
          </a:p>
        </p:txBody>
      </p:sp>
      <p:pic>
        <p:nvPicPr>
          <p:cNvPr id="15" name="Image 1" descr="/home/claude/pptx_project/icons/lock_navy.png"/>
          <p:cNvPicPr>
            <a:picLocks noChangeAspect="1"/>
          </p:cNvPicPr>
          <p:nvPr/>
        </p:nvPicPr>
        <p:blipFill>
          <a:blip r:embed="rId4"/>
          <a:stretch>
            <a:fillRect/>
          </a:stretch>
        </p:blipFill>
        <p:spPr>
          <a:xfrm>
            <a:off x="8836152" y="2191512"/>
            <a:ext cx="676656" cy="676656"/>
          </a:xfrm>
          <a:prstGeom prst="rect">
            <a:avLst/>
          </a:prstGeom>
        </p:spPr>
      </p:pic>
      <p:sp>
        <p:nvSpPr>
          <p:cNvPr id="16" name="Text 12"/>
          <p:cNvSpPr/>
          <p:nvPr/>
        </p:nvSpPr>
        <p:spPr>
          <a:xfrm>
            <a:off x="9814560" y="2255520"/>
            <a:ext cx="5242560" cy="609600"/>
          </a:xfrm>
          <a:prstGeom prst="rect">
            <a:avLst/>
          </a:prstGeom>
          <a:noFill/>
          <a:ln/>
        </p:spPr>
        <p:txBody>
          <a:bodyPr wrap="square" rtlCol="0" anchor="ctr"/>
          <a:lstStyle/>
          <a:p>
            <a:r>
              <a:rPr lang="en-US" sz="2267" b="1" dirty="0">
                <a:solidFill>
                  <a:srgbClr val="FFFFFF"/>
                </a:solidFill>
                <a:latin typeface="Cambria" pitchFamily="34" charset="0"/>
                <a:ea typeface="Cambria" pitchFamily="34" charset="-122"/>
                <a:cs typeface="Cambria" pitchFamily="34" charset="-120"/>
              </a:rPr>
              <a:t>Hébergement &amp; protection</a:t>
            </a:r>
            <a:endParaRPr lang="en-US" sz="2267" dirty="0"/>
          </a:p>
        </p:txBody>
      </p:sp>
      <p:sp>
        <p:nvSpPr>
          <p:cNvPr id="17" name="Shape 13"/>
          <p:cNvSpPr/>
          <p:nvPr/>
        </p:nvSpPr>
        <p:spPr>
          <a:xfrm>
            <a:off x="8717280" y="3267456"/>
            <a:ext cx="170688" cy="170688"/>
          </a:xfrm>
          <a:prstGeom prst="ellipse">
            <a:avLst/>
          </a:prstGeom>
          <a:solidFill>
            <a:srgbClr val="CADCFC"/>
          </a:solidFill>
          <a:ln/>
        </p:spPr>
        <p:txBody>
          <a:bodyPr/>
          <a:lstStyle/>
          <a:p>
            <a:endParaRPr lang="ar-TN" sz="2400"/>
          </a:p>
        </p:txBody>
      </p:sp>
      <p:sp>
        <p:nvSpPr>
          <p:cNvPr id="18" name="Text 14"/>
          <p:cNvSpPr/>
          <p:nvPr/>
        </p:nvSpPr>
        <p:spPr>
          <a:xfrm>
            <a:off x="9058656" y="3048000"/>
            <a:ext cx="5974080" cy="914400"/>
          </a:xfrm>
          <a:prstGeom prst="rect">
            <a:avLst/>
          </a:prstGeom>
          <a:noFill/>
          <a:ln/>
        </p:spPr>
        <p:txBody>
          <a:bodyPr wrap="square" rtlCol="0" anchor="ctr"/>
          <a:lstStyle/>
          <a:p>
            <a:pPr>
              <a:lnSpc>
                <a:spcPct val="115000"/>
              </a:lnSpc>
            </a:pPr>
            <a:r>
              <a:rPr lang="en-US" sz="1733" dirty="0">
                <a:solidFill>
                  <a:srgbClr val="FFFFFF"/>
                </a:solidFill>
                <a:latin typeface="Calibri" pitchFamily="34" charset="0"/>
                <a:ea typeface="Calibri" pitchFamily="34" charset="-122"/>
                <a:cs typeface="Calibri" pitchFamily="34" charset="-120"/>
              </a:rPr>
              <a:t>Données hébergées en Tunisie, dans un centre de données agréé</a:t>
            </a:r>
            <a:endParaRPr lang="en-US" sz="1733" dirty="0"/>
          </a:p>
        </p:txBody>
      </p:sp>
      <p:sp>
        <p:nvSpPr>
          <p:cNvPr id="19" name="Shape 15"/>
          <p:cNvSpPr/>
          <p:nvPr/>
        </p:nvSpPr>
        <p:spPr>
          <a:xfrm>
            <a:off x="8717280" y="4267200"/>
            <a:ext cx="170688" cy="170688"/>
          </a:xfrm>
          <a:prstGeom prst="ellipse">
            <a:avLst/>
          </a:prstGeom>
          <a:solidFill>
            <a:srgbClr val="CADCFC"/>
          </a:solidFill>
          <a:ln/>
        </p:spPr>
        <p:txBody>
          <a:bodyPr/>
          <a:lstStyle/>
          <a:p>
            <a:endParaRPr lang="ar-TN" sz="2400"/>
          </a:p>
        </p:txBody>
      </p:sp>
      <p:sp>
        <p:nvSpPr>
          <p:cNvPr id="20" name="Text 16"/>
          <p:cNvSpPr/>
          <p:nvPr/>
        </p:nvSpPr>
        <p:spPr>
          <a:xfrm>
            <a:off x="9058656" y="4047744"/>
            <a:ext cx="5974080" cy="914400"/>
          </a:xfrm>
          <a:prstGeom prst="rect">
            <a:avLst/>
          </a:prstGeom>
          <a:noFill/>
          <a:ln/>
        </p:spPr>
        <p:txBody>
          <a:bodyPr wrap="square" rtlCol="0" anchor="ctr"/>
          <a:lstStyle/>
          <a:p>
            <a:pPr>
              <a:lnSpc>
                <a:spcPct val="115000"/>
              </a:lnSpc>
            </a:pPr>
            <a:r>
              <a:rPr lang="en-US" sz="1733" dirty="0">
                <a:solidFill>
                  <a:srgbClr val="FFFFFF"/>
                </a:solidFill>
                <a:latin typeface="Calibri" pitchFamily="34" charset="0"/>
                <a:ea typeface="Calibri" pitchFamily="34" charset="-122"/>
                <a:cs typeface="Calibri" pitchFamily="34" charset="-120"/>
              </a:rPr>
              <a:t>Chiffrement au repos et en transit</a:t>
            </a:r>
            <a:endParaRPr lang="en-US" sz="1733" dirty="0"/>
          </a:p>
        </p:txBody>
      </p:sp>
      <p:sp>
        <p:nvSpPr>
          <p:cNvPr id="21" name="Shape 17"/>
          <p:cNvSpPr/>
          <p:nvPr/>
        </p:nvSpPr>
        <p:spPr>
          <a:xfrm>
            <a:off x="8717280" y="5266944"/>
            <a:ext cx="170688" cy="170688"/>
          </a:xfrm>
          <a:prstGeom prst="ellipse">
            <a:avLst/>
          </a:prstGeom>
          <a:solidFill>
            <a:srgbClr val="CADCFC"/>
          </a:solidFill>
          <a:ln/>
        </p:spPr>
        <p:txBody>
          <a:bodyPr/>
          <a:lstStyle/>
          <a:p>
            <a:endParaRPr lang="ar-TN" sz="2400"/>
          </a:p>
        </p:txBody>
      </p:sp>
      <p:sp>
        <p:nvSpPr>
          <p:cNvPr id="22" name="Text 18"/>
          <p:cNvSpPr/>
          <p:nvPr/>
        </p:nvSpPr>
        <p:spPr>
          <a:xfrm>
            <a:off x="9058656" y="5047488"/>
            <a:ext cx="5974080" cy="914400"/>
          </a:xfrm>
          <a:prstGeom prst="rect">
            <a:avLst/>
          </a:prstGeom>
          <a:noFill/>
          <a:ln/>
        </p:spPr>
        <p:txBody>
          <a:bodyPr wrap="square" rtlCol="0" anchor="ctr"/>
          <a:lstStyle/>
          <a:p>
            <a:pPr>
              <a:lnSpc>
                <a:spcPct val="115000"/>
              </a:lnSpc>
            </a:pPr>
            <a:r>
              <a:rPr lang="en-US" sz="1733" dirty="0">
                <a:solidFill>
                  <a:srgbClr val="FFFFFF"/>
                </a:solidFill>
                <a:latin typeface="Calibri" pitchFamily="34" charset="0"/>
                <a:ea typeface="Calibri" pitchFamily="34" charset="-122"/>
                <a:cs typeface="Calibri" pitchFamily="34" charset="-120"/>
              </a:rPr>
              <a:t>Anonymisation systématique : aucun identifiant personnel conservé</a:t>
            </a:r>
            <a:endParaRPr lang="en-US" sz="1733" dirty="0"/>
          </a:p>
        </p:txBody>
      </p:sp>
      <p:sp>
        <p:nvSpPr>
          <p:cNvPr id="23" name="Shape 19"/>
          <p:cNvSpPr/>
          <p:nvPr/>
        </p:nvSpPr>
        <p:spPr>
          <a:xfrm>
            <a:off x="8717280" y="6266688"/>
            <a:ext cx="170688" cy="170688"/>
          </a:xfrm>
          <a:prstGeom prst="ellipse">
            <a:avLst/>
          </a:prstGeom>
          <a:solidFill>
            <a:srgbClr val="CADCFC"/>
          </a:solidFill>
          <a:ln/>
        </p:spPr>
        <p:txBody>
          <a:bodyPr/>
          <a:lstStyle/>
          <a:p>
            <a:endParaRPr lang="ar-TN" sz="2400"/>
          </a:p>
        </p:txBody>
      </p:sp>
      <p:sp>
        <p:nvSpPr>
          <p:cNvPr id="24" name="Text 20"/>
          <p:cNvSpPr/>
          <p:nvPr/>
        </p:nvSpPr>
        <p:spPr>
          <a:xfrm>
            <a:off x="9058656" y="6047232"/>
            <a:ext cx="5974080" cy="914400"/>
          </a:xfrm>
          <a:prstGeom prst="rect">
            <a:avLst/>
          </a:prstGeom>
          <a:noFill/>
          <a:ln/>
        </p:spPr>
        <p:txBody>
          <a:bodyPr wrap="square" rtlCol="0" anchor="ctr"/>
          <a:lstStyle/>
          <a:p>
            <a:pPr>
              <a:lnSpc>
                <a:spcPct val="115000"/>
              </a:lnSpc>
            </a:pPr>
            <a:r>
              <a:rPr lang="en-US" sz="1733" dirty="0">
                <a:solidFill>
                  <a:srgbClr val="FFFFFF"/>
                </a:solidFill>
                <a:latin typeface="Calibri" pitchFamily="34" charset="0"/>
                <a:ea typeface="Calibri" pitchFamily="34" charset="-122"/>
                <a:cs typeface="Calibri" pitchFamily="34" charset="-120"/>
              </a:rPr>
              <a:t>Journalisation et audit des accès pour la conformité</a:t>
            </a:r>
            <a:endParaRPr lang="en-US" sz="1733" dirty="0"/>
          </a:p>
        </p:txBody>
      </p:sp>
      <p:sp>
        <p:nvSpPr>
          <p:cNvPr id="25" name="Text 21"/>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26" name="Text 22"/>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14</a:t>
            </a:r>
            <a:endParaRPr lang="en-US" sz="1333"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3733" b="1" dirty="0">
                <a:solidFill>
                  <a:srgbClr val="1E2761"/>
                </a:solidFill>
                <a:latin typeface="Cambria" pitchFamily="34" charset="0"/>
                <a:ea typeface="Cambria" pitchFamily="34" charset="-122"/>
                <a:cs typeface="Cambria" pitchFamily="34" charset="-120"/>
              </a:rPr>
              <a:t>Une mise en œuvre progressive sur 12 mois</a:t>
            </a:r>
            <a:endParaRPr lang="en-US" sz="3733" dirty="0"/>
          </a:p>
        </p:txBody>
      </p:sp>
      <p:sp>
        <p:nvSpPr>
          <p:cNvPr id="3" name="Text 1"/>
          <p:cNvSpPr/>
          <p:nvPr/>
        </p:nvSpPr>
        <p:spPr>
          <a:xfrm>
            <a:off x="853440" y="1463040"/>
            <a:ext cx="14508480" cy="548640"/>
          </a:xfrm>
          <a:prstGeom prst="rect">
            <a:avLst/>
          </a:prstGeom>
          <a:noFill/>
          <a:ln/>
        </p:spPr>
        <p:txBody>
          <a:bodyPr wrap="square" rtlCol="0" anchor="ctr"/>
          <a:lstStyle/>
          <a:p>
            <a:r>
              <a:rPr lang="en-US" sz="1933" dirty="0">
                <a:solidFill>
                  <a:srgbClr val="5B6472"/>
                </a:solidFill>
                <a:latin typeface="Calibri" pitchFamily="34" charset="0"/>
                <a:ea typeface="Calibri" pitchFamily="34" charset="-122"/>
                <a:cs typeface="Calibri" pitchFamily="34" charset="-120"/>
              </a:rPr>
              <a:t>Un pilote à portée nationale, structuré en quatre phases</a:t>
            </a:r>
            <a:endParaRPr lang="en-US" sz="1933" dirty="0"/>
          </a:p>
        </p:txBody>
      </p:sp>
      <p:sp>
        <p:nvSpPr>
          <p:cNvPr id="4" name="Shape 2"/>
          <p:cNvSpPr/>
          <p:nvPr/>
        </p:nvSpPr>
        <p:spPr>
          <a:xfrm>
            <a:off x="2499360" y="3108960"/>
            <a:ext cx="11216640" cy="0"/>
          </a:xfrm>
          <a:prstGeom prst="line">
            <a:avLst/>
          </a:prstGeom>
          <a:noFill/>
          <a:ln w="38100">
            <a:solidFill>
              <a:srgbClr val="CADCFC"/>
            </a:solidFill>
            <a:prstDash val="solid"/>
          </a:ln>
        </p:spPr>
        <p:txBody>
          <a:bodyPr/>
          <a:lstStyle/>
          <a:p>
            <a:endParaRPr lang="ar-TN" sz="2400"/>
          </a:p>
        </p:txBody>
      </p:sp>
      <p:sp>
        <p:nvSpPr>
          <p:cNvPr id="5" name="Shape 3"/>
          <p:cNvSpPr/>
          <p:nvPr/>
        </p:nvSpPr>
        <p:spPr>
          <a:xfrm>
            <a:off x="2157984" y="2767584"/>
            <a:ext cx="682752" cy="682752"/>
          </a:xfrm>
          <a:prstGeom prst="ellipse">
            <a:avLst/>
          </a:prstGeom>
          <a:solidFill>
            <a:srgbClr val="1E2761"/>
          </a:solidFill>
          <a:ln/>
        </p:spPr>
        <p:txBody>
          <a:bodyPr/>
          <a:lstStyle/>
          <a:p>
            <a:endParaRPr lang="ar-TN" sz="2400"/>
          </a:p>
        </p:txBody>
      </p:sp>
      <p:sp>
        <p:nvSpPr>
          <p:cNvPr id="6" name="Text 4"/>
          <p:cNvSpPr/>
          <p:nvPr/>
        </p:nvSpPr>
        <p:spPr>
          <a:xfrm>
            <a:off x="2157984" y="2767584"/>
            <a:ext cx="682752" cy="682752"/>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Shape 5"/>
          <p:cNvSpPr/>
          <p:nvPr/>
        </p:nvSpPr>
        <p:spPr>
          <a:xfrm>
            <a:off x="853440" y="3657600"/>
            <a:ext cx="3291840" cy="4267200"/>
          </a:xfrm>
          <a:prstGeom prst="roundRect">
            <a:avLst>
              <a:gd name="adj" fmla="val 2593"/>
            </a:avLst>
          </a:prstGeom>
          <a:solidFill>
            <a:srgbClr val="F4F6FB"/>
          </a:solidFill>
          <a:ln/>
        </p:spPr>
        <p:txBody>
          <a:bodyPr/>
          <a:lstStyle/>
          <a:p>
            <a:endParaRPr lang="ar-TN" sz="2400"/>
          </a:p>
        </p:txBody>
      </p:sp>
      <p:sp>
        <p:nvSpPr>
          <p:cNvPr id="8" name="Text 6"/>
          <p:cNvSpPr/>
          <p:nvPr/>
        </p:nvSpPr>
        <p:spPr>
          <a:xfrm>
            <a:off x="1036320" y="3840480"/>
            <a:ext cx="29260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Phase 1</a:t>
            </a:r>
            <a:endParaRPr lang="en-US" sz="1867" dirty="0"/>
          </a:p>
        </p:txBody>
      </p:sp>
      <p:sp>
        <p:nvSpPr>
          <p:cNvPr id="9" name="Text 7"/>
          <p:cNvSpPr/>
          <p:nvPr/>
        </p:nvSpPr>
        <p:spPr>
          <a:xfrm>
            <a:off x="1036320" y="4242816"/>
            <a:ext cx="2926080" cy="365760"/>
          </a:xfrm>
          <a:prstGeom prst="rect">
            <a:avLst/>
          </a:prstGeom>
          <a:noFill/>
          <a:ln/>
        </p:spPr>
        <p:txBody>
          <a:bodyPr wrap="square" rtlCol="0" anchor="ctr"/>
          <a:lstStyle/>
          <a:p>
            <a:r>
              <a:rPr lang="en-US" sz="1467" i="1" dirty="0">
                <a:solidFill>
                  <a:srgbClr val="5B6472"/>
                </a:solidFill>
                <a:latin typeface="Calibri" pitchFamily="34" charset="0"/>
                <a:ea typeface="Calibri" pitchFamily="34" charset="-122"/>
                <a:cs typeface="Calibri" pitchFamily="34" charset="-120"/>
              </a:rPr>
              <a:t>2-3 mois</a:t>
            </a:r>
            <a:endParaRPr lang="en-US" sz="1467" dirty="0"/>
          </a:p>
        </p:txBody>
      </p:sp>
      <p:sp>
        <p:nvSpPr>
          <p:cNvPr id="10" name="Text 8"/>
          <p:cNvSpPr/>
          <p:nvPr/>
        </p:nvSpPr>
        <p:spPr>
          <a:xfrm>
            <a:off x="1036320" y="4693920"/>
            <a:ext cx="2926080" cy="609600"/>
          </a:xfrm>
          <a:prstGeom prst="rect">
            <a:avLst/>
          </a:prstGeom>
          <a:noFill/>
          <a:ln/>
        </p:spPr>
        <p:txBody>
          <a:bodyPr wrap="square" rtlCol="0" anchor="ctr"/>
          <a:lstStyle/>
          <a:p>
            <a:pPr>
              <a:lnSpc>
                <a:spcPct val="110000"/>
              </a:lnSpc>
            </a:pPr>
            <a:r>
              <a:rPr lang="en-US" sz="1733" b="1" dirty="0">
                <a:solidFill>
                  <a:srgbClr val="1A1A2E"/>
                </a:solidFill>
                <a:latin typeface="Cambria" pitchFamily="34" charset="0"/>
                <a:ea typeface="Cambria" pitchFamily="34" charset="-122"/>
                <a:cs typeface="Cambria" pitchFamily="34" charset="-120"/>
              </a:rPr>
              <a:t>Cadrage &amp; design</a:t>
            </a:r>
            <a:endParaRPr lang="en-US" sz="1733" dirty="0"/>
          </a:p>
        </p:txBody>
      </p:sp>
      <p:sp>
        <p:nvSpPr>
          <p:cNvPr id="11" name="Text 9"/>
          <p:cNvSpPr/>
          <p:nvPr/>
        </p:nvSpPr>
        <p:spPr>
          <a:xfrm>
            <a:off x="1036320" y="5364480"/>
            <a:ext cx="2926080" cy="2316480"/>
          </a:xfrm>
          <a:prstGeom prst="rect">
            <a:avLst/>
          </a:prstGeom>
          <a:noFill/>
          <a:ln/>
        </p:spPr>
        <p:txBody>
          <a:bodyPr wrap="square" rtlCol="0" anchor="ctr"/>
          <a:lstStyle/>
          <a:p>
            <a:pPr>
              <a:lnSpc>
                <a:spcPct val="120000"/>
              </a:lnSpc>
            </a:pPr>
            <a:r>
              <a:rPr lang="en-US" sz="1400" dirty="0">
                <a:solidFill>
                  <a:srgbClr val="1A1A2E"/>
                </a:solidFill>
                <a:latin typeface="Calibri" pitchFamily="34" charset="0"/>
                <a:ea typeface="Calibri" pitchFamily="34" charset="-122"/>
                <a:cs typeface="Calibri" pitchFamily="34" charset="-120"/>
              </a:rPr>
              <a:t>Ateliers avec l'ONMNE et le Ministère, choix des priorités thématiques</a:t>
            </a:r>
            <a:endParaRPr lang="en-US" sz="1400" dirty="0"/>
          </a:p>
        </p:txBody>
      </p:sp>
      <p:sp>
        <p:nvSpPr>
          <p:cNvPr id="12" name="Shape 10"/>
          <p:cNvSpPr/>
          <p:nvPr/>
        </p:nvSpPr>
        <p:spPr>
          <a:xfrm>
            <a:off x="5896864" y="2767584"/>
            <a:ext cx="682752" cy="682752"/>
          </a:xfrm>
          <a:prstGeom prst="ellipse">
            <a:avLst/>
          </a:prstGeom>
          <a:solidFill>
            <a:srgbClr val="1E2761"/>
          </a:solidFill>
          <a:ln/>
        </p:spPr>
        <p:txBody>
          <a:bodyPr/>
          <a:lstStyle/>
          <a:p>
            <a:endParaRPr lang="ar-TN" sz="2400"/>
          </a:p>
        </p:txBody>
      </p:sp>
      <p:sp>
        <p:nvSpPr>
          <p:cNvPr id="13" name="Text 11"/>
          <p:cNvSpPr/>
          <p:nvPr/>
        </p:nvSpPr>
        <p:spPr>
          <a:xfrm>
            <a:off x="5896864" y="2767584"/>
            <a:ext cx="682752" cy="682752"/>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Shape 12"/>
          <p:cNvSpPr/>
          <p:nvPr/>
        </p:nvSpPr>
        <p:spPr>
          <a:xfrm>
            <a:off x="4592320" y="3657600"/>
            <a:ext cx="3291840" cy="4267200"/>
          </a:xfrm>
          <a:prstGeom prst="roundRect">
            <a:avLst>
              <a:gd name="adj" fmla="val 2593"/>
            </a:avLst>
          </a:prstGeom>
          <a:solidFill>
            <a:srgbClr val="F4F6FB"/>
          </a:solidFill>
          <a:ln/>
        </p:spPr>
        <p:txBody>
          <a:bodyPr/>
          <a:lstStyle/>
          <a:p>
            <a:endParaRPr lang="ar-TN" sz="2400"/>
          </a:p>
        </p:txBody>
      </p:sp>
      <p:sp>
        <p:nvSpPr>
          <p:cNvPr id="15" name="Text 13"/>
          <p:cNvSpPr/>
          <p:nvPr/>
        </p:nvSpPr>
        <p:spPr>
          <a:xfrm>
            <a:off x="4775200" y="3840480"/>
            <a:ext cx="29260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Phase 2</a:t>
            </a:r>
            <a:endParaRPr lang="en-US" sz="1867" dirty="0"/>
          </a:p>
        </p:txBody>
      </p:sp>
      <p:sp>
        <p:nvSpPr>
          <p:cNvPr id="16" name="Text 14"/>
          <p:cNvSpPr/>
          <p:nvPr/>
        </p:nvSpPr>
        <p:spPr>
          <a:xfrm>
            <a:off x="4775200" y="4242816"/>
            <a:ext cx="2926080" cy="365760"/>
          </a:xfrm>
          <a:prstGeom prst="rect">
            <a:avLst/>
          </a:prstGeom>
          <a:noFill/>
          <a:ln/>
        </p:spPr>
        <p:txBody>
          <a:bodyPr wrap="square" rtlCol="0" anchor="ctr"/>
          <a:lstStyle/>
          <a:p>
            <a:r>
              <a:rPr lang="en-US" sz="1467" i="1" dirty="0">
                <a:solidFill>
                  <a:srgbClr val="5B6472"/>
                </a:solidFill>
                <a:latin typeface="Calibri" pitchFamily="34" charset="0"/>
                <a:ea typeface="Calibri" pitchFamily="34" charset="-122"/>
                <a:cs typeface="Calibri" pitchFamily="34" charset="-120"/>
              </a:rPr>
              <a:t>3-4 mois</a:t>
            </a:r>
            <a:endParaRPr lang="en-US" sz="1467" dirty="0"/>
          </a:p>
        </p:txBody>
      </p:sp>
      <p:sp>
        <p:nvSpPr>
          <p:cNvPr id="17" name="Text 15"/>
          <p:cNvSpPr/>
          <p:nvPr/>
        </p:nvSpPr>
        <p:spPr>
          <a:xfrm>
            <a:off x="4775200" y="4693920"/>
            <a:ext cx="2926080" cy="609600"/>
          </a:xfrm>
          <a:prstGeom prst="rect">
            <a:avLst/>
          </a:prstGeom>
          <a:noFill/>
          <a:ln/>
        </p:spPr>
        <p:txBody>
          <a:bodyPr wrap="square" rtlCol="0" anchor="ctr"/>
          <a:lstStyle/>
          <a:p>
            <a:pPr>
              <a:lnSpc>
                <a:spcPct val="110000"/>
              </a:lnSpc>
            </a:pPr>
            <a:r>
              <a:rPr lang="en-US" sz="1733" b="1" dirty="0">
                <a:solidFill>
                  <a:srgbClr val="1A1A2E"/>
                </a:solidFill>
                <a:latin typeface="Cambria" pitchFamily="34" charset="0"/>
                <a:ea typeface="Cambria" pitchFamily="34" charset="-122"/>
                <a:cs typeface="Cambria" pitchFamily="34" charset="-120"/>
              </a:rPr>
              <a:t>Développement du noyau</a:t>
            </a:r>
            <a:endParaRPr lang="en-US" sz="1733" dirty="0"/>
          </a:p>
        </p:txBody>
      </p:sp>
      <p:sp>
        <p:nvSpPr>
          <p:cNvPr id="18" name="Text 16"/>
          <p:cNvSpPr/>
          <p:nvPr/>
        </p:nvSpPr>
        <p:spPr>
          <a:xfrm>
            <a:off x="4775200" y="5364480"/>
            <a:ext cx="2926080" cy="2316480"/>
          </a:xfrm>
          <a:prstGeom prst="rect">
            <a:avLst/>
          </a:prstGeom>
          <a:noFill/>
          <a:ln/>
        </p:spPr>
        <p:txBody>
          <a:bodyPr wrap="square" rtlCol="0" anchor="ctr"/>
          <a:lstStyle/>
          <a:p>
            <a:pPr>
              <a:lnSpc>
                <a:spcPct val="120000"/>
              </a:lnSpc>
            </a:pPr>
            <a:r>
              <a:rPr lang="en-US" sz="1400" dirty="0">
                <a:solidFill>
                  <a:srgbClr val="1A1A2E"/>
                </a:solidFill>
                <a:latin typeface="Calibri" pitchFamily="34" charset="0"/>
                <a:ea typeface="Calibri" pitchFamily="34" charset="-122"/>
                <a:cs typeface="Calibri" pitchFamily="34" charset="-120"/>
              </a:rPr>
              <a:t>Briques IA, ingestion, premiers tableaux de bord et alertes</a:t>
            </a:r>
            <a:endParaRPr lang="en-US" sz="1400" dirty="0"/>
          </a:p>
        </p:txBody>
      </p:sp>
      <p:sp>
        <p:nvSpPr>
          <p:cNvPr id="19" name="Shape 17"/>
          <p:cNvSpPr/>
          <p:nvPr/>
        </p:nvSpPr>
        <p:spPr>
          <a:xfrm>
            <a:off x="9635744" y="2767584"/>
            <a:ext cx="682752" cy="682752"/>
          </a:xfrm>
          <a:prstGeom prst="ellipse">
            <a:avLst/>
          </a:prstGeom>
          <a:solidFill>
            <a:srgbClr val="1E2761"/>
          </a:solidFill>
          <a:ln/>
        </p:spPr>
        <p:txBody>
          <a:bodyPr/>
          <a:lstStyle/>
          <a:p>
            <a:endParaRPr lang="ar-TN" sz="2400"/>
          </a:p>
        </p:txBody>
      </p:sp>
      <p:sp>
        <p:nvSpPr>
          <p:cNvPr id="20" name="Text 18"/>
          <p:cNvSpPr/>
          <p:nvPr/>
        </p:nvSpPr>
        <p:spPr>
          <a:xfrm>
            <a:off x="9635744" y="2767584"/>
            <a:ext cx="682752" cy="682752"/>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1" name="Shape 19"/>
          <p:cNvSpPr/>
          <p:nvPr/>
        </p:nvSpPr>
        <p:spPr>
          <a:xfrm>
            <a:off x="8331200" y="3657600"/>
            <a:ext cx="3291840" cy="4267200"/>
          </a:xfrm>
          <a:prstGeom prst="roundRect">
            <a:avLst>
              <a:gd name="adj" fmla="val 2593"/>
            </a:avLst>
          </a:prstGeom>
          <a:solidFill>
            <a:srgbClr val="F4F6FB"/>
          </a:solidFill>
          <a:ln/>
        </p:spPr>
        <p:txBody>
          <a:bodyPr/>
          <a:lstStyle/>
          <a:p>
            <a:endParaRPr lang="ar-TN" sz="2400"/>
          </a:p>
        </p:txBody>
      </p:sp>
      <p:sp>
        <p:nvSpPr>
          <p:cNvPr id="22" name="Text 20"/>
          <p:cNvSpPr/>
          <p:nvPr/>
        </p:nvSpPr>
        <p:spPr>
          <a:xfrm>
            <a:off x="8514080" y="3840480"/>
            <a:ext cx="29260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Phase 3</a:t>
            </a:r>
            <a:endParaRPr lang="en-US" sz="1867" dirty="0"/>
          </a:p>
        </p:txBody>
      </p:sp>
      <p:sp>
        <p:nvSpPr>
          <p:cNvPr id="23" name="Text 21"/>
          <p:cNvSpPr/>
          <p:nvPr/>
        </p:nvSpPr>
        <p:spPr>
          <a:xfrm>
            <a:off x="8514080" y="4242816"/>
            <a:ext cx="2926080" cy="365760"/>
          </a:xfrm>
          <a:prstGeom prst="rect">
            <a:avLst/>
          </a:prstGeom>
          <a:noFill/>
          <a:ln/>
        </p:spPr>
        <p:txBody>
          <a:bodyPr wrap="square" rtlCol="0" anchor="ctr"/>
          <a:lstStyle/>
          <a:p>
            <a:r>
              <a:rPr lang="en-US" sz="1467" i="1" dirty="0">
                <a:solidFill>
                  <a:srgbClr val="5B6472"/>
                </a:solidFill>
                <a:latin typeface="Calibri" pitchFamily="34" charset="0"/>
                <a:ea typeface="Calibri" pitchFamily="34" charset="-122"/>
                <a:cs typeface="Calibri" pitchFamily="34" charset="-120"/>
              </a:rPr>
              <a:t>3-4 mois</a:t>
            </a:r>
            <a:endParaRPr lang="en-US" sz="1467" dirty="0"/>
          </a:p>
        </p:txBody>
      </p:sp>
      <p:sp>
        <p:nvSpPr>
          <p:cNvPr id="24" name="Text 22"/>
          <p:cNvSpPr/>
          <p:nvPr/>
        </p:nvSpPr>
        <p:spPr>
          <a:xfrm>
            <a:off x="8514080" y="4693920"/>
            <a:ext cx="2926080" cy="609600"/>
          </a:xfrm>
          <a:prstGeom prst="rect">
            <a:avLst/>
          </a:prstGeom>
          <a:noFill/>
          <a:ln/>
        </p:spPr>
        <p:txBody>
          <a:bodyPr wrap="square" rtlCol="0" anchor="ctr"/>
          <a:lstStyle/>
          <a:p>
            <a:pPr>
              <a:lnSpc>
                <a:spcPct val="110000"/>
              </a:lnSpc>
            </a:pPr>
            <a:r>
              <a:rPr lang="en-US" sz="1733" b="1" dirty="0">
                <a:solidFill>
                  <a:srgbClr val="1A1A2E"/>
                </a:solidFill>
                <a:latin typeface="Cambria" pitchFamily="34" charset="0"/>
                <a:ea typeface="Cambria" pitchFamily="34" charset="-122"/>
                <a:cs typeface="Cambria" pitchFamily="34" charset="-120"/>
              </a:rPr>
              <a:t>Pilote opérationnel</a:t>
            </a:r>
            <a:endParaRPr lang="en-US" sz="1733" dirty="0"/>
          </a:p>
        </p:txBody>
      </p:sp>
      <p:sp>
        <p:nvSpPr>
          <p:cNvPr id="25" name="Text 23"/>
          <p:cNvSpPr/>
          <p:nvPr/>
        </p:nvSpPr>
        <p:spPr>
          <a:xfrm>
            <a:off x="8514080" y="5364480"/>
            <a:ext cx="2926080" cy="2316480"/>
          </a:xfrm>
          <a:prstGeom prst="rect">
            <a:avLst/>
          </a:prstGeom>
          <a:noFill/>
          <a:ln/>
        </p:spPr>
        <p:txBody>
          <a:bodyPr wrap="square" rtlCol="0" anchor="ctr"/>
          <a:lstStyle/>
          <a:p>
            <a:pPr>
              <a:lnSpc>
                <a:spcPct val="120000"/>
              </a:lnSpc>
            </a:pPr>
            <a:r>
              <a:rPr lang="en-US" sz="1400" dirty="0">
                <a:solidFill>
                  <a:srgbClr val="1A1A2E"/>
                </a:solidFill>
                <a:latin typeface="Calibri" pitchFamily="34" charset="0"/>
                <a:ea typeface="Calibri" pitchFamily="34" charset="-122"/>
                <a:cs typeface="Calibri" pitchFamily="34" charset="-120"/>
              </a:rPr>
              <a:t>Utilisation quotidienne, ajustement des modèles, mesure d'impact</a:t>
            </a:r>
            <a:endParaRPr lang="en-US" sz="1400" dirty="0"/>
          </a:p>
        </p:txBody>
      </p:sp>
      <p:sp>
        <p:nvSpPr>
          <p:cNvPr id="26" name="Shape 24"/>
          <p:cNvSpPr/>
          <p:nvPr/>
        </p:nvSpPr>
        <p:spPr>
          <a:xfrm>
            <a:off x="13374624" y="2767584"/>
            <a:ext cx="682752" cy="682752"/>
          </a:xfrm>
          <a:prstGeom prst="ellipse">
            <a:avLst/>
          </a:prstGeom>
          <a:solidFill>
            <a:srgbClr val="1E2761"/>
          </a:solidFill>
          <a:ln/>
        </p:spPr>
        <p:txBody>
          <a:bodyPr/>
          <a:lstStyle/>
          <a:p>
            <a:endParaRPr lang="ar-TN" sz="2400"/>
          </a:p>
        </p:txBody>
      </p:sp>
      <p:sp>
        <p:nvSpPr>
          <p:cNvPr id="27" name="Text 25"/>
          <p:cNvSpPr/>
          <p:nvPr/>
        </p:nvSpPr>
        <p:spPr>
          <a:xfrm>
            <a:off x="13374624" y="2767584"/>
            <a:ext cx="682752" cy="682752"/>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8" name="Shape 26"/>
          <p:cNvSpPr/>
          <p:nvPr/>
        </p:nvSpPr>
        <p:spPr>
          <a:xfrm>
            <a:off x="12070080" y="3657600"/>
            <a:ext cx="3291840" cy="4267200"/>
          </a:xfrm>
          <a:prstGeom prst="roundRect">
            <a:avLst>
              <a:gd name="adj" fmla="val 2593"/>
            </a:avLst>
          </a:prstGeom>
          <a:solidFill>
            <a:srgbClr val="F4F6FB"/>
          </a:solidFill>
          <a:ln/>
        </p:spPr>
        <p:txBody>
          <a:bodyPr/>
          <a:lstStyle/>
          <a:p>
            <a:endParaRPr lang="ar-TN" sz="2400"/>
          </a:p>
        </p:txBody>
      </p:sp>
      <p:sp>
        <p:nvSpPr>
          <p:cNvPr id="29" name="Text 27"/>
          <p:cNvSpPr/>
          <p:nvPr/>
        </p:nvSpPr>
        <p:spPr>
          <a:xfrm>
            <a:off x="12252960" y="3840480"/>
            <a:ext cx="2926080" cy="426720"/>
          </a:xfrm>
          <a:prstGeom prst="rect">
            <a:avLst/>
          </a:prstGeom>
          <a:noFill/>
          <a:ln/>
        </p:spPr>
        <p:txBody>
          <a:bodyPr wrap="square" rtlCol="0" anchor="ctr"/>
          <a:lstStyle/>
          <a:p>
            <a:r>
              <a:rPr lang="en-US" sz="1867" b="1" dirty="0">
                <a:solidFill>
                  <a:srgbClr val="1E2761"/>
                </a:solidFill>
                <a:latin typeface="Cambria" pitchFamily="34" charset="0"/>
                <a:ea typeface="Cambria" pitchFamily="34" charset="-122"/>
                <a:cs typeface="Cambria" pitchFamily="34" charset="-120"/>
              </a:rPr>
              <a:t>Phase 4</a:t>
            </a:r>
            <a:endParaRPr lang="en-US" sz="1867" dirty="0"/>
          </a:p>
        </p:txBody>
      </p:sp>
      <p:sp>
        <p:nvSpPr>
          <p:cNvPr id="30" name="Text 28"/>
          <p:cNvSpPr/>
          <p:nvPr/>
        </p:nvSpPr>
        <p:spPr>
          <a:xfrm>
            <a:off x="12252960" y="4242816"/>
            <a:ext cx="2926080" cy="365760"/>
          </a:xfrm>
          <a:prstGeom prst="rect">
            <a:avLst/>
          </a:prstGeom>
          <a:noFill/>
          <a:ln/>
        </p:spPr>
        <p:txBody>
          <a:bodyPr wrap="square" rtlCol="0" anchor="ctr"/>
          <a:lstStyle/>
          <a:p>
            <a:r>
              <a:rPr lang="en-US" sz="1467" i="1" dirty="0">
                <a:solidFill>
                  <a:srgbClr val="5B6472"/>
                </a:solidFill>
                <a:latin typeface="Calibri" pitchFamily="34" charset="0"/>
                <a:ea typeface="Calibri" pitchFamily="34" charset="-122"/>
                <a:cs typeface="Calibri" pitchFamily="34" charset="-120"/>
              </a:rPr>
              <a:t>2-3 mois</a:t>
            </a:r>
            <a:endParaRPr lang="en-US" sz="1467" dirty="0"/>
          </a:p>
        </p:txBody>
      </p:sp>
      <p:sp>
        <p:nvSpPr>
          <p:cNvPr id="31" name="Text 29"/>
          <p:cNvSpPr/>
          <p:nvPr/>
        </p:nvSpPr>
        <p:spPr>
          <a:xfrm>
            <a:off x="12252960" y="4693920"/>
            <a:ext cx="2926080" cy="609600"/>
          </a:xfrm>
          <a:prstGeom prst="rect">
            <a:avLst/>
          </a:prstGeom>
          <a:noFill/>
          <a:ln/>
        </p:spPr>
        <p:txBody>
          <a:bodyPr wrap="square" rtlCol="0" anchor="ctr"/>
          <a:lstStyle/>
          <a:p>
            <a:pPr>
              <a:lnSpc>
                <a:spcPct val="110000"/>
              </a:lnSpc>
            </a:pPr>
            <a:r>
              <a:rPr lang="en-US" sz="1733" b="1" dirty="0">
                <a:solidFill>
                  <a:srgbClr val="1A1A2E"/>
                </a:solidFill>
                <a:latin typeface="Cambria" pitchFamily="34" charset="0"/>
                <a:ea typeface="Cambria" pitchFamily="34" charset="-122"/>
                <a:cs typeface="Cambria" pitchFamily="34" charset="-120"/>
              </a:rPr>
              <a:t>Consolidation</a:t>
            </a:r>
            <a:endParaRPr lang="en-US" sz="1733" dirty="0"/>
          </a:p>
        </p:txBody>
      </p:sp>
      <p:sp>
        <p:nvSpPr>
          <p:cNvPr id="32" name="Text 30"/>
          <p:cNvSpPr/>
          <p:nvPr/>
        </p:nvSpPr>
        <p:spPr>
          <a:xfrm>
            <a:off x="12252960" y="5364480"/>
            <a:ext cx="2926080" cy="2316480"/>
          </a:xfrm>
          <a:prstGeom prst="rect">
            <a:avLst/>
          </a:prstGeom>
          <a:noFill/>
          <a:ln/>
        </p:spPr>
        <p:txBody>
          <a:bodyPr wrap="square" rtlCol="0" anchor="ctr"/>
          <a:lstStyle/>
          <a:p>
            <a:pPr>
              <a:lnSpc>
                <a:spcPct val="120000"/>
              </a:lnSpc>
            </a:pPr>
            <a:r>
              <a:rPr lang="en-US" sz="1400" dirty="0">
                <a:solidFill>
                  <a:srgbClr val="1A1A2E"/>
                </a:solidFill>
                <a:latin typeface="Calibri" pitchFamily="34" charset="0"/>
                <a:ea typeface="Calibri" pitchFamily="34" charset="-122"/>
                <a:cs typeface="Calibri" pitchFamily="34" charset="-120"/>
              </a:rPr>
              <a:t>Extension thématique, préparation d'un plan triennal</a:t>
            </a:r>
            <a:endParaRPr lang="en-US" sz="1400" dirty="0"/>
          </a:p>
        </p:txBody>
      </p:sp>
      <p:sp>
        <p:nvSpPr>
          <p:cNvPr id="33" name="Text 31"/>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34" name="Text 32"/>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15</a:t>
            </a:r>
            <a:endParaRPr lang="en-US" sz="1333"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70560"/>
            <a:ext cx="14508480" cy="975360"/>
          </a:xfrm>
          <a:prstGeom prst="rect">
            <a:avLst/>
          </a:prstGeom>
          <a:noFill/>
          <a:ln/>
        </p:spPr>
        <p:txBody>
          <a:bodyPr wrap="square" rtlCol="0" anchor="ctr"/>
          <a:lstStyle/>
          <a:p>
            <a:r>
              <a:rPr lang="en-US" sz="4000" b="1" dirty="0">
                <a:solidFill>
                  <a:srgbClr val="FFFFFF"/>
                </a:solidFill>
                <a:latin typeface="Cambria" pitchFamily="34" charset="0"/>
                <a:ea typeface="Cambria" pitchFamily="34" charset="-122"/>
                <a:cs typeface="Cambria" pitchFamily="34" charset="-120"/>
              </a:rPr>
              <a:t>Les innovations proposées</a:t>
            </a:r>
            <a:endParaRPr lang="en-US" sz="4000" dirty="0"/>
          </a:p>
        </p:txBody>
      </p:sp>
      <p:sp>
        <p:nvSpPr>
          <p:cNvPr id="3" name="Shape 1"/>
          <p:cNvSpPr/>
          <p:nvPr/>
        </p:nvSpPr>
        <p:spPr>
          <a:xfrm>
            <a:off x="853440" y="1889760"/>
            <a:ext cx="4572000" cy="2621280"/>
          </a:xfrm>
          <a:prstGeom prst="roundRect">
            <a:avLst>
              <a:gd name="adj" fmla="val 3721"/>
            </a:avLst>
          </a:prstGeom>
          <a:solidFill>
            <a:srgbClr val="26306E"/>
          </a:solidFill>
          <a:ln/>
        </p:spPr>
        <p:txBody>
          <a:bodyPr/>
          <a:lstStyle/>
          <a:p>
            <a:endParaRPr lang="ar-TN" sz="2400"/>
          </a:p>
        </p:txBody>
      </p:sp>
      <p:sp>
        <p:nvSpPr>
          <p:cNvPr id="4" name="Shape 2"/>
          <p:cNvSpPr/>
          <p:nvPr/>
        </p:nvSpPr>
        <p:spPr>
          <a:xfrm>
            <a:off x="1158240" y="2194560"/>
            <a:ext cx="792480" cy="792480"/>
          </a:xfrm>
          <a:prstGeom prst="ellipse">
            <a:avLst/>
          </a:prstGeom>
          <a:solidFill>
            <a:srgbClr val="CADCFC"/>
          </a:solidFill>
          <a:ln/>
        </p:spPr>
        <p:txBody>
          <a:bodyPr/>
          <a:lstStyle/>
          <a:p>
            <a:endParaRPr lang="ar-TN" sz="2400"/>
          </a:p>
        </p:txBody>
      </p:sp>
      <p:pic>
        <p:nvPicPr>
          <p:cNvPr id="5" name="Image 0" descr="/home/claude/pptx_project/icons/brain_navy.png"/>
          <p:cNvPicPr>
            <a:picLocks noChangeAspect="1"/>
          </p:cNvPicPr>
          <p:nvPr/>
        </p:nvPicPr>
        <p:blipFill>
          <a:blip r:embed="rId3"/>
          <a:stretch>
            <a:fillRect/>
          </a:stretch>
        </p:blipFill>
        <p:spPr>
          <a:xfrm>
            <a:off x="1261263" y="2297583"/>
            <a:ext cx="586435" cy="586435"/>
          </a:xfrm>
          <a:prstGeom prst="rect">
            <a:avLst/>
          </a:prstGeom>
        </p:spPr>
      </p:pic>
      <p:sp>
        <p:nvSpPr>
          <p:cNvPr id="6" name="Text 3"/>
          <p:cNvSpPr/>
          <p:nvPr/>
        </p:nvSpPr>
        <p:spPr>
          <a:xfrm>
            <a:off x="1158240" y="3108960"/>
            <a:ext cx="3962400" cy="609600"/>
          </a:xfrm>
          <a:prstGeom prst="rect">
            <a:avLst/>
          </a:prstGeom>
          <a:noFill/>
          <a:ln/>
        </p:spPr>
        <p:txBody>
          <a:bodyPr wrap="square" rtlCol="0" anchor="ctr"/>
          <a:lstStyle/>
          <a:p>
            <a:pPr>
              <a:lnSpc>
                <a:spcPct val="110000"/>
              </a:lnSpc>
            </a:pPr>
            <a:r>
              <a:rPr lang="en-US" b="1" dirty="0">
                <a:solidFill>
                  <a:srgbClr val="FFFFFF"/>
                </a:solidFill>
                <a:latin typeface="Cambria" pitchFamily="34" charset="0"/>
                <a:ea typeface="Cambria" pitchFamily="34" charset="-122"/>
                <a:cs typeface="Cambria" pitchFamily="34" charset="-120"/>
              </a:rPr>
              <a:t>Intelligence artificielle</a:t>
            </a:r>
            <a:endParaRPr lang="en-US" dirty="0"/>
          </a:p>
        </p:txBody>
      </p:sp>
      <p:sp>
        <p:nvSpPr>
          <p:cNvPr id="7" name="Text 4"/>
          <p:cNvSpPr/>
          <p:nvPr/>
        </p:nvSpPr>
        <p:spPr>
          <a:xfrm>
            <a:off x="1158240" y="3694176"/>
            <a:ext cx="3962400" cy="755904"/>
          </a:xfrm>
          <a:prstGeom prst="rect">
            <a:avLst/>
          </a:prstGeom>
          <a:noFill/>
          <a:ln/>
        </p:spPr>
        <p:txBody>
          <a:bodyPr wrap="square" rtlCol="0" anchor="ctr"/>
          <a:lstStyle/>
          <a:p>
            <a:pPr>
              <a:lnSpc>
                <a:spcPct val="115000"/>
              </a:lnSpc>
            </a:pPr>
            <a:r>
              <a:rPr lang="en-US" sz="1400" dirty="0">
                <a:solidFill>
                  <a:srgbClr val="CADCFC"/>
                </a:solidFill>
                <a:latin typeface="Calibri" pitchFamily="34" charset="0"/>
                <a:ea typeface="Calibri" pitchFamily="34" charset="-122"/>
                <a:cs typeface="Calibri" pitchFamily="34" charset="-120"/>
              </a:rPr>
              <a:t>Détection des rumeurs, analyse des tendances, résumés automatiques, aide à la décision</a:t>
            </a:r>
            <a:endParaRPr lang="en-US" sz="1400" dirty="0"/>
          </a:p>
        </p:txBody>
      </p:sp>
      <p:sp>
        <p:nvSpPr>
          <p:cNvPr id="8" name="Shape 5"/>
          <p:cNvSpPr/>
          <p:nvPr/>
        </p:nvSpPr>
        <p:spPr>
          <a:xfrm>
            <a:off x="5791200" y="1889760"/>
            <a:ext cx="4572000" cy="2621280"/>
          </a:xfrm>
          <a:prstGeom prst="roundRect">
            <a:avLst>
              <a:gd name="adj" fmla="val 3721"/>
            </a:avLst>
          </a:prstGeom>
          <a:solidFill>
            <a:srgbClr val="26306E"/>
          </a:solidFill>
          <a:ln/>
        </p:spPr>
        <p:txBody>
          <a:bodyPr/>
          <a:lstStyle/>
          <a:p>
            <a:endParaRPr lang="ar-TN" sz="2400"/>
          </a:p>
        </p:txBody>
      </p:sp>
      <p:sp>
        <p:nvSpPr>
          <p:cNvPr id="9" name="Shape 6"/>
          <p:cNvSpPr/>
          <p:nvPr/>
        </p:nvSpPr>
        <p:spPr>
          <a:xfrm>
            <a:off x="6096000" y="2194560"/>
            <a:ext cx="792480" cy="792480"/>
          </a:xfrm>
          <a:prstGeom prst="ellipse">
            <a:avLst/>
          </a:prstGeom>
          <a:solidFill>
            <a:srgbClr val="CADCFC"/>
          </a:solidFill>
          <a:ln/>
        </p:spPr>
        <p:txBody>
          <a:bodyPr/>
          <a:lstStyle/>
          <a:p>
            <a:endParaRPr lang="ar-TN" sz="2400"/>
          </a:p>
        </p:txBody>
      </p:sp>
      <p:pic>
        <p:nvPicPr>
          <p:cNvPr id="10" name="Image 1" descr="/home/claude/pptx_project/icons/language_navy.png"/>
          <p:cNvPicPr>
            <a:picLocks noChangeAspect="1"/>
          </p:cNvPicPr>
          <p:nvPr/>
        </p:nvPicPr>
        <p:blipFill>
          <a:blip r:embed="rId4"/>
          <a:stretch>
            <a:fillRect/>
          </a:stretch>
        </p:blipFill>
        <p:spPr>
          <a:xfrm>
            <a:off x="6199023" y="2297583"/>
            <a:ext cx="586435" cy="586435"/>
          </a:xfrm>
          <a:prstGeom prst="rect">
            <a:avLst/>
          </a:prstGeom>
        </p:spPr>
      </p:pic>
      <p:sp>
        <p:nvSpPr>
          <p:cNvPr id="11" name="Text 7"/>
          <p:cNvSpPr/>
          <p:nvPr/>
        </p:nvSpPr>
        <p:spPr>
          <a:xfrm>
            <a:off x="6096000" y="3108960"/>
            <a:ext cx="3962400" cy="609600"/>
          </a:xfrm>
          <a:prstGeom prst="rect">
            <a:avLst/>
          </a:prstGeom>
          <a:noFill/>
          <a:ln/>
        </p:spPr>
        <p:txBody>
          <a:bodyPr wrap="square" rtlCol="0" anchor="ctr"/>
          <a:lstStyle/>
          <a:p>
            <a:pPr>
              <a:lnSpc>
                <a:spcPct val="110000"/>
              </a:lnSpc>
            </a:pPr>
            <a:r>
              <a:rPr lang="en-US" b="1" dirty="0">
                <a:solidFill>
                  <a:srgbClr val="FFFFFF"/>
                </a:solidFill>
                <a:latin typeface="Cambria" pitchFamily="34" charset="0"/>
                <a:ea typeface="Cambria" pitchFamily="34" charset="-122"/>
                <a:cs typeface="Cambria" pitchFamily="34" charset="-120"/>
              </a:rPr>
              <a:t>Intelligence linguistique</a:t>
            </a:r>
            <a:endParaRPr lang="en-US" dirty="0"/>
          </a:p>
        </p:txBody>
      </p:sp>
      <p:sp>
        <p:nvSpPr>
          <p:cNvPr id="12" name="Text 8"/>
          <p:cNvSpPr/>
          <p:nvPr/>
        </p:nvSpPr>
        <p:spPr>
          <a:xfrm>
            <a:off x="6096000" y="3694176"/>
            <a:ext cx="3962400" cy="755904"/>
          </a:xfrm>
          <a:prstGeom prst="rect">
            <a:avLst/>
          </a:prstGeom>
          <a:noFill/>
          <a:ln/>
        </p:spPr>
        <p:txBody>
          <a:bodyPr wrap="square" rtlCol="0" anchor="ctr"/>
          <a:lstStyle/>
          <a:p>
            <a:pPr>
              <a:lnSpc>
                <a:spcPct val="115000"/>
              </a:lnSpc>
            </a:pPr>
            <a:r>
              <a:rPr lang="en-US" sz="1400" dirty="0">
                <a:solidFill>
                  <a:srgbClr val="CADCFC"/>
                </a:solidFill>
                <a:latin typeface="Calibri" pitchFamily="34" charset="0"/>
                <a:ea typeface="Calibri" pitchFamily="34" charset="-122"/>
                <a:cs typeface="Calibri" pitchFamily="34" charset="-120"/>
              </a:rPr>
              <a:t>Analyse des contenus en arabe, en français et en dialecte tunisien</a:t>
            </a:r>
            <a:endParaRPr lang="en-US" sz="1400" dirty="0"/>
          </a:p>
        </p:txBody>
      </p:sp>
      <p:sp>
        <p:nvSpPr>
          <p:cNvPr id="13" name="Shape 9"/>
          <p:cNvSpPr/>
          <p:nvPr/>
        </p:nvSpPr>
        <p:spPr>
          <a:xfrm>
            <a:off x="10728960" y="1889760"/>
            <a:ext cx="4572000" cy="2621280"/>
          </a:xfrm>
          <a:prstGeom prst="roundRect">
            <a:avLst>
              <a:gd name="adj" fmla="val 3721"/>
            </a:avLst>
          </a:prstGeom>
          <a:solidFill>
            <a:srgbClr val="26306E"/>
          </a:solidFill>
          <a:ln/>
        </p:spPr>
        <p:txBody>
          <a:bodyPr/>
          <a:lstStyle/>
          <a:p>
            <a:endParaRPr lang="ar-TN" sz="2400"/>
          </a:p>
        </p:txBody>
      </p:sp>
      <p:sp>
        <p:nvSpPr>
          <p:cNvPr id="14" name="Shape 10"/>
          <p:cNvSpPr/>
          <p:nvPr/>
        </p:nvSpPr>
        <p:spPr>
          <a:xfrm>
            <a:off x="11033760" y="2194560"/>
            <a:ext cx="792480" cy="792480"/>
          </a:xfrm>
          <a:prstGeom prst="ellipse">
            <a:avLst/>
          </a:prstGeom>
          <a:solidFill>
            <a:srgbClr val="CADCFC"/>
          </a:solidFill>
          <a:ln/>
        </p:spPr>
        <p:txBody>
          <a:bodyPr/>
          <a:lstStyle/>
          <a:p>
            <a:endParaRPr lang="ar-TN" sz="2400"/>
          </a:p>
        </p:txBody>
      </p:sp>
      <p:pic>
        <p:nvPicPr>
          <p:cNvPr id="15" name="Image 2" descr="/home/claude/pptx_project/icons/network_navy.png"/>
          <p:cNvPicPr>
            <a:picLocks noChangeAspect="1"/>
          </p:cNvPicPr>
          <p:nvPr/>
        </p:nvPicPr>
        <p:blipFill>
          <a:blip r:embed="rId5"/>
          <a:stretch>
            <a:fillRect/>
          </a:stretch>
        </p:blipFill>
        <p:spPr>
          <a:xfrm>
            <a:off x="11136783" y="2297583"/>
            <a:ext cx="586435" cy="586435"/>
          </a:xfrm>
          <a:prstGeom prst="rect">
            <a:avLst/>
          </a:prstGeom>
        </p:spPr>
      </p:pic>
      <p:sp>
        <p:nvSpPr>
          <p:cNvPr id="16" name="Text 11"/>
          <p:cNvSpPr/>
          <p:nvPr/>
        </p:nvSpPr>
        <p:spPr>
          <a:xfrm>
            <a:off x="11033760" y="3108960"/>
            <a:ext cx="3962400" cy="609600"/>
          </a:xfrm>
          <a:prstGeom prst="rect">
            <a:avLst/>
          </a:prstGeom>
          <a:noFill/>
          <a:ln/>
        </p:spPr>
        <p:txBody>
          <a:bodyPr wrap="square" rtlCol="0" anchor="ctr"/>
          <a:lstStyle/>
          <a:p>
            <a:pPr>
              <a:lnSpc>
                <a:spcPct val="110000"/>
              </a:lnSpc>
            </a:pPr>
            <a:r>
              <a:rPr lang="en-US" b="1" dirty="0">
                <a:solidFill>
                  <a:srgbClr val="FFFFFF"/>
                </a:solidFill>
                <a:latin typeface="Cambria" pitchFamily="34" charset="0"/>
                <a:ea typeface="Cambria" pitchFamily="34" charset="-122"/>
                <a:cs typeface="Cambria" pitchFamily="34" charset="-120"/>
              </a:rPr>
              <a:t>Cartographie géospatiale</a:t>
            </a:r>
            <a:endParaRPr lang="en-US" dirty="0"/>
          </a:p>
        </p:txBody>
      </p:sp>
      <p:sp>
        <p:nvSpPr>
          <p:cNvPr id="17" name="Text 12"/>
          <p:cNvSpPr/>
          <p:nvPr/>
        </p:nvSpPr>
        <p:spPr>
          <a:xfrm>
            <a:off x="11033760" y="3694176"/>
            <a:ext cx="3962400" cy="755904"/>
          </a:xfrm>
          <a:prstGeom prst="rect">
            <a:avLst/>
          </a:prstGeom>
          <a:noFill/>
          <a:ln/>
        </p:spPr>
        <p:txBody>
          <a:bodyPr wrap="square" rtlCol="0" anchor="ctr"/>
          <a:lstStyle/>
          <a:p>
            <a:pPr>
              <a:lnSpc>
                <a:spcPct val="115000"/>
              </a:lnSpc>
            </a:pPr>
            <a:r>
              <a:rPr lang="en-US" sz="1400" dirty="0">
                <a:solidFill>
                  <a:srgbClr val="CADCFC"/>
                </a:solidFill>
                <a:latin typeface="Calibri" pitchFamily="34" charset="0"/>
                <a:ea typeface="Calibri" pitchFamily="34" charset="-122"/>
                <a:cs typeface="Calibri" pitchFamily="34" charset="-120"/>
              </a:rPr>
              <a:t>Rumeurs, perceptions et niveaux de confiance par région</a:t>
            </a:r>
            <a:endParaRPr lang="en-US" sz="1400" dirty="0"/>
          </a:p>
        </p:txBody>
      </p:sp>
      <p:sp>
        <p:nvSpPr>
          <p:cNvPr id="18" name="Shape 13"/>
          <p:cNvSpPr/>
          <p:nvPr/>
        </p:nvSpPr>
        <p:spPr>
          <a:xfrm>
            <a:off x="853440" y="4815840"/>
            <a:ext cx="4572000" cy="2621280"/>
          </a:xfrm>
          <a:prstGeom prst="roundRect">
            <a:avLst>
              <a:gd name="adj" fmla="val 3721"/>
            </a:avLst>
          </a:prstGeom>
          <a:solidFill>
            <a:srgbClr val="26306E"/>
          </a:solidFill>
          <a:ln/>
        </p:spPr>
        <p:txBody>
          <a:bodyPr/>
          <a:lstStyle/>
          <a:p>
            <a:endParaRPr lang="ar-TN" sz="2400"/>
          </a:p>
        </p:txBody>
      </p:sp>
      <p:sp>
        <p:nvSpPr>
          <p:cNvPr id="19" name="Shape 14"/>
          <p:cNvSpPr/>
          <p:nvPr/>
        </p:nvSpPr>
        <p:spPr>
          <a:xfrm>
            <a:off x="1158240" y="5120640"/>
            <a:ext cx="792480" cy="792480"/>
          </a:xfrm>
          <a:prstGeom prst="ellipse">
            <a:avLst/>
          </a:prstGeom>
          <a:solidFill>
            <a:srgbClr val="CADCFC"/>
          </a:solidFill>
          <a:ln/>
        </p:spPr>
        <p:txBody>
          <a:bodyPr/>
          <a:lstStyle/>
          <a:p>
            <a:endParaRPr lang="ar-TN" sz="2400"/>
          </a:p>
        </p:txBody>
      </p:sp>
      <p:pic>
        <p:nvPicPr>
          <p:cNvPr id="20" name="Image 3" descr="/home/claude/pptx_project/icons/chart_navy.png"/>
          <p:cNvPicPr>
            <a:picLocks noChangeAspect="1"/>
          </p:cNvPicPr>
          <p:nvPr/>
        </p:nvPicPr>
        <p:blipFill>
          <a:blip r:embed="rId6"/>
          <a:stretch>
            <a:fillRect/>
          </a:stretch>
        </p:blipFill>
        <p:spPr>
          <a:xfrm>
            <a:off x="1261263" y="5223663"/>
            <a:ext cx="586435" cy="586435"/>
          </a:xfrm>
          <a:prstGeom prst="rect">
            <a:avLst/>
          </a:prstGeom>
        </p:spPr>
      </p:pic>
      <p:sp>
        <p:nvSpPr>
          <p:cNvPr id="21" name="Text 15"/>
          <p:cNvSpPr/>
          <p:nvPr/>
        </p:nvSpPr>
        <p:spPr>
          <a:xfrm>
            <a:off x="1158240" y="6035040"/>
            <a:ext cx="3962400" cy="609600"/>
          </a:xfrm>
          <a:prstGeom prst="rect">
            <a:avLst/>
          </a:prstGeom>
          <a:noFill/>
          <a:ln/>
        </p:spPr>
        <p:txBody>
          <a:bodyPr wrap="square" rtlCol="0" anchor="ctr"/>
          <a:lstStyle/>
          <a:p>
            <a:pPr>
              <a:lnSpc>
                <a:spcPct val="110000"/>
              </a:lnSpc>
            </a:pPr>
            <a:r>
              <a:rPr lang="en-US" b="1" dirty="0">
                <a:solidFill>
                  <a:srgbClr val="FFFFFF"/>
                </a:solidFill>
                <a:latin typeface="Cambria" pitchFamily="34" charset="0"/>
                <a:ea typeface="Cambria" pitchFamily="34" charset="-122"/>
                <a:cs typeface="Cambria" pitchFamily="34" charset="-120"/>
              </a:rPr>
              <a:t>Tableaux de bord interactifs</a:t>
            </a:r>
            <a:endParaRPr lang="en-US" dirty="0"/>
          </a:p>
        </p:txBody>
      </p:sp>
      <p:sp>
        <p:nvSpPr>
          <p:cNvPr id="22" name="Text 16"/>
          <p:cNvSpPr/>
          <p:nvPr/>
        </p:nvSpPr>
        <p:spPr>
          <a:xfrm>
            <a:off x="1158240" y="6620256"/>
            <a:ext cx="3962400" cy="755904"/>
          </a:xfrm>
          <a:prstGeom prst="rect">
            <a:avLst/>
          </a:prstGeom>
          <a:noFill/>
          <a:ln/>
        </p:spPr>
        <p:txBody>
          <a:bodyPr wrap="square" rtlCol="0" anchor="ctr"/>
          <a:lstStyle/>
          <a:p>
            <a:pPr>
              <a:lnSpc>
                <a:spcPct val="115000"/>
              </a:lnSpc>
            </a:pPr>
            <a:r>
              <a:rPr lang="en-US" sz="1400" dirty="0">
                <a:solidFill>
                  <a:srgbClr val="CADCFC"/>
                </a:solidFill>
                <a:latin typeface="Calibri" pitchFamily="34" charset="0"/>
                <a:ea typeface="Calibri" pitchFamily="34" charset="-122"/>
                <a:cs typeface="Calibri" pitchFamily="34" charset="-120"/>
              </a:rPr>
              <a:t>Destinés aux décideurs, en temps quasi réel</a:t>
            </a:r>
            <a:endParaRPr lang="en-US" sz="1400" dirty="0"/>
          </a:p>
        </p:txBody>
      </p:sp>
      <p:sp>
        <p:nvSpPr>
          <p:cNvPr id="23" name="Shape 17"/>
          <p:cNvSpPr/>
          <p:nvPr/>
        </p:nvSpPr>
        <p:spPr>
          <a:xfrm>
            <a:off x="5791200" y="4815840"/>
            <a:ext cx="4572000" cy="2621280"/>
          </a:xfrm>
          <a:prstGeom prst="roundRect">
            <a:avLst>
              <a:gd name="adj" fmla="val 3721"/>
            </a:avLst>
          </a:prstGeom>
          <a:solidFill>
            <a:srgbClr val="26306E"/>
          </a:solidFill>
          <a:ln/>
        </p:spPr>
        <p:txBody>
          <a:bodyPr/>
          <a:lstStyle/>
          <a:p>
            <a:endParaRPr lang="ar-TN" sz="2400"/>
          </a:p>
        </p:txBody>
      </p:sp>
      <p:sp>
        <p:nvSpPr>
          <p:cNvPr id="24" name="Shape 18"/>
          <p:cNvSpPr/>
          <p:nvPr/>
        </p:nvSpPr>
        <p:spPr>
          <a:xfrm>
            <a:off x="6096000" y="5120640"/>
            <a:ext cx="792480" cy="792480"/>
          </a:xfrm>
          <a:prstGeom prst="ellipse">
            <a:avLst/>
          </a:prstGeom>
          <a:solidFill>
            <a:srgbClr val="CADCFC"/>
          </a:solidFill>
          <a:ln/>
        </p:spPr>
        <p:txBody>
          <a:bodyPr/>
          <a:lstStyle/>
          <a:p>
            <a:endParaRPr lang="ar-TN" sz="2400"/>
          </a:p>
        </p:txBody>
      </p:sp>
      <p:pic>
        <p:nvPicPr>
          <p:cNvPr id="25" name="Image 4" descr="/home/claude/pptx_project/icons/globe_navy.png"/>
          <p:cNvPicPr>
            <a:picLocks noChangeAspect="1"/>
          </p:cNvPicPr>
          <p:nvPr/>
        </p:nvPicPr>
        <p:blipFill>
          <a:blip r:embed="rId7"/>
          <a:stretch>
            <a:fillRect/>
          </a:stretch>
        </p:blipFill>
        <p:spPr>
          <a:xfrm>
            <a:off x="6199023" y="5223663"/>
            <a:ext cx="586435" cy="586435"/>
          </a:xfrm>
          <a:prstGeom prst="rect">
            <a:avLst/>
          </a:prstGeom>
        </p:spPr>
      </p:pic>
      <p:sp>
        <p:nvSpPr>
          <p:cNvPr id="26" name="Text 19"/>
          <p:cNvSpPr/>
          <p:nvPr/>
        </p:nvSpPr>
        <p:spPr>
          <a:xfrm>
            <a:off x="6096000" y="6035040"/>
            <a:ext cx="3962400" cy="609600"/>
          </a:xfrm>
          <a:prstGeom prst="rect">
            <a:avLst/>
          </a:prstGeom>
          <a:noFill/>
          <a:ln/>
        </p:spPr>
        <p:txBody>
          <a:bodyPr wrap="square" rtlCol="0" anchor="ctr"/>
          <a:lstStyle/>
          <a:p>
            <a:pPr>
              <a:lnSpc>
                <a:spcPct val="110000"/>
              </a:lnSpc>
            </a:pPr>
            <a:r>
              <a:rPr lang="en-US" b="1" dirty="0">
                <a:solidFill>
                  <a:srgbClr val="FFFFFF"/>
                </a:solidFill>
                <a:latin typeface="Cambria" pitchFamily="34" charset="0"/>
                <a:ea typeface="Cambria" pitchFamily="34" charset="-122"/>
                <a:cs typeface="Cambria" pitchFamily="34" charset="-120"/>
              </a:rPr>
              <a:t>Interopérabilité</a:t>
            </a:r>
            <a:endParaRPr lang="en-US" dirty="0"/>
          </a:p>
        </p:txBody>
      </p:sp>
      <p:sp>
        <p:nvSpPr>
          <p:cNvPr id="27" name="Text 20"/>
          <p:cNvSpPr/>
          <p:nvPr/>
        </p:nvSpPr>
        <p:spPr>
          <a:xfrm>
            <a:off x="6096000" y="6620256"/>
            <a:ext cx="3962400" cy="755904"/>
          </a:xfrm>
          <a:prstGeom prst="rect">
            <a:avLst/>
          </a:prstGeom>
          <a:noFill/>
          <a:ln/>
        </p:spPr>
        <p:txBody>
          <a:bodyPr wrap="square" rtlCol="0" anchor="ctr"/>
          <a:lstStyle/>
          <a:p>
            <a:pPr>
              <a:lnSpc>
                <a:spcPct val="115000"/>
              </a:lnSpc>
            </a:pPr>
            <a:r>
              <a:rPr lang="en-US" sz="1400" dirty="0">
                <a:solidFill>
                  <a:srgbClr val="CADCFC"/>
                </a:solidFill>
                <a:latin typeface="Calibri" pitchFamily="34" charset="0"/>
                <a:ea typeface="Calibri" pitchFamily="34" charset="-122"/>
                <a:cs typeface="Calibri" pitchFamily="34" charset="-120"/>
              </a:rPr>
              <a:t>Avec les systèmes nationaux de surveillance, le PHEOC et les futurs outils du ministère</a:t>
            </a:r>
            <a:endParaRPr lang="en-US" sz="1400" dirty="0"/>
          </a:p>
        </p:txBody>
      </p:sp>
      <p:sp>
        <p:nvSpPr>
          <p:cNvPr id="28" name="Text 21"/>
          <p:cNvSpPr/>
          <p:nvPr/>
        </p:nvSpPr>
        <p:spPr>
          <a:xfrm>
            <a:off x="609600" y="8631936"/>
            <a:ext cx="7315200" cy="365760"/>
          </a:xfrm>
          <a:prstGeom prst="rect">
            <a:avLst/>
          </a:prstGeom>
          <a:noFill/>
          <a:ln/>
        </p:spPr>
        <p:txBody>
          <a:bodyPr wrap="square" rtlCol="0" anchor="ctr"/>
          <a:lstStyle/>
          <a:p>
            <a:r>
              <a:rPr lang="en-US" sz="1333" dirty="0">
                <a:solidFill>
                  <a:srgbClr val="CADCFC"/>
                </a:solidFill>
                <a:latin typeface="Calibri" pitchFamily="34" charset="0"/>
                <a:ea typeface="Calibri" pitchFamily="34" charset="-122"/>
                <a:cs typeface="Calibri" pitchFamily="34" charset="-120"/>
              </a:rPr>
              <a:t>ONMNE — Ministère de la Santé</a:t>
            </a:r>
            <a:endParaRPr lang="en-US" sz="1333" dirty="0"/>
          </a:p>
        </p:txBody>
      </p:sp>
      <p:sp>
        <p:nvSpPr>
          <p:cNvPr id="29" name="Text 22"/>
          <p:cNvSpPr/>
          <p:nvPr/>
        </p:nvSpPr>
        <p:spPr>
          <a:xfrm>
            <a:off x="15036393" y="8631936"/>
            <a:ext cx="609600" cy="365760"/>
          </a:xfrm>
          <a:prstGeom prst="rect">
            <a:avLst/>
          </a:prstGeom>
          <a:noFill/>
          <a:ln/>
        </p:spPr>
        <p:txBody>
          <a:bodyPr wrap="square" rtlCol="0" anchor="ctr"/>
          <a:lstStyle/>
          <a:p>
            <a:pPr algn="r"/>
            <a:r>
              <a:rPr lang="en-US" sz="1333" dirty="0">
                <a:solidFill>
                  <a:srgbClr val="CADCFC"/>
                </a:solidFill>
                <a:latin typeface="Calibri" pitchFamily="34" charset="0"/>
                <a:ea typeface="Calibri" pitchFamily="34" charset="-122"/>
                <a:cs typeface="Calibri" pitchFamily="34" charset="-120"/>
              </a:rPr>
              <a:t>16</a:t>
            </a:r>
            <a:endParaRPr lang="en-US" sz="1333"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609600"/>
            <a:ext cx="14508480" cy="853440"/>
          </a:xfrm>
          <a:prstGeom prst="rect">
            <a:avLst/>
          </a:prstGeom>
          <a:noFill/>
          <a:ln/>
        </p:spPr>
        <p:txBody>
          <a:bodyPr wrap="square" rtlCol="0" anchor="ctr"/>
          <a:lstStyle/>
          <a:p>
            <a:r>
              <a:rPr lang="en-US" sz="4000" b="1" dirty="0">
                <a:solidFill>
                  <a:srgbClr val="1E2761"/>
                </a:solidFill>
                <a:latin typeface="Cambria" pitchFamily="34" charset="0"/>
                <a:ea typeface="Cambria" pitchFamily="34" charset="-122"/>
                <a:cs typeface="Cambria" pitchFamily="34" charset="-120"/>
              </a:rPr>
              <a:t>Bénéfices attendus</a:t>
            </a:r>
            <a:endParaRPr lang="en-US" sz="4000" dirty="0"/>
          </a:p>
        </p:txBody>
      </p:sp>
      <p:sp>
        <p:nvSpPr>
          <p:cNvPr id="3" name="Shape 1"/>
          <p:cNvSpPr/>
          <p:nvPr/>
        </p:nvSpPr>
        <p:spPr>
          <a:xfrm>
            <a:off x="853440" y="1706880"/>
            <a:ext cx="4693920" cy="6583680"/>
          </a:xfrm>
          <a:prstGeom prst="roundRect">
            <a:avLst>
              <a:gd name="adj" fmla="val 2078"/>
            </a:avLst>
          </a:prstGeom>
          <a:solidFill>
            <a:srgbClr val="1E2761"/>
          </a:solidFill>
          <a:ln/>
        </p:spPr>
        <p:txBody>
          <a:bodyPr/>
          <a:lstStyle/>
          <a:p>
            <a:endParaRPr lang="ar-TN" sz="2400"/>
          </a:p>
        </p:txBody>
      </p:sp>
      <p:sp>
        <p:nvSpPr>
          <p:cNvPr id="4" name="Shape 2"/>
          <p:cNvSpPr/>
          <p:nvPr/>
        </p:nvSpPr>
        <p:spPr>
          <a:xfrm>
            <a:off x="2712720" y="2133600"/>
            <a:ext cx="975360" cy="975360"/>
          </a:xfrm>
          <a:prstGeom prst="ellipse">
            <a:avLst/>
          </a:prstGeom>
          <a:solidFill>
            <a:srgbClr val="CADCFC"/>
          </a:solidFill>
          <a:ln/>
        </p:spPr>
        <p:txBody>
          <a:bodyPr/>
          <a:lstStyle/>
          <a:p>
            <a:endParaRPr lang="ar-TN" sz="2400"/>
          </a:p>
        </p:txBody>
      </p:sp>
      <p:pic>
        <p:nvPicPr>
          <p:cNvPr id="5" name="Image 0" descr="/home/claude/pptx_project/icons/hospital_navy.png"/>
          <p:cNvPicPr>
            <a:picLocks noChangeAspect="1"/>
          </p:cNvPicPr>
          <p:nvPr/>
        </p:nvPicPr>
        <p:blipFill>
          <a:blip r:embed="rId3"/>
          <a:stretch>
            <a:fillRect/>
          </a:stretch>
        </p:blipFill>
        <p:spPr>
          <a:xfrm>
            <a:off x="2839518" y="2260398"/>
            <a:ext cx="721767" cy="721767"/>
          </a:xfrm>
          <a:prstGeom prst="rect">
            <a:avLst/>
          </a:prstGeom>
        </p:spPr>
      </p:pic>
      <p:sp>
        <p:nvSpPr>
          <p:cNvPr id="6" name="Text 3"/>
          <p:cNvSpPr/>
          <p:nvPr/>
        </p:nvSpPr>
        <p:spPr>
          <a:xfrm>
            <a:off x="1097280" y="3352800"/>
            <a:ext cx="4206240" cy="609600"/>
          </a:xfrm>
          <a:prstGeom prst="rect">
            <a:avLst/>
          </a:prstGeom>
          <a:noFill/>
          <a:ln/>
        </p:spPr>
        <p:txBody>
          <a:bodyPr wrap="square" rtlCol="0" anchor="ctr"/>
          <a:lstStyle/>
          <a:p>
            <a:pPr algn="ctr"/>
            <a:r>
              <a:rPr lang="en-US" sz="2133" b="1" dirty="0">
                <a:solidFill>
                  <a:srgbClr val="FFFFFF"/>
                </a:solidFill>
                <a:latin typeface="Cambria" pitchFamily="34" charset="0"/>
                <a:ea typeface="Cambria" pitchFamily="34" charset="-122"/>
                <a:cs typeface="Cambria" pitchFamily="34" charset="-120"/>
              </a:rPr>
              <a:t>Pour le Ministère</a:t>
            </a:r>
            <a:endParaRPr lang="en-US" sz="2133" dirty="0"/>
          </a:p>
        </p:txBody>
      </p:sp>
      <p:sp>
        <p:nvSpPr>
          <p:cNvPr id="7" name="Shape 4"/>
          <p:cNvSpPr/>
          <p:nvPr/>
        </p:nvSpPr>
        <p:spPr>
          <a:xfrm>
            <a:off x="1219200" y="4267200"/>
            <a:ext cx="146304" cy="146304"/>
          </a:xfrm>
          <a:prstGeom prst="ellipse">
            <a:avLst/>
          </a:prstGeom>
          <a:solidFill>
            <a:srgbClr val="CADCFC"/>
          </a:solidFill>
          <a:ln/>
        </p:spPr>
        <p:txBody>
          <a:bodyPr/>
          <a:lstStyle/>
          <a:p>
            <a:endParaRPr lang="ar-TN" sz="2400"/>
          </a:p>
        </p:txBody>
      </p:sp>
      <p:sp>
        <p:nvSpPr>
          <p:cNvPr id="8" name="Text 5"/>
          <p:cNvSpPr/>
          <p:nvPr/>
        </p:nvSpPr>
        <p:spPr>
          <a:xfrm>
            <a:off x="1524000" y="4047744"/>
            <a:ext cx="3718560" cy="914400"/>
          </a:xfrm>
          <a:prstGeom prst="rect">
            <a:avLst/>
          </a:prstGeom>
          <a:noFill/>
          <a:ln/>
        </p:spPr>
        <p:txBody>
          <a:bodyPr wrap="square" rtlCol="0" anchor="ctr"/>
          <a:lstStyle/>
          <a:p>
            <a:pPr>
              <a:lnSpc>
                <a:spcPct val="115000"/>
              </a:lnSpc>
            </a:pPr>
            <a:r>
              <a:rPr lang="en-US" sz="1667" dirty="0">
                <a:solidFill>
                  <a:srgbClr val="FFFFFF"/>
                </a:solidFill>
                <a:latin typeface="Calibri" pitchFamily="34" charset="0"/>
                <a:ea typeface="Calibri" pitchFamily="34" charset="-122"/>
                <a:cs typeface="Calibri" pitchFamily="34" charset="-120"/>
              </a:rPr>
              <a:t>Meilleure anticipation des crises</a:t>
            </a:r>
            <a:endParaRPr lang="en-US" sz="1667" dirty="0"/>
          </a:p>
        </p:txBody>
      </p:sp>
      <p:sp>
        <p:nvSpPr>
          <p:cNvPr id="9" name="Shape 6"/>
          <p:cNvSpPr/>
          <p:nvPr/>
        </p:nvSpPr>
        <p:spPr>
          <a:xfrm>
            <a:off x="1219200" y="5425440"/>
            <a:ext cx="146304" cy="146304"/>
          </a:xfrm>
          <a:prstGeom prst="ellipse">
            <a:avLst/>
          </a:prstGeom>
          <a:solidFill>
            <a:srgbClr val="CADCFC"/>
          </a:solidFill>
          <a:ln/>
        </p:spPr>
        <p:txBody>
          <a:bodyPr/>
          <a:lstStyle/>
          <a:p>
            <a:endParaRPr lang="ar-TN" sz="2400"/>
          </a:p>
        </p:txBody>
      </p:sp>
      <p:sp>
        <p:nvSpPr>
          <p:cNvPr id="10" name="Text 7"/>
          <p:cNvSpPr/>
          <p:nvPr/>
        </p:nvSpPr>
        <p:spPr>
          <a:xfrm>
            <a:off x="1524000" y="5205984"/>
            <a:ext cx="3718560" cy="914400"/>
          </a:xfrm>
          <a:prstGeom prst="rect">
            <a:avLst/>
          </a:prstGeom>
          <a:noFill/>
          <a:ln/>
        </p:spPr>
        <p:txBody>
          <a:bodyPr wrap="square" rtlCol="0" anchor="ctr"/>
          <a:lstStyle/>
          <a:p>
            <a:pPr>
              <a:lnSpc>
                <a:spcPct val="115000"/>
              </a:lnSpc>
            </a:pPr>
            <a:r>
              <a:rPr lang="en-US" sz="1667" dirty="0">
                <a:solidFill>
                  <a:srgbClr val="FFFFFF"/>
                </a:solidFill>
                <a:latin typeface="Calibri" pitchFamily="34" charset="0"/>
                <a:ea typeface="Calibri" pitchFamily="34" charset="-122"/>
                <a:cs typeface="Calibri" pitchFamily="34" charset="-120"/>
              </a:rPr>
              <a:t>Décisions plus rapides et mieux ciblées</a:t>
            </a:r>
            <a:endParaRPr lang="en-US" sz="1667" dirty="0"/>
          </a:p>
        </p:txBody>
      </p:sp>
      <p:sp>
        <p:nvSpPr>
          <p:cNvPr id="11" name="Shape 8"/>
          <p:cNvSpPr/>
          <p:nvPr/>
        </p:nvSpPr>
        <p:spPr>
          <a:xfrm>
            <a:off x="1219200" y="6583680"/>
            <a:ext cx="146304" cy="146304"/>
          </a:xfrm>
          <a:prstGeom prst="ellipse">
            <a:avLst/>
          </a:prstGeom>
          <a:solidFill>
            <a:srgbClr val="CADCFC"/>
          </a:solidFill>
          <a:ln/>
        </p:spPr>
        <p:txBody>
          <a:bodyPr/>
          <a:lstStyle/>
          <a:p>
            <a:endParaRPr lang="ar-TN" sz="2400"/>
          </a:p>
        </p:txBody>
      </p:sp>
      <p:sp>
        <p:nvSpPr>
          <p:cNvPr id="12" name="Text 9"/>
          <p:cNvSpPr/>
          <p:nvPr/>
        </p:nvSpPr>
        <p:spPr>
          <a:xfrm>
            <a:off x="1524000" y="6364224"/>
            <a:ext cx="3718560" cy="914400"/>
          </a:xfrm>
          <a:prstGeom prst="rect">
            <a:avLst/>
          </a:prstGeom>
          <a:noFill/>
          <a:ln/>
        </p:spPr>
        <p:txBody>
          <a:bodyPr wrap="square" rtlCol="0" anchor="ctr"/>
          <a:lstStyle/>
          <a:p>
            <a:pPr>
              <a:lnSpc>
                <a:spcPct val="115000"/>
              </a:lnSpc>
            </a:pPr>
            <a:r>
              <a:rPr lang="en-US" sz="1667" dirty="0">
                <a:solidFill>
                  <a:srgbClr val="FFFFFF"/>
                </a:solidFill>
                <a:latin typeface="Calibri" pitchFamily="34" charset="0"/>
                <a:ea typeface="Calibri" pitchFamily="34" charset="-122"/>
                <a:cs typeface="Calibri" pitchFamily="34" charset="-120"/>
              </a:rPr>
              <a:t>Coordination renforcée entre secteurs</a:t>
            </a:r>
            <a:endParaRPr lang="en-US" sz="1667" dirty="0"/>
          </a:p>
        </p:txBody>
      </p:sp>
      <p:sp>
        <p:nvSpPr>
          <p:cNvPr id="13" name="Shape 10"/>
          <p:cNvSpPr/>
          <p:nvPr/>
        </p:nvSpPr>
        <p:spPr>
          <a:xfrm>
            <a:off x="5852160" y="1706880"/>
            <a:ext cx="4693920" cy="6583680"/>
          </a:xfrm>
          <a:prstGeom prst="roundRect">
            <a:avLst>
              <a:gd name="adj" fmla="val 2078"/>
            </a:avLst>
          </a:prstGeom>
          <a:solidFill>
            <a:srgbClr val="F4F6FB"/>
          </a:solidFill>
          <a:ln/>
        </p:spPr>
        <p:txBody>
          <a:bodyPr/>
          <a:lstStyle/>
          <a:p>
            <a:endParaRPr lang="ar-TN" sz="2400"/>
          </a:p>
        </p:txBody>
      </p:sp>
      <p:sp>
        <p:nvSpPr>
          <p:cNvPr id="14" name="Shape 11"/>
          <p:cNvSpPr/>
          <p:nvPr/>
        </p:nvSpPr>
        <p:spPr>
          <a:xfrm>
            <a:off x="7711440" y="2133600"/>
            <a:ext cx="975360" cy="975360"/>
          </a:xfrm>
          <a:prstGeom prst="ellipse">
            <a:avLst/>
          </a:prstGeom>
          <a:solidFill>
            <a:srgbClr val="1E2761"/>
          </a:solidFill>
          <a:ln/>
        </p:spPr>
        <p:txBody>
          <a:bodyPr/>
          <a:lstStyle/>
          <a:p>
            <a:endParaRPr lang="ar-TN" sz="2400"/>
          </a:p>
        </p:txBody>
      </p:sp>
      <p:pic>
        <p:nvPicPr>
          <p:cNvPr id="15" name="Image 1" descr="/home/claude/pptx_project/icons/users_white.png"/>
          <p:cNvPicPr>
            <a:picLocks noChangeAspect="1"/>
          </p:cNvPicPr>
          <p:nvPr/>
        </p:nvPicPr>
        <p:blipFill>
          <a:blip r:embed="rId4"/>
          <a:stretch>
            <a:fillRect/>
          </a:stretch>
        </p:blipFill>
        <p:spPr>
          <a:xfrm>
            <a:off x="7838238" y="2260398"/>
            <a:ext cx="721767" cy="721767"/>
          </a:xfrm>
          <a:prstGeom prst="rect">
            <a:avLst/>
          </a:prstGeom>
        </p:spPr>
      </p:pic>
      <p:sp>
        <p:nvSpPr>
          <p:cNvPr id="16" name="Text 12"/>
          <p:cNvSpPr/>
          <p:nvPr/>
        </p:nvSpPr>
        <p:spPr>
          <a:xfrm>
            <a:off x="6096000" y="3352800"/>
            <a:ext cx="4206240" cy="609600"/>
          </a:xfrm>
          <a:prstGeom prst="rect">
            <a:avLst/>
          </a:prstGeom>
          <a:noFill/>
          <a:ln/>
        </p:spPr>
        <p:txBody>
          <a:bodyPr wrap="square" rtlCol="0" anchor="ctr"/>
          <a:lstStyle/>
          <a:p>
            <a:pPr algn="ctr"/>
            <a:r>
              <a:rPr lang="en-US" sz="2133" b="1" dirty="0">
                <a:solidFill>
                  <a:srgbClr val="1E2761"/>
                </a:solidFill>
                <a:latin typeface="Cambria" pitchFamily="34" charset="0"/>
                <a:ea typeface="Cambria" pitchFamily="34" charset="-122"/>
                <a:cs typeface="Cambria" pitchFamily="34" charset="-120"/>
              </a:rPr>
              <a:t>Pour les citoyens</a:t>
            </a:r>
            <a:endParaRPr lang="en-US" sz="2133" dirty="0"/>
          </a:p>
        </p:txBody>
      </p:sp>
      <p:sp>
        <p:nvSpPr>
          <p:cNvPr id="17" name="Shape 13"/>
          <p:cNvSpPr/>
          <p:nvPr/>
        </p:nvSpPr>
        <p:spPr>
          <a:xfrm>
            <a:off x="6217920" y="4267200"/>
            <a:ext cx="146304" cy="146304"/>
          </a:xfrm>
          <a:prstGeom prst="ellipse">
            <a:avLst/>
          </a:prstGeom>
          <a:solidFill>
            <a:srgbClr val="1E2761"/>
          </a:solidFill>
          <a:ln/>
        </p:spPr>
        <p:txBody>
          <a:bodyPr/>
          <a:lstStyle/>
          <a:p>
            <a:endParaRPr lang="ar-TN" sz="2400"/>
          </a:p>
        </p:txBody>
      </p:sp>
      <p:sp>
        <p:nvSpPr>
          <p:cNvPr id="18" name="Text 14"/>
          <p:cNvSpPr/>
          <p:nvPr/>
        </p:nvSpPr>
        <p:spPr>
          <a:xfrm>
            <a:off x="6522720" y="4047744"/>
            <a:ext cx="3718560" cy="914400"/>
          </a:xfrm>
          <a:prstGeom prst="rect">
            <a:avLst/>
          </a:prstGeom>
          <a:noFill/>
          <a:ln/>
        </p:spPr>
        <p:txBody>
          <a:bodyPr wrap="square" rtlCol="0" anchor="ctr"/>
          <a:lstStyle/>
          <a:p>
            <a:pPr>
              <a:lnSpc>
                <a:spcPct val="115000"/>
              </a:lnSpc>
            </a:pPr>
            <a:r>
              <a:rPr lang="en-US" sz="1667" dirty="0">
                <a:solidFill>
                  <a:srgbClr val="1A1A2E"/>
                </a:solidFill>
                <a:latin typeface="Calibri" pitchFamily="34" charset="0"/>
                <a:ea typeface="Calibri" pitchFamily="34" charset="-122"/>
                <a:cs typeface="Calibri" pitchFamily="34" charset="-120"/>
              </a:rPr>
              <a:t>Accès à une information fiable</a:t>
            </a:r>
            <a:endParaRPr lang="en-US" sz="1667" dirty="0"/>
          </a:p>
        </p:txBody>
      </p:sp>
      <p:sp>
        <p:nvSpPr>
          <p:cNvPr id="19" name="Shape 15"/>
          <p:cNvSpPr/>
          <p:nvPr/>
        </p:nvSpPr>
        <p:spPr>
          <a:xfrm>
            <a:off x="6217920" y="5425440"/>
            <a:ext cx="146304" cy="146304"/>
          </a:xfrm>
          <a:prstGeom prst="ellipse">
            <a:avLst/>
          </a:prstGeom>
          <a:solidFill>
            <a:srgbClr val="1E2761"/>
          </a:solidFill>
          <a:ln/>
        </p:spPr>
        <p:txBody>
          <a:bodyPr/>
          <a:lstStyle/>
          <a:p>
            <a:endParaRPr lang="ar-TN" sz="2400"/>
          </a:p>
        </p:txBody>
      </p:sp>
      <p:sp>
        <p:nvSpPr>
          <p:cNvPr id="20" name="Text 16"/>
          <p:cNvSpPr/>
          <p:nvPr/>
        </p:nvSpPr>
        <p:spPr>
          <a:xfrm>
            <a:off x="6522720" y="5205984"/>
            <a:ext cx="3718560" cy="914400"/>
          </a:xfrm>
          <a:prstGeom prst="rect">
            <a:avLst/>
          </a:prstGeom>
          <a:noFill/>
          <a:ln/>
        </p:spPr>
        <p:txBody>
          <a:bodyPr wrap="square" rtlCol="0" anchor="ctr"/>
          <a:lstStyle/>
          <a:p>
            <a:pPr>
              <a:lnSpc>
                <a:spcPct val="115000"/>
              </a:lnSpc>
            </a:pPr>
            <a:r>
              <a:rPr lang="en-US" sz="1667" dirty="0">
                <a:solidFill>
                  <a:srgbClr val="1A1A2E"/>
                </a:solidFill>
                <a:latin typeface="Calibri" pitchFamily="34" charset="0"/>
                <a:ea typeface="Calibri" pitchFamily="34" charset="-122"/>
                <a:cs typeface="Calibri" pitchFamily="34" charset="-120"/>
              </a:rPr>
              <a:t>Amélioration de la confiance</a:t>
            </a:r>
            <a:endParaRPr lang="en-US" sz="1667" dirty="0"/>
          </a:p>
        </p:txBody>
      </p:sp>
      <p:sp>
        <p:nvSpPr>
          <p:cNvPr id="21" name="Shape 17"/>
          <p:cNvSpPr/>
          <p:nvPr/>
        </p:nvSpPr>
        <p:spPr>
          <a:xfrm>
            <a:off x="6217920" y="6583680"/>
            <a:ext cx="146304" cy="146304"/>
          </a:xfrm>
          <a:prstGeom prst="ellipse">
            <a:avLst/>
          </a:prstGeom>
          <a:solidFill>
            <a:srgbClr val="1E2761"/>
          </a:solidFill>
          <a:ln/>
        </p:spPr>
        <p:txBody>
          <a:bodyPr/>
          <a:lstStyle/>
          <a:p>
            <a:endParaRPr lang="ar-TN" sz="2400"/>
          </a:p>
        </p:txBody>
      </p:sp>
      <p:sp>
        <p:nvSpPr>
          <p:cNvPr id="22" name="Text 18"/>
          <p:cNvSpPr/>
          <p:nvPr/>
        </p:nvSpPr>
        <p:spPr>
          <a:xfrm>
            <a:off x="6522720" y="6364224"/>
            <a:ext cx="3718560" cy="914400"/>
          </a:xfrm>
          <a:prstGeom prst="rect">
            <a:avLst/>
          </a:prstGeom>
          <a:noFill/>
          <a:ln/>
        </p:spPr>
        <p:txBody>
          <a:bodyPr wrap="square" rtlCol="0" anchor="ctr"/>
          <a:lstStyle/>
          <a:p>
            <a:pPr>
              <a:lnSpc>
                <a:spcPct val="115000"/>
              </a:lnSpc>
            </a:pPr>
            <a:r>
              <a:rPr lang="en-US" sz="1667" dirty="0">
                <a:solidFill>
                  <a:srgbClr val="1A1A2E"/>
                </a:solidFill>
                <a:latin typeface="Calibri" pitchFamily="34" charset="0"/>
                <a:ea typeface="Calibri" pitchFamily="34" charset="-122"/>
                <a:cs typeface="Calibri" pitchFamily="34" charset="-120"/>
              </a:rPr>
              <a:t>Meilleure adhésion aux mesures de santé publique</a:t>
            </a:r>
            <a:endParaRPr lang="en-US" sz="1667" dirty="0"/>
          </a:p>
        </p:txBody>
      </p:sp>
      <p:sp>
        <p:nvSpPr>
          <p:cNvPr id="23" name="Shape 19"/>
          <p:cNvSpPr/>
          <p:nvPr/>
        </p:nvSpPr>
        <p:spPr>
          <a:xfrm>
            <a:off x="10850880" y="1706880"/>
            <a:ext cx="4693920" cy="6583680"/>
          </a:xfrm>
          <a:prstGeom prst="roundRect">
            <a:avLst>
              <a:gd name="adj" fmla="val 2078"/>
            </a:avLst>
          </a:prstGeom>
          <a:solidFill>
            <a:srgbClr val="F4F6FB"/>
          </a:solidFill>
          <a:ln/>
        </p:spPr>
        <p:txBody>
          <a:bodyPr/>
          <a:lstStyle/>
          <a:p>
            <a:endParaRPr lang="ar-TN" sz="2400"/>
          </a:p>
        </p:txBody>
      </p:sp>
      <p:sp>
        <p:nvSpPr>
          <p:cNvPr id="24" name="Shape 20"/>
          <p:cNvSpPr/>
          <p:nvPr/>
        </p:nvSpPr>
        <p:spPr>
          <a:xfrm>
            <a:off x="12710160" y="2133600"/>
            <a:ext cx="975360" cy="975360"/>
          </a:xfrm>
          <a:prstGeom prst="ellipse">
            <a:avLst/>
          </a:prstGeom>
          <a:solidFill>
            <a:srgbClr val="1E2761"/>
          </a:solidFill>
          <a:ln/>
        </p:spPr>
        <p:txBody>
          <a:bodyPr/>
          <a:lstStyle/>
          <a:p>
            <a:endParaRPr lang="ar-TN" sz="2400"/>
          </a:p>
        </p:txBody>
      </p:sp>
      <p:pic>
        <p:nvPicPr>
          <p:cNvPr id="25" name="Image 2" descr="/home/claude/pptx_project/icons/shield_white.png"/>
          <p:cNvPicPr>
            <a:picLocks noChangeAspect="1"/>
          </p:cNvPicPr>
          <p:nvPr/>
        </p:nvPicPr>
        <p:blipFill>
          <a:blip r:embed="rId5"/>
          <a:stretch>
            <a:fillRect/>
          </a:stretch>
        </p:blipFill>
        <p:spPr>
          <a:xfrm>
            <a:off x="12836958" y="2260398"/>
            <a:ext cx="721767" cy="721767"/>
          </a:xfrm>
          <a:prstGeom prst="rect">
            <a:avLst/>
          </a:prstGeom>
        </p:spPr>
      </p:pic>
      <p:sp>
        <p:nvSpPr>
          <p:cNvPr id="26" name="Text 21"/>
          <p:cNvSpPr/>
          <p:nvPr/>
        </p:nvSpPr>
        <p:spPr>
          <a:xfrm>
            <a:off x="11094720" y="3352800"/>
            <a:ext cx="4206240" cy="609600"/>
          </a:xfrm>
          <a:prstGeom prst="rect">
            <a:avLst/>
          </a:prstGeom>
          <a:noFill/>
          <a:ln/>
        </p:spPr>
        <p:txBody>
          <a:bodyPr wrap="square" rtlCol="0" anchor="ctr"/>
          <a:lstStyle/>
          <a:p>
            <a:pPr algn="ctr"/>
            <a:r>
              <a:rPr lang="en-US" sz="2133" b="1" dirty="0">
                <a:solidFill>
                  <a:srgbClr val="1E2761"/>
                </a:solidFill>
                <a:latin typeface="Cambria" pitchFamily="34" charset="0"/>
                <a:ea typeface="Cambria" pitchFamily="34" charset="-122"/>
                <a:cs typeface="Cambria" pitchFamily="34" charset="-120"/>
              </a:rPr>
              <a:t>Pour le système de santé</a:t>
            </a:r>
            <a:endParaRPr lang="en-US" sz="2133" dirty="0"/>
          </a:p>
        </p:txBody>
      </p:sp>
      <p:sp>
        <p:nvSpPr>
          <p:cNvPr id="27" name="Shape 22"/>
          <p:cNvSpPr/>
          <p:nvPr/>
        </p:nvSpPr>
        <p:spPr>
          <a:xfrm>
            <a:off x="11216640" y="4267200"/>
            <a:ext cx="146304" cy="146304"/>
          </a:xfrm>
          <a:prstGeom prst="ellipse">
            <a:avLst/>
          </a:prstGeom>
          <a:solidFill>
            <a:srgbClr val="1E2761"/>
          </a:solidFill>
          <a:ln/>
        </p:spPr>
        <p:txBody>
          <a:bodyPr/>
          <a:lstStyle/>
          <a:p>
            <a:endParaRPr lang="ar-TN" sz="2400"/>
          </a:p>
        </p:txBody>
      </p:sp>
      <p:sp>
        <p:nvSpPr>
          <p:cNvPr id="28" name="Text 23"/>
          <p:cNvSpPr/>
          <p:nvPr/>
        </p:nvSpPr>
        <p:spPr>
          <a:xfrm>
            <a:off x="11521440" y="4047744"/>
            <a:ext cx="3718560" cy="914400"/>
          </a:xfrm>
          <a:prstGeom prst="rect">
            <a:avLst/>
          </a:prstGeom>
          <a:noFill/>
          <a:ln/>
        </p:spPr>
        <p:txBody>
          <a:bodyPr wrap="square" rtlCol="0" anchor="ctr"/>
          <a:lstStyle/>
          <a:p>
            <a:pPr>
              <a:lnSpc>
                <a:spcPct val="115000"/>
              </a:lnSpc>
            </a:pPr>
            <a:r>
              <a:rPr lang="en-US" sz="1667" dirty="0">
                <a:solidFill>
                  <a:srgbClr val="1A1A2E"/>
                </a:solidFill>
                <a:latin typeface="Calibri" pitchFamily="34" charset="0"/>
                <a:ea typeface="Calibri" pitchFamily="34" charset="-122"/>
                <a:cs typeface="Calibri" pitchFamily="34" charset="-120"/>
              </a:rPr>
              <a:t>Renforcement de la résilience</a:t>
            </a:r>
            <a:endParaRPr lang="en-US" sz="1667" dirty="0"/>
          </a:p>
        </p:txBody>
      </p:sp>
      <p:sp>
        <p:nvSpPr>
          <p:cNvPr id="29" name="Shape 24"/>
          <p:cNvSpPr/>
          <p:nvPr/>
        </p:nvSpPr>
        <p:spPr>
          <a:xfrm>
            <a:off x="11216640" y="5425440"/>
            <a:ext cx="146304" cy="146304"/>
          </a:xfrm>
          <a:prstGeom prst="ellipse">
            <a:avLst/>
          </a:prstGeom>
          <a:solidFill>
            <a:srgbClr val="1E2761"/>
          </a:solidFill>
          <a:ln/>
        </p:spPr>
        <p:txBody>
          <a:bodyPr/>
          <a:lstStyle/>
          <a:p>
            <a:endParaRPr lang="ar-TN" sz="2400"/>
          </a:p>
        </p:txBody>
      </p:sp>
      <p:sp>
        <p:nvSpPr>
          <p:cNvPr id="30" name="Text 25"/>
          <p:cNvSpPr/>
          <p:nvPr/>
        </p:nvSpPr>
        <p:spPr>
          <a:xfrm>
            <a:off x="11521440" y="5205984"/>
            <a:ext cx="3718560" cy="914400"/>
          </a:xfrm>
          <a:prstGeom prst="rect">
            <a:avLst/>
          </a:prstGeom>
          <a:noFill/>
          <a:ln/>
        </p:spPr>
        <p:txBody>
          <a:bodyPr wrap="square" rtlCol="0" anchor="ctr"/>
          <a:lstStyle/>
          <a:p>
            <a:pPr>
              <a:lnSpc>
                <a:spcPct val="115000"/>
              </a:lnSpc>
            </a:pPr>
            <a:r>
              <a:rPr lang="en-US" sz="1667" dirty="0">
                <a:solidFill>
                  <a:srgbClr val="1A1A2E"/>
                </a:solidFill>
                <a:latin typeface="Calibri" pitchFamily="34" charset="0"/>
                <a:ea typeface="Calibri" pitchFamily="34" charset="-122"/>
                <a:cs typeface="Calibri" pitchFamily="34" charset="-120"/>
              </a:rPr>
              <a:t>Meilleure préparation aux urgences</a:t>
            </a:r>
            <a:endParaRPr lang="en-US" sz="1667" dirty="0"/>
          </a:p>
        </p:txBody>
      </p:sp>
      <p:sp>
        <p:nvSpPr>
          <p:cNvPr id="31" name="Shape 26"/>
          <p:cNvSpPr/>
          <p:nvPr/>
        </p:nvSpPr>
        <p:spPr>
          <a:xfrm>
            <a:off x="11216640" y="6583680"/>
            <a:ext cx="146304" cy="146304"/>
          </a:xfrm>
          <a:prstGeom prst="ellipse">
            <a:avLst/>
          </a:prstGeom>
          <a:solidFill>
            <a:srgbClr val="1E2761"/>
          </a:solidFill>
          <a:ln/>
        </p:spPr>
        <p:txBody>
          <a:bodyPr/>
          <a:lstStyle/>
          <a:p>
            <a:endParaRPr lang="ar-TN" sz="2400"/>
          </a:p>
        </p:txBody>
      </p:sp>
      <p:sp>
        <p:nvSpPr>
          <p:cNvPr id="32" name="Text 27"/>
          <p:cNvSpPr/>
          <p:nvPr/>
        </p:nvSpPr>
        <p:spPr>
          <a:xfrm>
            <a:off x="11521440" y="6364224"/>
            <a:ext cx="3718560" cy="914400"/>
          </a:xfrm>
          <a:prstGeom prst="rect">
            <a:avLst/>
          </a:prstGeom>
          <a:noFill/>
          <a:ln/>
        </p:spPr>
        <p:txBody>
          <a:bodyPr wrap="square" rtlCol="0" anchor="ctr"/>
          <a:lstStyle/>
          <a:p>
            <a:pPr>
              <a:lnSpc>
                <a:spcPct val="115000"/>
              </a:lnSpc>
            </a:pPr>
            <a:r>
              <a:rPr lang="en-US" sz="1667" dirty="0">
                <a:solidFill>
                  <a:srgbClr val="1A1A2E"/>
                </a:solidFill>
                <a:latin typeface="Calibri" pitchFamily="34" charset="0"/>
                <a:ea typeface="Calibri" pitchFamily="34" charset="-122"/>
                <a:cs typeface="Calibri" pitchFamily="34" charset="-120"/>
              </a:rPr>
              <a:t>Intégration durable de l'intelligence sanitaire</a:t>
            </a:r>
            <a:endParaRPr lang="en-US" sz="1667" dirty="0"/>
          </a:p>
        </p:txBody>
      </p:sp>
      <p:sp>
        <p:nvSpPr>
          <p:cNvPr id="33" name="Text 28"/>
          <p:cNvSpPr/>
          <p:nvPr/>
        </p:nvSpPr>
        <p:spPr>
          <a:xfrm>
            <a:off x="609600" y="8631936"/>
            <a:ext cx="7315200" cy="365760"/>
          </a:xfrm>
          <a:prstGeom prst="rect">
            <a:avLst/>
          </a:prstGeom>
          <a:noFill/>
          <a:ln/>
        </p:spPr>
        <p:txBody>
          <a:bodyPr wrap="square" rtlCol="0" anchor="ctr"/>
          <a:lstStyle/>
          <a:p>
            <a:r>
              <a:rPr lang="en-US" sz="1333" dirty="0">
                <a:solidFill>
                  <a:srgbClr val="5B6472"/>
                </a:solidFill>
                <a:latin typeface="Calibri" pitchFamily="34" charset="0"/>
                <a:ea typeface="Calibri" pitchFamily="34" charset="-122"/>
                <a:cs typeface="Calibri" pitchFamily="34" charset="-120"/>
              </a:rPr>
              <a:t>ONMNE — Ministère de la Santé</a:t>
            </a:r>
            <a:endParaRPr lang="en-US" sz="1333" dirty="0"/>
          </a:p>
        </p:txBody>
      </p:sp>
      <p:sp>
        <p:nvSpPr>
          <p:cNvPr id="34" name="Text 29"/>
          <p:cNvSpPr/>
          <p:nvPr/>
        </p:nvSpPr>
        <p:spPr>
          <a:xfrm>
            <a:off x="15036393" y="8631936"/>
            <a:ext cx="609600" cy="365760"/>
          </a:xfrm>
          <a:prstGeom prst="rect">
            <a:avLst/>
          </a:prstGeom>
          <a:noFill/>
          <a:ln/>
        </p:spPr>
        <p:txBody>
          <a:bodyPr wrap="square" rtlCol="0" anchor="ctr"/>
          <a:lstStyle/>
          <a:p>
            <a:pPr algn="r"/>
            <a:r>
              <a:rPr lang="en-US" sz="1333" dirty="0">
                <a:solidFill>
                  <a:srgbClr val="5B6472"/>
                </a:solidFill>
                <a:latin typeface="Calibri" pitchFamily="34" charset="0"/>
                <a:ea typeface="Calibri" pitchFamily="34" charset="-122"/>
                <a:cs typeface="Calibri" pitchFamily="34" charset="-120"/>
              </a:rPr>
              <a:t>17</a:t>
            </a:r>
            <a:endParaRPr lang="en-US" sz="1333"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396277" y="1097280"/>
            <a:ext cx="1463040" cy="1463040"/>
          </a:xfrm>
          <a:prstGeom prst="ellipse">
            <a:avLst/>
          </a:prstGeom>
          <a:solidFill>
            <a:srgbClr val="CADCFC"/>
          </a:solidFill>
          <a:ln/>
        </p:spPr>
        <p:txBody>
          <a:bodyPr/>
          <a:lstStyle/>
          <a:p>
            <a:endParaRPr lang="ar-TN" sz="2400"/>
          </a:p>
        </p:txBody>
      </p:sp>
      <p:pic>
        <p:nvPicPr>
          <p:cNvPr id="3" name="Image 0" descr="/home/claude/pptx_project/icons/shield_navy.png"/>
          <p:cNvPicPr>
            <a:picLocks noChangeAspect="1"/>
          </p:cNvPicPr>
          <p:nvPr/>
        </p:nvPicPr>
        <p:blipFill>
          <a:blip r:embed="rId3"/>
          <a:stretch>
            <a:fillRect/>
          </a:stretch>
        </p:blipFill>
        <p:spPr>
          <a:xfrm>
            <a:off x="7586473" y="1287476"/>
            <a:ext cx="1082649" cy="1082649"/>
          </a:xfrm>
          <a:prstGeom prst="rect">
            <a:avLst/>
          </a:prstGeom>
        </p:spPr>
      </p:pic>
      <p:sp>
        <p:nvSpPr>
          <p:cNvPr id="4" name="Text 1"/>
          <p:cNvSpPr/>
          <p:nvPr/>
        </p:nvSpPr>
        <p:spPr>
          <a:xfrm>
            <a:off x="1219200" y="2865120"/>
            <a:ext cx="13776960" cy="853440"/>
          </a:xfrm>
          <a:prstGeom prst="rect">
            <a:avLst/>
          </a:prstGeom>
          <a:noFill/>
          <a:ln/>
        </p:spPr>
        <p:txBody>
          <a:bodyPr wrap="square" rtlCol="0" anchor="ctr"/>
          <a:lstStyle/>
          <a:p>
            <a:pPr algn="ctr"/>
            <a:r>
              <a:rPr lang="en-US" sz="3733" b="1" dirty="0">
                <a:solidFill>
                  <a:srgbClr val="FFFFFF"/>
                </a:solidFill>
                <a:latin typeface="Cambria" pitchFamily="34" charset="0"/>
                <a:ea typeface="Cambria" pitchFamily="34" charset="-122"/>
                <a:cs typeface="Cambria" pitchFamily="34" charset="-120"/>
              </a:rPr>
              <a:t>Bien plus qu'un projet numérique</a:t>
            </a:r>
            <a:endParaRPr lang="en-US" sz="3733" dirty="0"/>
          </a:p>
        </p:txBody>
      </p:sp>
      <p:sp>
        <p:nvSpPr>
          <p:cNvPr id="5" name="Text 2"/>
          <p:cNvSpPr/>
          <p:nvPr/>
        </p:nvSpPr>
        <p:spPr>
          <a:xfrm>
            <a:off x="1950720" y="3901440"/>
            <a:ext cx="12313920" cy="1950720"/>
          </a:xfrm>
          <a:prstGeom prst="rect">
            <a:avLst/>
          </a:prstGeom>
          <a:noFill/>
          <a:ln/>
        </p:spPr>
        <p:txBody>
          <a:bodyPr wrap="square" rtlCol="0" anchor="ctr"/>
          <a:lstStyle/>
          <a:p>
            <a:pPr algn="ctr">
              <a:lnSpc>
                <a:spcPct val="130000"/>
              </a:lnSpc>
            </a:pPr>
            <a:r>
              <a:rPr lang="en-US" sz="2000" dirty="0">
                <a:solidFill>
                  <a:srgbClr val="CADCFC"/>
                </a:solidFill>
                <a:latin typeface="Calibri" pitchFamily="34" charset="0"/>
                <a:ea typeface="Calibri" pitchFamily="34" charset="-122"/>
                <a:cs typeface="Calibri" pitchFamily="34" charset="-120"/>
              </a:rPr>
              <a:t>Une évolution majeure vers un Système National d'Intelligence Sanitaire, intégrant surveillance épidémiologique, gestion de l'infodémie, communication des risques, engagement communautaire et intelligence artificielle au service d'une décision publique fondée sur les preuves.</a:t>
            </a:r>
            <a:endParaRPr lang="en-US" sz="2000" dirty="0"/>
          </a:p>
        </p:txBody>
      </p:sp>
      <p:sp>
        <p:nvSpPr>
          <p:cNvPr id="6" name="Shape 3"/>
          <p:cNvSpPr/>
          <p:nvPr/>
        </p:nvSpPr>
        <p:spPr>
          <a:xfrm>
            <a:off x="6542837" y="6156960"/>
            <a:ext cx="3169920" cy="0"/>
          </a:xfrm>
          <a:prstGeom prst="line">
            <a:avLst/>
          </a:prstGeom>
          <a:noFill/>
          <a:ln w="25400">
            <a:solidFill>
              <a:srgbClr val="CADCFC"/>
            </a:solidFill>
            <a:prstDash val="solid"/>
          </a:ln>
        </p:spPr>
        <p:txBody>
          <a:bodyPr/>
          <a:lstStyle/>
          <a:p>
            <a:endParaRPr lang="ar-TN" sz="2400"/>
          </a:p>
        </p:txBody>
      </p:sp>
      <p:sp>
        <p:nvSpPr>
          <p:cNvPr id="7" name="Text 4"/>
          <p:cNvSpPr/>
          <p:nvPr/>
        </p:nvSpPr>
        <p:spPr>
          <a:xfrm>
            <a:off x="1950720" y="6461760"/>
            <a:ext cx="12313920" cy="1219200"/>
          </a:xfrm>
          <a:prstGeom prst="rect">
            <a:avLst/>
          </a:prstGeom>
          <a:noFill/>
          <a:ln/>
        </p:spPr>
        <p:txBody>
          <a:bodyPr wrap="square" rtlCol="0" anchor="ctr"/>
          <a:lstStyle/>
          <a:p>
            <a:pPr algn="ctr">
              <a:lnSpc>
                <a:spcPct val="125000"/>
              </a:lnSpc>
            </a:pPr>
            <a:r>
              <a:rPr lang="en-US" i="1" dirty="0">
                <a:solidFill>
                  <a:srgbClr val="FFFFFF"/>
                </a:solidFill>
                <a:latin typeface="Calibri" pitchFamily="34" charset="0"/>
                <a:ea typeface="Calibri" pitchFamily="34" charset="-122"/>
                <a:cs typeface="Calibri" pitchFamily="34" charset="-120"/>
              </a:rPr>
              <a:t>En institutionnalisant cette approche, la Tunisie se positionnera parmi les pays pionniers de la Région OMS de la Méditerranée orientale en intelligence sanitaire intégrée.</a:t>
            </a:r>
            <a:endParaRPr lang="en-US" dirty="0"/>
          </a:p>
        </p:txBody>
      </p:sp>
      <p:sp>
        <p:nvSpPr>
          <p:cNvPr id="8" name="Text 5"/>
          <p:cNvSpPr/>
          <p:nvPr/>
        </p:nvSpPr>
        <p:spPr>
          <a:xfrm>
            <a:off x="1219200" y="8351520"/>
            <a:ext cx="13776960" cy="487680"/>
          </a:xfrm>
          <a:prstGeom prst="rect">
            <a:avLst/>
          </a:prstGeom>
          <a:noFill/>
          <a:ln/>
        </p:spPr>
        <p:txBody>
          <a:bodyPr wrap="square" rtlCol="0" anchor="ctr"/>
          <a:lstStyle/>
          <a:p>
            <a:pPr algn="ctr"/>
            <a:r>
              <a:rPr lang="en-US" sz="1600" dirty="0">
                <a:solidFill>
                  <a:srgbClr val="CADCFC"/>
                </a:solidFill>
                <a:latin typeface="Calibri" pitchFamily="34" charset="0"/>
                <a:ea typeface="Calibri" pitchFamily="34" charset="-122"/>
                <a:cs typeface="Calibri" pitchFamily="34" charset="-120"/>
              </a:rPr>
              <a:t>Merci de votre attention — Ministère de la Santé / ONMNE</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EFD2D0E-990C-F7B8-18FA-C5FA435366BB}"/>
              </a:ext>
            </a:extLst>
          </p:cNvPr>
          <p:cNvPicPr>
            <a:picLocks noChangeAspect="1"/>
          </p:cNvPicPr>
          <p:nvPr/>
        </p:nvPicPr>
        <p:blipFill>
          <a:blip r:embed="rId2"/>
          <a:stretch>
            <a:fillRect/>
          </a:stretch>
        </p:blipFill>
        <p:spPr>
          <a:xfrm>
            <a:off x="0" y="35442"/>
            <a:ext cx="16256000" cy="9073116"/>
          </a:xfrm>
          <a:prstGeom prst="rect">
            <a:avLst/>
          </a:prstGeom>
        </p:spPr>
      </p:pic>
    </p:spTree>
    <p:extLst>
      <p:ext uri="{BB962C8B-B14F-4D97-AF65-F5344CB8AC3E}">
        <p14:creationId xmlns:p14="http://schemas.microsoft.com/office/powerpoint/2010/main" val="1128419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3199996-24B0-46CB-98CB-B243903E7009}">
  <we:reference id="wa200005566" version="3.0.1.2" store="fr-FR" storeType="OMEX"/>
  <we:alternateReferences>
    <we:reference id="WA200005566" version="3.0.1.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205</TotalTime>
  <Words>3304</Words>
  <Application>Microsoft Office PowerPoint</Application>
  <PresentationFormat>Personnalisé</PresentationFormat>
  <Paragraphs>274</Paragraphs>
  <Slides>31</Slides>
  <Notes>18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31</vt:i4>
      </vt:variant>
    </vt:vector>
  </HeadingPairs>
  <TitlesOfParts>
    <vt:vector size="36" baseType="lpstr">
      <vt:lpstr>Aptos</vt: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Leila BOUABID FANTAR</cp:lastModifiedBy>
  <cp:revision>3</cp:revision>
  <dcterms:created xsi:type="dcterms:W3CDTF">2006-08-16T00:00:00Z</dcterms:created>
  <dcterms:modified xsi:type="dcterms:W3CDTF">2026-08-01T18:10:56Z</dcterms:modified>
</cp:coreProperties>
</file>